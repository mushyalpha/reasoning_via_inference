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384000" cy="3027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384000" cy="1800000"/>
          </a:xfrm>
          <a:prstGeom prst="rect">
            <a:avLst/>
          </a:prstGeom>
          <a:solidFill>
            <a:srgbClr val="00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uofg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000" y="540000"/>
            <a:ext cx="2920000" cy="720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5336000" y="360000"/>
            <a:ext cx="5400000" cy="1080000"/>
          </a:xfrm>
          <a:prstGeom prst="rect">
            <a:avLst/>
          </a:prstGeom>
          <a:solidFill>
            <a:srgbClr val="00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52000" y="468000"/>
            <a:ext cx="496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Masima, Bonolo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52000" y="972000"/>
            <a:ext cx="496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GUID: 2xxxxxxxM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2160000"/>
            <a:ext cx="20088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2000"/>
              </a:lnSpc>
            </a:pPr>
            <a:r>
              <a:rPr sz="5800" b="1" i="0">
                <a:solidFill>
                  <a:srgbClr val="00315C"/>
                </a:solidFill>
                <a:latin typeface="Arial"/>
              </a:rPr>
              <a:t>Causal Inference for Robotic Grasp Failure Diagnosis under Perceptual Degradation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3816000"/>
            <a:ext cx="20088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787C"/>
                </a:solidFill>
                <a:latin typeface="Arial"/>
              </a:rPr>
              <a:t>Can a Structural Causal Model diagnose why a robot grasp failed more reliably than a zero-shot LLM?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4428000"/>
            <a:ext cx="20088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0" i="0">
                <a:solidFill>
                  <a:srgbClr val="333333"/>
                </a:solidFill>
                <a:latin typeface="Arial"/>
              </a:rPr>
              <a:t>Robots frequently fail to grasp objects when perception is imperfect — noisy depth, sparse point clouds, or poor viewpoints — but knowing that a grasp failed is not the same as knowing why. This project builds a Structural Causal Model (SCM) that identifies which controlled perceptual perturbation (depth noise σᴅ, sparsity ρ, camera elevation φ, azimuth θ) caused a Contact-GraspNet grasp to fail, using Pearl's counterfactual (abduction→action→prediction) reasoning — and benchmarks its diagnostic accuracy against a zero-shot LLM given the same evidence.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8000" y="5652000"/>
            <a:ext cx="216000" cy="324000"/>
          </a:xfrm>
          <a:prstGeom prst="rect">
            <a:avLst/>
          </a:prstGeom>
          <a:solidFill>
            <a:srgbClr val="00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2000" y="5598000"/>
            <a:ext cx="950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315C"/>
                </a:solidFill>
                <a:latin typeface="Arial"/>
              </a:rPr>
              <a:t>Column 1 — Method &amp; Causal Pipeline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8000" y="6264000"/>
            <a:ext cx="1792800" cy="1368000"/>
          </a:xfrm>
          <a:prstGeom prst="rect">
            <a:avLst/>
          </a:prstGeom>
          <a:solidFill>
            <a:srgbClr val="00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0000" y="6336000"/>
            <a:ext cx="16488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Arial"/>
              </a:rPr>
              <a:t>1. Render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6000" y="6696000"/>
            <a:ext cx="1576800" cy="21600"/>
          </a:xfrm>
          <a:prstGeom prst="rect">
            <a:avLst/>
          </a:prstGeom>
          <a:solidFill>
            <a:srgbClr val="0078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2000" y="6750000"/>
            <a:ext cx="16848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0EEF2"/>
                </a:solidFill>
                <a:latin typeface="Arial"/>
              </a:rPr>
              <a:t>MuJoCo camera
captures depth from
viewpoint (φ,θ)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40800" y="6732000"/>
            <a:ext cx="21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787C"/>
                </a:solidFill>
                <a:latin typeface="Arial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6800" y="6264000"/>
            <a:ext cx="1792800" cy="1368000"/>
          </a:xfrm>
          <a:prstGeom prst="rect">
            <a:avLst/>
          </a:prstGeom>
          <a:solidFill>
            <a:srgbClr val="00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28800" y="6336000"/>
            <a:ext cx="16488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Arial"/>
              </a:rPr>
              <a:t>2. Degrade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64800" y="6696000"/>
            <a:ext cx="1576800" cy="21600"/>
          </a:xfrm>
          <a:prstGeom prst="rect">
            <a:avLst/>
          </a:prstGeom>
          <a:solidFill>
            <a:srgbClr val="0078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10800" y="6750000"/>
            <a:ext cx="16848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0EEF2"/>
                </a:solidFill>
                <a:latin typeface="Arial"/>
              </a:rPr>
              <a:t>Inject noise σᴅ
Downsample ρ
→ point cloud C_pc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49600" y="6732000"/>
            <a:ext cx="21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787C"/>
                </a:solidFill>
                <a:latin typeface="Arial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5600" y="6264000"/>
            <a:ext cx="1792800" cy="1368000"/>
          </a:xfrm>
          <a:prstGeom prst="rect">
            <a:avLst/>
          </a:prstGeom>
          <a:solidFill>
            <a:srgbClr val="00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37600" y="6336000"/>
            <a:ext cx="16488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Arial"/>
              </a:rPr>
              <a:t>3. Propose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73600" y="6696000"/>
            <a:ext cx="1576800" cy="21600"/>
          </a:xfrm>
          <a:prstGeom prst="rect">
            <a:avLst/>
          </a:prstGeom>
          <a:solidFill>
            <a:srgbClr val="0078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19600" y="6750000"/>
            <a:ext cx="16848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0EEF2"/>
                </a:solidFill>
                <a:latin typeface="Arial"/>
              </a:rPr>
              <a:t>Contact-GraspNet
returns grasps +
confidence q_grasp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58400" y="6732000"/>
            <a:ext cx="21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787C"/>
                </a:solidFill>
                <a:latin typeface="Arial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4400" y="6264000"/>
            <a:ext cx="1792800" cy="1368000"/>
          </a:xfrm>
          <a:prstGeom prst="rect">
            <a:avLst/>
          </a:prstGeom>
          <a:solidFill>
            <a:srgbClr val="00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46400" y="6336000"/>
            <a:ext cx="16488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Arial"/>
              </a:rPr>
              <a:t>4. Execute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82400" y="6696000"/>
            <a:ext cx="1576800" cy="21600"/>
          </a:xfrm>
          <a:prstGeom prst="rect">
            <a:avLst/>
          </a:prstGeom>
          <a:solidFill>
            <a:srgbClr val="0078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8400" y="6750000"/>
            <a:ext cx="16848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0EEF2"/>
                </a:solidFill>
                <a:latin typeface="Arial"/>
              </a:rPr>
              <a:t>Floating-gripper
shake test on
top-1 pose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67200" y="6732000"/>
            <a:ext cx="21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787C"/>
                </a:solidFill>
                <a:latin typeface="Arial"/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83200" y="6264000"/>
            <a:ext cx="1792800" cy="1368000"/>
          </a:xfrm>
          <a:prstGeom prst="rect">
            <a:avLst/>
          </a:prstGeom>
          <a:solidFill>
            <a:srgbClr val="00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55200" y="6336000"/>
            <a:ext cx="16488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Arial"/>
              </a:rPr>
              <a:t>5. Outcome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91200" y="6696000"/>
            <a:ext cx="1576800" cy="21600"/>
          </a:xfrm>
          <a:prstGeom prst="rect">
            <a:avLst/>
          </a:prstGeom>
          <a:solidFill>
            <a:srgbClr val="0078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37200" y="6750000"/>
            <a:ext cx="16848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0EEF2"/>
                </a:solidFill>
                <a:latin typeface="Arial"/>
              </a:rPr>
              <a:t>Success / failure Y
logged to CSV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8000" y="7920000"/>
            <a:ext cx="982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15C"/>
                </a:solidFill>
                <a:latin typeface="Arial"/>
              </a:rPr>
              <a:t>The causal graph (dataflow-derived, dated pre-registration)</a:t>
            </a:r>
          </a:p>
        </p:txBody>
      </p:sp>
      <p:pic>
        <p:nvPicPr>
          <p:cNvPr id="37" name="Picture 36" descr="scm_dag_correc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944" y="8244000"/>
            <a:ext cx="6264111" cy="34200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48000" y="11700000"/>
            <a:ext cx="982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1">
                <a:solidFill>
                  <a:srgbClr val="333333"/>
                </a:solidFill>
                <a:latin typeface="Arial"/>
              </a:rPr>
              <a:t>Fig. 1 — Corrected causal DAG. Every edge/non-edge tested interventionally against the 432-trial dataset (test_dag_edges.py) — all tests passed.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8000" y="12168000"/>
            <a:ext cx="982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15C"/>
                </a:solidFill>
                <a:latin typeface="Arial"/>
              </a:rPr>
              <a:t>Causal variables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8000" y="12492000"/>
            <a:ext cx="576000" cy="324000"/>
          </a:xfrm>
          <a:prstGeom prst="rect">
            <a:avLst/>
          </a:prstGeom>
          <a:solidFill>
            <a:srgbClr val="00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2000" y="12535200"/>
            <a:ext cx="468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Arial"/>
              </a:rPr>
              <a:t>Var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224000" y="12492000"/>
            <a:ext cx="864000" cy="324000"/>
          </a:xfrm>
          <a:prstGeom prst="rect">
            <a:avLst/>
          </a:prstGeom>
          <a:solidFill>
            <a:srgbClr val="00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78000" y="12535200"/>
            <a:ext cx="756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Arial"/>
              </a:rPr>
              <a:t>Role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88000" y="12492000"/>
            <a:ext cx="7020000" cy="324000"/>
          </a:xfrm>
          <a:prstGeom prst="rect">
            <a:avLst/>
          </a:prstGeom>
          <a:solidFill>
            <a:srgbClr val="00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42000" y="12535200"/>
            <a:ext cx="6912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Arial"/>
              </a:rPr>
              <a:t>Meaning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08000" y="12492000"/>
            <a:ext cx="1368000" cy="324000"/>
          </a:xfrm>
          <a:prstGeom prst="rect">
            <a:avLst/>
          </a:prstGeom>
          <a:solidFill>
            <a:srgbClr val="00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62000" y="12535200"/>
            <a:ext cx="126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Arial"/>
              </a:rPr>
              <a:t>Domain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8000" y="12816000"/>
            <a:ext cx="576000" cy="324000"/>
          </a:xfrm>
          <a:prstGeom prst="rect">
            <a:avLst/>
          </a:prstGeom>
          <a:solidFill>
            <a:srgbClr val="F3F4F5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02000" y="12859200"/>
            <a:ext cx="468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315C"/>
                </a:solidFill>
                <a:latin typeface="Arial"/>
              </a:rPr>
              <a:t>σᴅ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224000" y="12816000"/>
            <a:ext cx="864000" cy="324000"/>
          </a:xfrm>
          <a:prstGeom prst="rect">
            <a:avLst/>
          </a:prstGeom>
          <a:solidFill>
            <a:srgbClr val="F3F4F5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78000" y="12859200"/>
            <a:ext cx="756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Arial"/>
              </a:rPr>
              <a:t>Exogenous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088000" y="12816000"/>
            <a:ext cx="7020000" cy="324000"/>
          </a:xfrm>
          <a:prstGeom prst="rect">
            <a:avLst/>
          </a:prstGeom>
          <a:solidFill>
            <a:srgbClr val="F3F4F5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142000" y="12859200"/>
            <a:ext cx="6912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Gaussian depth-buffer noise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08000" y="12816000"/>
            <a:ext cx="1368000" cy="324000"/>
          </a:xfrm>
          <a:prstGeom prst="rect">
            <a:avLst/>
          </a:prstGeom>
          <a:solidFill>
            <a:srgbClr val="F3F4F5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62000" y="12859200"/>
            <a:ext cx="126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0, 0.005, 0.02, 0.04 m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8000" y="13140000"/>
            <a:ext cx="576000" cy="324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02000" y="13183200"/>
            <a:ext cx="468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315C"/>
                </a:solidFill>
                <a:latin typeface="Arial"/>
              </a:rPr>
              <a:t>ρ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224000" y="13140000"/>
            <a:ext cx="864000" cy="324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278000" y="13183200"/>
            <a:ext cx="756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Arial"/>
              </a:rPr>
              <a:t>Exogenous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88000" y="13140000"/>
            <a:ext cx="7020000" cy="324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42000" y="13183200"/>
            <a:ext cx="6912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Point cloud downsample fraction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108000" y="13140000"/>
            <a:ext cx="1368000" cy="324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162000" y="13183200"/>
            <a:ext cx="126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1.0, 0.75, 0.5, 0.25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48000" y="13464000"/>
            <a:ext cx="576000" cy="324000"/>
          </a:xfrm>
          <a:prstGeom prst="rect">
            <a:avLst/>
          </a:prstGeom>
          <a:solidFill>
            <a:srgbClr val="F3F4F5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02000" y="13507200"/>
            <a:ext cx="468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315C"/>
                </a:solidFill>
                <a:latin typeface="Arial"/>
              </a:rPr>
              <a:t>φ, θ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224000" y="13464000"/>
            <a:ext cx="864000" cy="324000"/>
          </a:xfrm>
          <a:prstGeom prst="rect">
            <a:avLst/>
          </a:prstGeom>
          <a:solidFill>
            <a:srgbClr val="F3F4F5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278000" y="13507200"/>
            <a:ext cx="756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Arial"/>
              </a:rPr>
              <a:t>Exogenous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088000" y="13464000"/>
            <a:ext cx="7020000" cy="324000"/>
          </a:xfrm>
          <a:prstGeom prst="rect">
            <a:avLst/>
          </a:prstGeom>
          <a:solidFill>
            <a:srgbClr val="F3F4F5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142000" y="13507200"/>
            <a:ext cx="6912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Camera elevation / azimuth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108000" y="13464000"/>
            <a:ext cx="1368000" cy="324000"/>
          </a:xfrm>
          <a:prstGeom prst="rect">
            <a:avLst/>
          </a:prstGeom>
          <a:solidFill>
            <a:srgbClr val="F3F4F5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162000" y="13507200"/>
            <a:ext cx="126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30–60°, 0–90°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48000" y="13788000"/>
            <a:ext cx="576000" cy="324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02000" y="13831200"/>
            <a:ext cx="468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315C"/>
                </a:solidFill>
                <a:latin typeface="Arial"/>
              </a:rPr>
              <a:t>C_pc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224000" y="13788000"/>
            <a:ext cx="864000" cy="324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278000" y="13831200"/>
            <a:ext cx="756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Arial"/>
              </a:rPr>
              <a:t>Mediator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088000" y="13788000"/>
            <a:ext cx="7020000" cy="324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142000" y="13831200"/>
            <a:ext cx="6912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Point cloud completeness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108000" y="13788000"/>
            <a:ext cx="1368000" cy="324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162000" y="13831200"/>
            <a:ext cx="126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measured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48000" y="14112000"/>
            <a:ext cx="576000" cy="324000"/>
          </a:xfrm>
          <a:prstGeom prst="rect">
            <a:avLst/>
          </a:prstGeom>
          <a:solidFill>
            <a:srgbClr val="F3F4F5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02000" y="14155200"/>
            <a:ext cx="468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315C"/>
                </a:solidFill>
                <a:latin typeface="Arial"/>
              </a:rPr>
              <a:t>q_grasp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224000" y="14112000"/>
            <a:ext cx="864000" cy="324000"/>
          </a:xfrm>
          <a:prstGeom prst="rect">
            <a:avLst/>
          </a:prstGeom>
          <a:solidFill>
            <a:srgbClr val="F3F4F5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278000" y="14155200"/>
            <a:ext cx="756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Arial"/>
              </a:rPr>
              <a:t>Mediator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088000" y="14112000"/>
            <a:ext cx="7020000" cy="324000"/>
          </a:xfrm>
          <a:prstGeom prst="rect">
            <a:avLst/>
          </a:prstGeom>
          <a:solidFill>
            <a:srgbClr val="F3F4F5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142000" y="14155200"/>
            <a:ext cx="6912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CGN top-1 confidence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108000" y="14112000"/>
            <a:ext cx="1368000" cy="324000"/>
          </a:xfrm>
          <a:prstGeom prst="rect">
            <a:avLst/>
          </a:prstGeom>
          <a:solidFill>
            <a:srgbClr val="F3F4F5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162000" y="14155200"/>
            <a:ext cx="126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measured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48000" y="14436000"/>
            <a:ext cx="576000" cy="324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02000" y="14479200"/>
            <a:ext cx="468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315C"/>
                </a:solidFill>
                <a:latin typeface="Arial"/>
              </a:rPr>
              <a:t>e_pose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224000" y="14436000"/>
            <a:ext cx="864000" cy="324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278000" y="14479200"/>
            <a:ext cx="756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Arial"/>
              </a:rPr>
              <a:t>Mediator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088000" y="14436000"/>
            <a:ext cx="7020000" cy="324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142000" y="14479200"/>
            <a:ext cx="6912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Grasp pose error vs. oracle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108000" y="14436000"/>
            <a:ext cx="1368000" cy="324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162000" y="14479200"/>
            <a:ext cx="126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measured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48000" y="14760000"/>
            <a:ext cx="576000" cy="324000"/>
          </a:xfrm>
          <a:prstGeom prst="rect">
            <a:avLst/>
          </a:prstGeom>
          <a:solidFill>
            <a:srgbClr val="F3F4F5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02000" y="14803200"/>
            <a:ext cx="468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315C"/>
                </a:solidFill>
                <a:latin typeface="Arial"/>
              </a:rPr>
              <a:t>Y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224000" y="14760000"/>
            <a:ext cx="864000" cy="324000"/>
          </a:xfrm>
          <a:prstGeom prst="rect">
            <a:avLst/>
          </a:prstGeom>
          <a:solidFill>
            <a:srgbClr val="F3F4F5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278000" y="14803200"/>
            <a:ext cx="756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Arial"/>
              </a:rPr>
              <a:t>Outcome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088000" y="14760000"/>
            <a:ext cx="7020000" cy="324000"/>
          </a:xfrm>
          <a:prstGeom prst="rect">
            <a:avLst/>
          </a:prstGeom>
          <a:solidFill>
            <a:srgbClr val="F3F4F5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142000" y="14803200"/>
            <a:ext cx="6912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Grasp success (shake test)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108000" y="14760000"/>
            <a:ext cx="1368000" cy="324000"/>
          </a:xfrm>
          <a:prstGeom prst="rect">
            <a:avLst/>
          </a:prstGeom>
          <a:solidFill>
            <a:srgbClr val="F3F4F5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162000" y="14803200"/>
            <a:ext cx="126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binary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48000" y="15300000"/>
            <a:ext cx="982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15C"/>
                </a:solidFill>
                <a:latin typeface="Arial"/>
              </a:rPr>
              <a:t>Counterfactual diagnosis procedure (Pearl, 3-step)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48000" y="15624000"/>
            <a:ext cx="9828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450" b="0" i="0">
                <a:solidFill>
                  <a:srgbClr val="333333"/>
                </a:solidFill>
                <a:latin typeface="Arial"/>
              </a:rPr>
              <a:t>•  Abduction — infer the exogenous noise term ε for a failed trial from its observed evidence.</a:t>
            </a:r>
          </a:p>
          <a:p>
            <a:pPr algn="l">
              <a:spcBef>
                <a:spcPts val="300"/>
              </a:spcBef>
            </a:pPr>
            <a:r>
              <a:rPr sz="1450" b="0" i="0">
                <a:solidFill>
                  <a:srgbClr val="333333"/>
                </a:solidFill>
                <a:latin typeface="Arial"/>
              </a:rPr>
              <a:t>•  Action — intervene do(σᴅ = 0), do(ρ = 1), etc., one variable at a time, holding ε fixed.</a:t>
            </a:r>
          </a:p>
          <a:p>
            <a:pPr algn="l">
              <a:spcBef>
                <a:spcPts val="300"/>
              </a:spcBef>
            </a:pPr>
            <a:r>
              <a:rPr sz="1450" b="0" i="0">
                <a:solidFill>
                  <a:srgbClr val="333333"/>
                </a:solidFill>
                <a:latin typeface="Arial"/>
              </a:rPr>
              <a:t>•  Prediction — re-simulate; if success flips to 1, that variable is the diagnosed cause.</a:t>
            </a:r>
          </a:p>
          <a:p>
            <a:pPr algn="l">
              <a:spcBef>
                <a:spcPts val="300"/>
              </a:spcBef>
            </a:pPr>
            <a:r>
              <a:rPr sz="1450" b="0" i="0">
                <a:solidFill>
                  <a:srgbClr val="333333"/>
                </a:solidFill>
                <a:latin typeface="Arial"/>
              </a:rPr>
              <a:t>•  Applied to all 292 real failed trials × 4 single-variable interventions = 1,168 re-simulations (ground truth).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48000" y="17136000"/>
            <a:ext cx="982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15C"/>
                </a:solidFill>
                <a:latin typeface="Arial"/>
              </a:rPr>
              <a:t>SCM structural equations — fit quality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48000" y="17460000"/>
            <a:ext cx="576000" cy="324000"/>
          </a:xfrm>
          <a:prstGeom prst="rect">
            <a:avLst/>
          </a:prstGeom>
          <a:solidFill>
            <a:srgbClr val="00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02000" y="17503200"/>
            <a:ext cx="468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Arial"/>
              </a:rPr>
              <a:t>Eq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224000" y="17460000"/>
            <a:ext cx="3240000" cy="324000"/>
          </a:xfrm>
          <a:prstGeom prst="rect">
            <a:avLst/>
          </a:prstGeom>
          <a:solidFill>
            <a:srgbClr val="00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278000" y="17503200"/>
            <a:ext cx="3132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Arial"/>
              </a:rPr>
              <a:t>Structural form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464000" y="17460000"/>
            <a:ext cx="1368000" cy="324000"/>
          </a:xfrm>
          <a:prstGeom prst="rect">
            <a:avLst/>
          </a:prstGeom>
          <a:solidFill>
            <a:srgbClr val="00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518000" y="17503200"/>
            <a:ext cx="126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Arial"/>
              </a:rPr>
              <a:t>Method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832000" y="17460000"/>
            <a:ext cx="4644000" cy="324000"/>
          </a:xfrm>
          <a:prstGeom prst="rect">
            <a:avLst/>
          </a:prstGeom>
          <a:solidFill>
            <a:srgbClr val="00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5886000" y="17503200"/>
            <a:ext cx="4536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Arial"/>
              </a:rPr>
              <a:t>Fit statistic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48000" y="17784000"/>
            <a:ext cx="576000" cy="324000"/>
          </a:xfrm>
          <a:prstGeom prst="rect">
            <a:avLst/>
          </a:prstGeom>
          <a:solidFill>
            <a:srgbClr val="F3F4F5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702000" y="17827200"/>
            <a:ext cx="468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00315C"/>
                </a:solidFill>
                <a:latin typeface="Arial"/>
              </a:rPr>
              <a:t>Eq1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224000" y="17784000"/>
            <a:ext cx="3240000" cy="324000"/>
          </a:xfrm>
          <a:prstGeom prst="rect">
            <a:avLst/>
          </a:prstGeom>
          <a:solidFill>
            <a:srgbClr val="F3F4F5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278000" y="17827200"/>
            <a:ext cx="3132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Arial"/>
              </a:rPr>
              <a:t>C_pc ~ φ + θ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464000" y="17784000"/>
            <a:ext cx="1368000" cy="324000"/>
          </a:xfrm>
          <a:prstGeom prst="rect">
            <a:avLst/>
          </a:prstGeom>
          <a:solidFill>
            <a:srgbClr val="F3F4F5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4518000" y="17827200"/>
            <a:ext cx="126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333333"/>
                </a:solidFill>
                <a:latin typeface="Arial"/>
              </a:rPr>
              <a:t>OLS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5832000" y="17784000"/>
            <a:ext cx="4644000" cy="324000"/>
          </a:xfrm>
          <a:prstGeom prst="rect">
            <a:avLst/>
          </a:prstGeom>
          <a:solidFill>
            <a:srgbClr val="F3F4F5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5886000" y="17827200"/>
            <a:ext cx="4536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333333"/>
                </a:solidFill>
                <a:latin typeface="Arial"/>
              </a:rPr>
              <a:t>R² = 0.893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48000" y="18108000"/>
            <a:ext cx="576000" cy="324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702000" y="18151200"/>
            <a:ext cx="468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00315C"/>
                </a:solidFill>
                <a:latin typeface="Arial"/>
              </a:rPr>
              <a:t>Eq2A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224000" y="18108000"/>
            <a:ext cx="3240000" cy="324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278000" y="18151200"/>
            <a:ext cx="3132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Arial"/>
              </a:rPr>
              <a:t>has_grasps ~ σᴅ+ρ+φ+θ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464000" y="18108000"/>
            <a:ext cx="1368000" cy="324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4518000" y="18151200"/>
            <a:ext cx="126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333333"/>
                </a:solidFill>
                <a:latin typeface="Arial"/>
              </a:rPr>
              <a:t>Logistic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5832000" y="18108000"/>
            <a:ext cx="4644000" cy="324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5886000" y="18151200"/>
            <a:ext cx="4536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333333"/>
                </a:solidFill>
                <a:latin typeface="Arial"/>
              </a:rPr>
              <a:t>pseudo-R²=0.554, AUC=0.943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48000" y="18432000"/>
            <a:ext cx="576000" cy="324000"/>
          </a:xfrm>
          <a:prstGeom prst="rect">
            <a:avLst/>
          </a:prstGeom>
          <a:solidFill>
            <a:srgbClr val="F3F4F5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702000" y="18475200"/>
            <a:ext cx="468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00315C"/>
                </a:solidFill>
                <a:latin typeface="Arial"/>
              </a:rPr>
              <a:t>Eq2B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224000" y="18432000"/>
            <a:ext cx="3240000" cy="324000"/>
          </a:xfrm>
          <a:prstGeom prst="rect">
            <a:avLst/>
          </a:prstGeom>
          <a:solidFill>
            <a:srgbClr val="F3F4F5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278000" y="18475200"/>
            <a:ext cx="3132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Arial"/>
              </a:rPr>
              <a:t>n_grasps ~ σᴅ+ρ+φ+θ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4464000" y="18432000"/>
            <a:ext cx="1368000" cy="324000"/>
          </a:xfrm>
          <a:prstGeom prst="rect">
            <a:avLst/>
          </a:prstGeom>
          <a:solidFill>
            <a:srgbClr val="F3F4F5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4518000" y="18475200"/>
            <a:ext cx="126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333333"/>
                </a:solidFill>
                <a:latin typeface="Arial"/>
              </a:rPr>
              <a:t>Neg. Binomial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5832000" y="18432000"/>
            <a:ext cx="4644000" cy="324000"/>
          </a:xfrm>
          <a:prstGeom prst="rect">
            <a:avLst/>
          </a:prstGeom>
          <a:solidFill>
            <a:srgbClr val="F3F4F5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5886000" y="18475200"/>
            <a:ext cx="4536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333333"/>
                </a:solidFill>
                <a:latin typeface="Arial"/>
              </a:rPr>
              <a:t>σᴅ &amp; ρ both sig.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648000" y="18756000"/>
            <a:ext cx="576000" cy="324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702000" y="18799200"/>
            <a:ext cx="468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00315C"/>
                </a:solidFill>
                <a:latin typeface="Arial"/>
              </a:rPr>
              <a:t>Eq3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1224000" y="18756000"/>
            <a:ext cx="3240000" cy="324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1278000" y="18799200"/>
            <a:ext cx="3132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Arial"/>
              </a:rPr>
              <a:t>q_grasp ~ log(n_grasps)+…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4464000" y="18756000"/>
            <a:ext cx="1368000" cy="324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4518000" y="18799200"/>
            <a:ext cx="126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333333"/>
                </a:solidFill>
                <a:latin typeface="Arial"/>
              </a:rPr>
              <a:t>OLS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5832000" y="18756000"/>
            <a:ext cx="4644000" cy="324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5886000" y="18799200"/>
            <a:ext cx="4536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333333"/>
                </a:solidFill>
                <a:latin typeface="Arial"/>
              </a:rPr>
              <a:t>R² = 0.699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648000" y="19080000"/>
            <a:ext cx="576000" cy="324000"/>
          </a:xfrm>
          <a:prstGeom prst="rect">
            <a:avLst/>
          </a:prstGeom>
          <a:solidFill>
            <a:srgbClr val="F3F4F5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702000" y="19123200"/>
            <a:ext cx="468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00315C"/>
                </a:solidFill>
                <a:latin typeface="Arial"/>
              </a:rPr>
              <a:t>Eq4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1224000" y="19080000"/>
            <a:ext cx="3240000" cy="324000"/>
          </a:xfrm>
          <a:prstGeom prst="rect">
            <a:avLst/>
          </a:prstGeom>
          <a:solidFill>
            <a:srgbClr val="F3F4F5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278000" y="19123200"/>
            <a:ext cx="3132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Arial"/>
              </a:rPr>
              <a:t>e_pose ~ σᴅ+ρ+…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4464000" y="19080000"/>
            <a:ext cx="1368000" cy="324000"/>
          </a:xfrm>
          <a:prstGeom prst="rect">
            <a:avLst/>
          </a:prstGeom>
          <a:solidFill>
            <a:srgbClr val="F3F4F5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4518000" y="19123200"/>
            <a:ext cx="126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333333"/>
                </a:solidFill>
                <a:latin typeface="Arial"/>
              </a:rPr>
              <a:t>OLS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5832000" y="19080000"/>
            <a:ext cx="4644000" cy="324000"/>
          </a:xfrm>
          <a:prstGeom prst="rect">
            <a:avLst/>
          </a:prstGeom>
          <a:solidFill>
            <a:srgbClr val="F3F4F5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5886000" y="19123200"/>
            <a:ext cx="4536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333333"/>
                </a:solidFill>
                <a:latin typeface="Arial"/>
              </a:rPr>
              <a:t>ρ 90.9% mediated via q_grasp</a:t>
            </a:r>
          </a:p>
        </p:txBody>
      </p:sp>
      <p:pic>
        <p:nvPicPr>
          <p:cNvPr id="155" name="Picture 154" descr="scm_coefficien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4124" y="19692000"/>
            <a:ext cx="7455752" cy="3240000"/>
          </a:xfrm>
          <a:prstGeom prst="rect">
            <a:avLst/>
          </a:prstGeom>
        </p:spPr>
      </p:pic>
      <p:sp>
        <p:nvSpPr>
          <p:cNvPr id="156" name="TextBox 155"/>
          <p:cNvSpPr txBox="1"/>
          <p:nvPr/>
        </p:nvSpPr>
        <p:spPr>
          <a:xfrm>
            <a:off x="648000" y="22968000"/>
            <a:ext cx="982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1">
                <a:solidFill>
                  <a:srgbClr val="333333"/>
                </a:solidFill>
                <a:latin typeface="Arial"/>
              </a:rPr>
              <a:t>Fig. 1b — Fitted SCM coefficients per structural equation. σᴅ dominates pipeline collapse; ρ's effect is almost entirely mediated through grasp count / confidence, not a direct effect on C_pc.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10908000" y="5652000"/>
            <a:ext cx="216000" cy="324000"/>
          </a:xfrm>
          <a:prstGeom prst="rect">
            <a:avLst/>
          </a:prstGeom>
          <a:solidFill>
            <a:srgbClr val="00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1232000" y="5598000"/>
            <a:ext cx="950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315C"/>
                </a:solidFill>
                <a:latin typeface="Arial"/>
              </a:rPr>
              <a:t>Column 2 — Results &amp; Contribution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10908000" y="6264000"/>
            <a:ext cx="9828000" cy="1008000"/>
          </a:xfrm>
          <a:prstGeom prst="rect">
            <a:avLst/>
          </a:prstGeom>
          <a:solidFill>
            <a:srgbClr val="F3F4F5"/>
          </a:solidFill>
          <a:ln w="19050">
            <a:solidFill>
              <a:srgbClr val="2E8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10908000" y="6264000"/>
            <a:ext cx="90000" cy="1008000"/>
          </a:xfrm>
          <a:prstGeom prst="rect">
            <a:avLst/>
          </a:prstGeom>
          <a:solidFill>
            <a:srgbClr val="2E86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11124000" y="6336000"/>
            <a:ext cx="946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E8648"/>
                </a:solidFill>
                <a:latin typeface="Arial"/>
              </a:rPr>
              <a:t>134 / 432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1124000" y="6696000"/>
            <a:ext cx="946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Arial"/>
              </a:rPr>
              <a:t>trials succeeded (31.0%) across the full factorial grid — clear monotonic degradation as σᴅ↑ / ρ↓ / φ↑.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10908000" y="7452000"/>
            <a:ext cx="9828000" cy="1008000"/>
          </a:xfrm>
          <a:prstGeom prst="rect">
            <a:avLst/>
          </a:prstGeom>
          <a:solidFill>
            <a:srgbClr val="F3F4F5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10908000" y="7452000"/>
            <a:ext cx="90000" cy="100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11124000" y="7524000"/>
            <a:ext cx="946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0392B"/>
                </a:solidFill>
                <a:latin typeface="Arial"/>
              </a:rPr>
              <a:t>57.2%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1124000" y="7884000"/>
            <a:ext cx="946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Arial"/>
              </a:rPr>
              <a:t>of failures (167/292) have no single-variable fix — irreducible or multi-causal, mostly at φ=60° (overhead geometry).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10908000" y="8640000"/>
            <a:ext cx="9828000" cy="1008000"/>
          </a:xfrm>
          <a:prstGeom prst="rect">
            <a:avLst/>
          </a:prstGeom>
          <a:solidFill>
            <a:srgbClr val="F3F4F5"/>
          </a:solidFill>
          <a:ln w="19050">
            <a:solidFill>
              <a:srgbClr val="FF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10908000" y="8640000"/>
            <a:ext cx="90000" cy="1008000"/>
          </a:xfrm>
          <a:prstGeom prst="rect">
            <a:avLst/>
          </a:prstGeom>
          <a:solidFill>
            <a:srgbClr val="FF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11124000" y="8712000"/>
            <a:ext cx="946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A500"/>
                </a:solidFill>
                <a:latin typeface="Arial"/>
              </a:rPr>
              <a:t>10.3% vs 57.2%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1124000" y="9072000"/>
            <a:ext cx="946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Arial"/>
              </a:rPr>
              <a:t>zero-shot LLM full-set diagnostic accuracy vs. the trivial “always guess ‘none’” majority-class baseline — the LLM underperforms a naive baseline.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0908000" y="9900000"/>
            <a:ext cx="982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15C"/>
                </a:solidFill>
                <a:latin typeface="Arial"/>
              </a:rPr>
              <a:t>Root cause of failure: single-cause vs. irreducible</a:t>
            </a:r>
          </a:p>
        </p:txBody>
      </p:sp>
      <p:pic>
        <p:nvPicPr>
          <p:cNvPr id="172" name="Picture 171" descr="counterfactual_primary_cause_breakdow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55333" y="10224000"/>
            <a:ext cx="4533333" cy="2880000"/>
          </a:xfrm>
          <a:prstGeom prst="rect">
            <a:avLst/>
          </a:prstGeom>
        </p:spPr>
      </p:pic>
      <p:sp>
        <p:nvSpPr>
          <p:cNvPr id="173" name="TextBox 172"/>
          <p:cNvSpPr txBox="1"/>
          <p:nvPr/>
        </p:nvSpPr>
        <p:spPr>
          <a:xfrm>
            <a:off x="10908000" y="13140000"/>
            <a:ext cx="982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1">
                <a:solidFill>
                  <a:srgbClr val="333333"/>
                </a:solidFill>
                <a:latin typeface="Arial"/>
              </a:rPr>
              <a:t>Fig. 2 — Ground-truth primary cause per failed trial, from 1,168 counterfactual re-simulations.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0908000" y="13608000"/>
            <a:ext cx="982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15C"/>
                </a:solidFill>
                <a:latin typeface="Arial"/>
              </a:rPr>
              <a:t>SCM structural fit</a:t>
            </a:r>
          </a:p>
        </p:txBody>
      </p:sp>
      <p:pic>
        <p:nvPicPr>
          <p:cNvPr id="175" name="Picture 174" descr="scm_heatmap_sigma_rh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76082" y="13932000"/>
            <a:ext cx="3691836" cy="2700000"/>
          </a:xfrm>
          <a:prstGeom prst="rect">
            <a:avLst/>
          </a:prstGeom>
        </p:spPr>
      </p:pic>
      <p:sp>
        <p:nvSpPr>
          <p:cNvPr id="176" name="TextBox 175"/>
          <p:cNvSpPr txBox="1"/>
          <p:nvPr/>
        </p:nvSpPr>
        <p:spPr>
          <a:xfrm>
            <a:off x="10908000" y="16668000"/>
            <a:ext cx="982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1">
                <a:solidFill>
                  <a:srgbClr val="333333"/>
                </a:solidFill>
                <a:latin typeface="Arial"/>
              </a:rPr>
              <a:t>Fig. 3 — Success rate over the (σᴅ, ρ) grid. σᴅ dominates (OR≈0 at high noise); ρ effect is largely mediated through grasp count, not confidence.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0908000" y="17136000"/>
            <a:ext cx="982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15C"/>
                </a:solidFill>
                <a:latin typeface="Arial"/>
              </a:rPr>
              <a:t>LLM baseline: diagnostic accuracy</a:t>
            </a:r>
          </a:p>
        </p:txBody>
      </p:sp>
      <p:pic>
        <p:nvPicPr>
          <p:cNvPr id="178" name="Picture 177" descr="llm_baseline_primary_accurac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694459" y="17460000"/>
            <a:ext cx="4255081" cy="2520000"/>
          </a:xfrm>
          <a:prstGeom prst="rect">
            <a:avLst/>
          </a:prstGeom>
        </p:spPr>
      </p:pic>
      <p:sp>
        <p:nvSpPr>
          <p:cNvPr id="179" name="TextBox 178"/>
          <p:cNvSpPr txBox="1"/>
          <p:nvPr/>
        </p:nvSpPr>
        <p:spPr>
          <a:xfrm>
            <a:off x="10908000" y="20016000"/>
            <a:ext cx="982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1">
                <a:solidFill>
                  <a:srgbClr val="333333"/>
                </a:solidFill>
                <a:latin typeface="Arial"/>
              </a:rPr>
              <a:t>Fig. 4 — Zero-shot LLM per-cause accuracy on the 95 trials with a clear single primary cause (overall 31.6%). Note: 0% on θ — azimuth failures are systematically missed.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10908000" y="20484000"/>
            <a:ext cx="982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15C"/>
                </a:solidFill>
                <a:latin typeface="Arial"/>
              </a:rPr>
              <a:t>Limitations &amp; next steps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10908000" y="20808000"/>
            <a:ext cx="9828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450" b="0" i="0">
                <a:solidFill>
                  <a:srgbClr val="333333"/>
                </a:solidFill>
                <a:latin typeface="Arial"/>
              </a:rPr>
              <a:t>•  SCM-vs-LLM head-to-head diagnostic accuracy: SCM counterfactual ranking on the 292 failed trials vs. ground truth — in progress.</a:t>
            </a:r>
          </a:p>
          <a:p>
            <a:pPr algn="l">
              <a:spcBef>
                <a:spcPts val="200"/>
              </a:spcBef>
            </a:pPr>
            <a:r>
              <a:rPr sz="1450" b="0" i="0">
                <a:solidFill>
                  <a:srgbClr val="333333"/>
                </a:solidFill>
                <a:latin typeface="Arial"/>
              </a:rPr>
              <a:t>•  Single-object (cylinder) scene → multi-object redesign (box + mustard bottle, clutter, occlusion) underway per marker feedback.</a:t>
            </a:r>
          </a:p>
          <a:p>
            <a:pPr algn="l">
              <a:spcBef>
                <a:spcPts val="200"/>
              </a:spcBef>
            </a:pPr>
            <a:r>
              <a:rPr sz="1450" b="0" i="0">
                <a:solidFill>
                  <a:srgbClr val="333333"/>
                </a:solidFill>
                <a:latin typeface="Arial"/>
              </a:rPr>
              <a:t>•  Recovery actions are out of scope — diagnosis only.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648000" y="23796000"/>
            <a:ext cx="20088000" cy="3240000"/>
          </a:xfrm>
          <a:prstGeom prst="rect">
            <a:avLst/>
          </a:prstGeom>
          <a:solidFill>
            <a:srgbClr val="00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648000" y="23796000"/>
            <a:ext cx="108000" cy="3240000"/>
          </a:xfrm>
          <a:prstGeom prst="rect">
            <a:avLst/>
          </a:prstGeom>
          <a:solidFill>
            <a:srgbClr val="0078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1008000" y="24012000"/>
            <a:ext cx="19368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787C"/>
                </a:solidFill>
                <a:latin typeface="Arial"/>
              </a:rPr>
              <a:t>Take-home message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1008000" y="24480000"/>
            <a:ext cx="19368000" cy="24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E0EEF2"/>
                </a:solidFill>
                <a:latin typeface="Arial"/>
              </a:rPr>
              <a:t>A causal model can say not just that a grasp failed, but why — and, honestly, when it can't (57.2% of failures are irreducible to a single variable). Zero-shot LLMs, given the same evidence, currently underperform even a naive majority-class guess. The next step is a direct SCM-vs-LLM diagnostic accuracy comparison on the same 292 failed trials.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0" y="29556000"/>
            <a:ext cx="21384000" cy="2160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648000" y="29664000"/>
            <a:ext cx="1684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Arial"/>
              </a:rPr>
              <a:t>Bonolo Masima  ·  MSc Robotics &amp; AI  ·  Supervisor: Dezong Zhao  ·  School of Engineering, University of Glasgow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648000" y="29664000"/>
            <a:ext cx="2008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333333"/>
                </a:solidFill>
                <a:latin typeface="Arial"/>
              </a:rPr>
              <a:t>University of Glasgow, charity number SC004401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