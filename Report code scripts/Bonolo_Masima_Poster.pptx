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Lst>
  <p:sldSz cy="20104100" cx="14224000"/>
  <p:notesSz cx="14224000" cy="20104100"/>
  <p:embeddedFontLst>
    <p:embeddedFont>
      <p:font typeface="Noto Sans Symbols"/>
      <p:regular r:id="rId8"/>
      <p:bold r:id="rId9"/>
    </p:embeddedFont>
    <p:embeddedFont>
      <p:font typeface="Cambria Math"/>
      <p:regular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947832-A820-4495-9823-9954234973CC}">
  <a:tblStyle styleId="{80947832-A820-4495-9823-9954234973C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0" Type="http://schemas.openxmlformats.org/officeDocument/2006/relationships/font" Target="fonts/CambriaMath-regular.fntdata"/><Relationship Id="rId9" Type="http://schemas.openxmlformats.org/officeDocument/2006/relationships/font" Target="fonts/NotoSansSymbol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NotoSansSymbol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371125" y="1507800"/>
            <a:ext cx="9483125" cy="7539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422400" y="9549425"/>
            <a:ext cx="11379200" cy="90468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422400" y="9549425"/>
            <a:ext cx="11379200" cy="9046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371125" y="1507800"/>
            <a:ext cx="9483125" cy="7539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2" name="Shape 12"/>
        <p:cNvGrpSpPr/>
        <p:nvPr/>
      </p:nvGrpSpPr>
      <p:grpSpPr>
        <a:xfrm>
          <a:off x="0" y="0"/>
          <a:ext cx="0" cy="0"/>
          <a:chOff x="0" y="0"/>
          <a:chExt cx="0" cy="0"/>
        </a:xfrm>
      </p:grpSpPr>
      <p:sp>
        <p:nvSpPr>
          <p:cNvPr id="13" name="Google Shape;13;p2"/>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txBox="1"/>
          <p:nvPr>
            <p:ph type="ctrTitle"/>
          </p:nvPr>
        </p:nvSpPr>
        <p:spPr>
          <a:xfrm>
            <a:off x="1066800" y="6232271"/>
            <a:ext cx="12090400" cy="4221861"/>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2133600" y="11258296"/>
            <a:ext cx="9956800" cy="502602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
          <p:cNvSpPr txBox="1"/>
          <p:nvPr>
            <p:ph type="title"/>
          </p:nvPr>
        </p:nvSpPr>
        <p:spPr>
          <a:xfrm>
            <a:off x="711200" y="804164"/>
            <a:ext cx="12801600" cy="321665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711200" y="4623943"/>
            <a:ext cx="12801600" cy="13268707"/>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4"/>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5"/>
          <p:cNvSpPr txBox="1"/>
          <p:nvPr>
            <p:ph type="title"/>
          </p:nvPr>
        </p:nvSpPr>
        <p:spPr>
          <a:xfrm>
            <a:off x="711200" y="804164"/>
            <a:ext cx="12801600" cy="321665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711200" y="4623943"/>
            <a:ext cx="6187440" cy="13268707"/>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5"/>
          <p:cNvSpPr txBox="1"/>
          <p:nvPr>
            <p:ph idx="2" type="body"/>
          </p:nvPr>
        </p:nvSpPr>
        <p:spPr>
          <a:xfrm>
            <a:off x="7325360" y="4623943"/>
            <a:ext cx="6187440" cy="13268707"/>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5" name="Shape 35"/>
        <p:cNvGrpSpPr/>
        <p:nvPr/>
      </p:nvGrpSpPr>
      <p:grpSpPr>
        <a:xfrm>
          <a:off x="0" y="0"/>
          <a:ext cx="0" cy="0"/>
          <a:chOff x="0" y="0"/>
          <a:chExt cx="0" cy="0"/>
        </a:xfrm>
      </p:grpSpPr>
      <p:sp>
        <p:nvSpPr>
          <p:cNvPr id="36" name="Google Shape;36;p6"/>
          <p:cNvSpPr txBox="1"/>
          <p:nvPr>
            <p:ph type="title"/>
          </p:nvPr>
        </p:nvSpPr>
        <p:spPr>
          <a:xfrm>
            <a:off x="711200" y="804164"/>
            <a:ext cx="12801600" cy="321665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9490679" y="8719877"/>
            <a:ext cx="4237355" cy="4711065"/>
          </a:xfrm>
          <a:custGeom>
            <a:rect b="b" l="l" r="r" t="t"/>
            <a:pathLst>
              <a:path extrusionOk="0" h="4711065" w="4237355">
                <a:moveTo>
                  <a:pt x="3530946" y="0"/>
                </a:moveTo>
                <a:lnTo>
                  <a:pt x="706201" y="0"/>
                </a:lnTo>
                <a:lnTo>
                  <a:pt x="657846" y="1629"/>
                </a:lnTo>
                <a:lnTo>
                  <a:pt x="610367" y="6446"/>
                </a:lnTo>
                <a:lnTo>
                  <a:pt x="563868" y="14346"/>
                </a:lnTo>
                <a:lnTo>
                  <a:pt x="518454" y="25224"/>
                </a:lnTo>
                <a:lnTo>
                  <a:pt x="474231" y="38974"/>
                </a:lnTo>
                <a:lnTo>
                  <a:pt x="431303" y="55492"/>
                </a:lnTo>
                <a:lnTo>
                  <a:pt x="389776" y="74672"/>
                </a:lnTo>
                <a:lnTo>
                  <a:pt x="349754" y="96410"/>
                </a:lnTo>
                <a:lnTo>
                  <a:pt x="311344" y="120600"/>
                </a:lnTo>
                <a:lnTo>
                  <a:pt x="274650" y="147136"/>
                </a:lnTo>
                <a:lnTo>
                  <a:pt x="239776" y="175915"/>
                </a:lnTo>
                <a:lnTo>
                  <a:pt x="206830" y="206830"/>
                </a:lnTo>
                <a:lnTo>
                  <a:pt x="175915" y="239776"/>
                </a:lnTo>
                <a:lnTo>
                  <a:pt x="147136" y="274650"/>
                </a:lnTo>
                <a:lnTo>
                  <a:pt x="120600" y="311344"/>
                </a:lnTo>
                <a:lnTo>
                  <a:pt x="96410" y="349754"/>
                </a:lnTo>
                <a:lnTo>
                  <a:pt x="74672" y="389776"/>
                </a:lnTo>
                <a:lnTo>
                  <a:pt x="55492" y="431303"/>
                </a:lnTo>
                <a:lnTo>
                  <a:pt x="38974" y="474231"/>
                </a:lnTo>
                <a:lnTo>
                  <a:pt x="25224" y="518454"/>
                </a:lnTo>
                <a:lnTo>
                  <a:pt x="14346" y="563868"/>
                </a:lnTo>
                <a:lnTo>
                  <a:pt x="6446" y="610367"/>
                </a:lnTo>
                <a:lnTo>
                  <a:pt x="1629" y="657846"/>
                </a:lnTo>
                <a:lnTo>
                  <a:pt x="0" y="706201"/>
                </a:lnTo>
                <a:lnTo>
                  <a:pt x="0" y="4004750"/>
                </a:lnTo>
                <a:lnTo>
                  <a:pt x="1629" y="4053097"/>
                </a:lnTo>
                <a:lnTo>
                  <a:pt x="6446" y="4100571"/>
                </a:lnTo>
                <a:lnTo>
                  <a:pt x="14346" y="4147065"/>
                </a:lnTo>
                <a:lnTo>
                  <a:pt x="25224" y="4192476"/>
                </a:lnTo>
                <a:lnTo>
                  <a:pt x="38974" y="4236696"/>
                </a:lnTo>
                <a:lnTo>
                  <a:pt x="55492" y="4279622"/>
                </a:lnTo>
                <a:lnTo>
                  <a:pt x="74672" y="4321149"/>
                </a:lnTo>
                <a:lnTo>
                  <a:pt x="96410" y="4361170"/>
                </a:lnTo>
                <a:lnTo>
                  <a:pt x="120600" y="4399580"/>
                </a:lnTo>
                <a:lnTo>
                  <a:pt x="147136" y="4436275"/>
                </a:lnTo>
                <a:lnTo>
                  <a:pt x="175915" y="4471150"/>
                </a:lnTo>
                <a:lnTo>
                  <a:pt x="206830" y="4504098"/>
                </a:lnTo>
                <a:lnTo>
                  <a:pt x="239776" y="4535015"/>
                </a:lnTo>
                <a:lnTo>
                  <a:pt x="274650" y="4563796"/>
                </a:lnTo>
                <a:lnTo>
                  <a:pt x="311344" y="4590335"/>
                </a:lnTo>
                <a:lnTo>
                  <a:pt x="349754" y="4614527"/>
                </a:lnTo>
                <a:lnTo>
                  <a:pt x="389776" y="4636267"/>
                </a:lnTo>
                <a:lnTo>
                  <a:pt x="431303" y="4655450"/>
                </a:lnTo>
                <a:lnTo>
                  <a:pt x="474231" y="4671970"/>
                </a:lnTo>
                <a:lnTo>
                  <a:pt x="518454" y="4685723"/>
                </a:lnTo>
                <a:lnTo>
                  <a:pt x="563868" y="4696602"/>
                </a:lnTo>
                <a:lnTo>
                  <a:pt x="610367" y="4704504"/>
                </a:lnTo>
                <a:lnTo>
                  <a:pt x="657846" y="4709321"/>
                </a:lnTo>
                <a:lnTo>
                  <a:pt x="706201" y="4710951"/>
                </a:lnTo>
                <a:lnTo>
                  <a:pt x="3530946" y="4710951"/>
                </a:lnTo>
                <a:lnTo>
                  <a:pt x="3579301" y="4709321"/>
                </a:lnTo>
                <a:lnTo>
                  <a:pt x="3626780" y="4704504"/>
                </a:lnTo>
                <a:lnTo>
                  <a:pt x="3673279" y="4696602"/>
                </a:lnTo>
                <a:lnTo>
                  <a:pt x="3718693" y="4685723"/>
                </a:lnTo>
                <a:lnTo>
                  <a:pt x="3762916" y="4671970"/>
                </a:lnTo>
                <a:lnTo>
                  <a:pt x="3805844" y="4655450"/>
                </a:lnTo>
                <a:lnTo>
                  <a:pt x="3847372" y="4636267"/>
                </a:lnTo>
                <a:lnTo>
                  <a:pt x="3887393" y="4614527"/>
                </a:lnTo>
                <a:lnTo>
                  <a:pt x="3925803" y="4590335"/>
                </a:lnTo>
                <a:lnTo>
                  <a:pt x="3962498" y="4563796"/>
                </a:lnTo>
                <a:lnTo>
                  <a:pt x="3997371" y="4535015"/>
                </a:lnTo>
                <a:lnTo>
                  <a:pt x="4030317" y="4504098"/>
                </a:lnTo>
                <a:lnTo>
                  <a:pt x="4061232" y="4471150"/>
                </a:lnTo>
                <a:lnTo>
                  <a:pt x="4090011" y="4436275"/>
                </a:lnTo>
                <a:lnTo>
                  <a:pt x="4116547" y="4399580"/>
                </a:lnTo>
                <a:lnTo>
                  <a:pt x="4140737" y="4361170"/>
                </a:lnTo>
                <a:lnTo>
                  <a:pt x="4162475" y="4321149"/>
                </a:lnTo>
                <a:lnTo>
                  <a:pt x="4181655" y="4279622"/>
                </a:lnTo>
                <a:lnTo>
                  <a:pt x="4198173" y="4236696"/>
                </a:lnTo>
                <a:lnTo>
                  <a:pt x="4211923" y="4192476"/>
                </a:lnTo>
                <a:lnTo>
                  <a:pt x="4222801" y="4147065"/>
                </a:lnTo>
                <a:lnTo>
                  <a:pt x="4230701" y="4100571"/>
                </a:lnTo>
                <a:lnTo>
                  <a:pt x="4235519" y="4053097"/>
                </a:lnTo>
                <a:lnTo>
                  <a:pt x="4237148" y="4004750"/>
                </a:lnTo>
                <a:lnTo>
                  <a:pt x="4237148" y="706201"/>
                </a:lnTo>
                <a:lnTo>
                  <a:pt x="4235519" y="657846"/>
                </a:lnTo>
                <a:lnTo>
                  <a:pt x="4230701" y="610367"/>
                </a:lnTo>
                <a:lnTo>
                  <a:pt x="4222801" y="563868"/>
                </a:lnTo>
                <a:lnTo>
                  <a:pt x="4211923" y="518454"/>
                </a:lnTo>
                <a:lnTo>
                  <a:pt x="4198173" y="474231"/>
                </a:lnTo>
                <a:lnTo>
                  <a:pt x="4181655" y="431303"/>
                </a:lnTo>
                <a:lnTo>
                  <a:pt x="4162475" y="389776"/>
                </a:lnTo>
                <a:lnTo>
                  <a:pt x="4140737" y="349754"/>
                </a:lnTo>
                <a:lnTo>
                  <a:pt x="4116547" y="311344"/>
                </a:lnTo>
                <a:lnTo>
                  <a:pt x="4090011" y="274650"/>
                </a:lnTo>
                <a:lnTo>
                  <a:pt x="4061232" y="239776"/>
                </a:lnTo>
                <a:lnTo>
                  <a:pt x="4030317" y="206830"/>
                </a:lnTo>
                <a:lnTo>
                  <a:pt x="3997371" y="175915"/>
                </a:lnTo>
                <a:lnTo>
                  <a:pt x="3962498" y="147136"/>
                </a:lnTo>
                <a:lnTo>
                  <a:pt x="3925803" y="120600"/>
                </a:lnTo>
                <a:lnTo>
                  <a:pt x="3887393" y="96410"/>
                </a:lnTo>
                <a:lnTo>
                  <a:pt x="3847372" y="74672"/>
                </a:lnTo>
                <a:lnTo>
                  <a:pt x="3805844" y="55492"/>
                </a:lnTo>
                <a:lnTo>
                  <a:pt x="3762916" y="38974"/>
                </a:lnTo>
                <a:lnTo>
                  <a:pt x="3718693" y="25224"/>
                </a:lnTo>
                <a:lnTo>
                  <a:pt x="3673279" y="14346"/>
                </a:lnTo>
                <a:lnTo>
                  <a:pt x="3626780" y="6446"/>
                </a:lnTo>
                <a:lnTo>
                  <a:pt x="3579301" y="1629"/>
                </a:lnTo>
                <a:lnTo>
                  <a:pt x="3530946"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
          <p:cNvSpPr/>
          <p:nvPr/>
        </p:nvSpPr>
        <p:spPr>
          <a:xfrm>
            <a:off x="9490679" y="8719877"/>
            <a:ext cx="4237355" cy="4711065"/>
          </a:xfrm>
          <a:custGeom>
            <a:rect b="b" l="l" r="r" t="t"/>
            <a:pathLst>
              <a:path extrusionOk="0" h="4711065" w="4237355">
                <a:moveTo>
                  <a:pt x="0" y="706201"/>
                </a:moveTo>
                <a:lnTo>
                  <a:pt x="1629" y="657846"/>
                </a:lnTo>
                <a:lnTo>
                  <a:pt x="6446" y="610367"/>
                </a:lnTo>
                <a:lnTo>
                  <a:pt x="14346" y="563868"/>
                </a:lnTo>
                <a:lnTo>
                  <a:pt x="25224" y="518454"/>
                </a:lnTo>
                <a:lnTo>
                  <a:pt x="38974" y="474231"/>
                </a:lnTo>
                <a:lnTo>
                  <a:pt x="55492" y="431303"/>
                </a:lnTo>
                <a:lnTo>
                  <a:pt x="74672" y="389776"/>
                </a:lnTo>
                <a:lnTo>
                  <a:pt x="96410" y="349754"/>
                </a:lnTo>
                <a:lnTo>
                  <a:pt x="120600" y="311344"/>
                </a:lnTo>
                <a:lnTo>
                  <a:pt x="147136" y="274650"/>
                </a:lnTo>
                <a:lnTo>
                  <a:pt x="175915" y="239776"/>
                </a:lnTo>
                <a:lnTo>
                  <a:pt x="206830" y="206830"/>
                </a:lnTo>
                <a:lnTo>
                  <a:pt x="239776" y="175915"/>
                </a:lnTo>
                <a:lnTo>
                  <a:pt x="274650" y="147136"/>
                </a:lnTo>
                <a:lnTo>
                  <a:pt x="311344" y="120600"/>
                </a:lnTo>
                <a:lnTo>
                  <a:pt x="349754" y="96410"/>
                </a:lnTo>
                <a:lnTo>
                  <a:pt x="389776" y="74672"/>
                </a:lnTo>
                <a:lnTo>
                  <a:pt x="431303" y="55492"/>
                </a:lnTo>
                <a:lnTo>
                  <a:pt x="474231" y="38974"/>
                </a:lnTo>
                <a:lnTo>
                  <a:pt x="518454" y="25224"/>
                </a:lnTo>
                <a:lnTo>
                  <a:pt x="563868" y="14346"/>
                </a:lnTo>
                <a:lnTo>
                  <a:pt x="610367" y="6446"/>
                </a:lnTo>
                <a:lnTo>
                  <a:pt x="657846" y="1629"/>
                </a:lnTo>
                <a:lnTo>
                  <a:pt x="706201" y="0"/>
                </a:lnTo>
                <a:lnTo>
                  <a:pt x="3530946" y="0"/>
                </a:lnTo>
                <a:lnTo>
                  <a:pt x="3579301" y="1629"/>
                </a:lnTo>
                <a:lnTo>
                  <a:pt x="3626780" y="6446"/>
                </a:lnTo>
                <a:lnTo>
                  <a:pt x="3673279" y="14346"/>
                </a:lnTo>
                <a:lnTo>
                  <a:pt x="3718693" y="25224"/>
                </a:lnTo>
                <a:lnTo>
                  <a:pt x="3762916" y="38974"/>
                </a:lnTo>
                <a:lnTo>
                  <a:pt x="3805844" y="55492"/>
                </a:lnTo>
                <a:lnTo>
                  <a:pt x="3847372" y="74672"/>
                </a:lnTo>
                <a:lnTo>
                  <a:pt x="3887393" y="96410"/>
                </a:lnTo>
                <a:lnTo>
                  <a:pt x="3925803" y="120600"/>
                </a:lnTo>
                <a:lnTo>
                  <a:pt x="3962498" y="147136"/>
                </a:lnTo>
                <a:lnTo>
                  <a:pt x="3997371" y="175915"/>
                </a:lnTo>
                <a:lnTo>
                  <a:pt x="4030317" y="206830"/>
                </a:lnTo>
                <a:lnTo>
                  <a:pt x="4061232" y="239776"/>
                </a:lnTo>
                <a:lnTo>
                  <a:pt x="4090011" y="274650"/>
                </a:lnTo>
                <a:lnTo>
                  <a:pt x="4116547" y="311344"/>
                </a:lnTo>
                <a:lnTo>
                  <a:pt x="4140737" y="349754"/>
                </a:lnTo>
                <a:lnTo>
                  <a:pt x="4162475" y="389776"/>
                </a:lnTo>
                <a:lnTo>
                  <a:pt x="4181655" y="431303"/>
                </a:lnTo>
                <a:lnTo>
                  <a:pt x="4198173" y="474231"/>
                </a:lnTo>
                <a:lnTo>
                  <a:pt x="4211923" y="518454"/>
                </a:lnTo>
                <a:lnTo>
                  <a:pt x="4222801" y="563868"/>
                </a:lnTo>
                <a:lnTo>
                  <a:pt x="4230701" y="610367"/>
                </a:lnTo>
                <a:lnTo>
                  <a:pt x="4235519" y="657846"/>
                </a:lnTo>
                <a:lnTo>
                  <a:pt x="4237148" y="706201"/>
                </a:lnTo>
                <a:lnTo>
                  <a:pt x="4237148" y="4004750"/>
                </a:lnTo>
                <a:lnTo>
                  <a:pt x="4235519" y="4053097"/>
                </a:lnTo>
                <a:lnTo>
                  <a:pt x="4230701" y="4100571"/>
                </a:lnTo>
                <a:lnTo>
                  <a:pt x="4222801" y="4147065"/>
                </a:lnTo>
                <a:lnTo>
                  <a:pt x="4211923" y="4192476"/>
                </a:lnTo>
                <a:lnTo>
                  <a:pt x="4198173" y="4236696"/>
                </a:lnTo>
                <a:lnTo>
                  <a:pt x="4181655" y="4279622"/>
                </a:lnTo>
                <a:lnTo>
                  <a:pt x="4162475" y="4321149"/>
                </a:lnTo>
                <a:lnTo>
                  <a:pt x="4140737" y="4361170"/>
                </a:lnTo>
                <a:lnTo>
                  <a:pt x="4116547" y="4399580"/>
                </a:lnTo>
                <a:lnTo>
                  <a:pt x="4090011" y="4436275"/>
                </a:lnTo>
                <a:lnTo>
                  <a:pt x="4061232" y="4471150"/>
                </a:lnTo>
                <a:lnTo>
                  <a:pt x="4030317" y="4504098"/>
                </a:lnTo>
                <a:lnTo>
                  <a:pt x="3997371" y="4535015"/>
                </a:lnTo>
                <a:lnTo>
                  <a:pt x="3962498" y="4563796"/>
                </a:lnTo>
                <a:lnTo>
                  <a:pt x="3925803" y="4590335"/>
                </a:lnTo>
                <a:lnTo>
                  <a:pt x="3887393" y="4614527"/>
                </a:lnTo>
                <a:lnTo>
                  <a:pt x="3847372" y="4636267"/>
                </a:lnTo>
                <a:lnTo>
                  <a:pt x="3805844" y="4655450"/>
                </a:lnTo>
                <a:lnTo>
                  <a:pt x="3762916" y="4671970"/>
                </a:lnTo>
                <a:lnTo>
                  <a:pt x="3718693" y="4685723"/>
                </a:lnTo>
                <a:lnTo>
                  <a:pt x="3673279" y="4696602"/>
                </a:lnTo>
                <a:lnTo>
                  <a:pt x="3626780" y="4704504"/>
                </a:lnTo>
                <a:lnTo>
                  <a:pt x="3579301" y="4709321"/>
                </a:lnTo>
                <a:lnTo>
                  <a:pt x="3530946" y="4710951"/>
                </a:lnTo>
                <a:lnTo>
                  <a:pt x="706201" y="4710951"/>
                </a:lnTo>
                <a:lnTo>
                  <a:pt x="657846" y="4709321"/>
                </a:lnTo>
                <a:lnTo>
                  <a:pt x="610367" y="4704504"/>
                </a:lnTo>
                <a:lnTo>
                  <a:pt x="563868" y="4696602"/>
                </a:lnTo>
                <a:lnTo>
                  <a:pt x="518454" y="4685723"/>
                </a:lnTo>
                <a:lnTo>
                  <a:pt x="474231" y="4671970"/>
                </a:lnTo>
                <a:lnTo>
                  <a:pt x="431303" y="4655450"/>
                </a:lnTo>
                <a:lnTo>
                  <a:pt x="389776" y="4636267"/>
                </a:lnTo>
                <a:lnTo>
                  <a:pt x="349754" y="4614527"/>
                </a:lnTo>
                <a:lnTo>
                  <a:pt x="311344" y="4590335"/>
                </a:lnTo>
                <a:lnTo>
                  <a:pt x="274650" y="4563796"/>
                </a:lnTo>
                <a:lnTo>
                  <a:pt x="239776" y="4535015"/>
                </a:lnTo>
                <a:lnTo>
                  <a:pt x="206830" y="4504098"/>
                </a:lnTo>
                <a:lnTo>
                  <a:pt x="175915" y="4471150"/>
                </a:lnTo>
                <a:lnTo>
                  <a:pt x="147136" y="4436275"/>
                </a:lnTo>
                <a:lnTo>
                  <a:pt x="120600" y="4399580"/>
                </a:lnTo>
                <a:lnTo>
                  <a:pt x="96410" y="4361170"/>
                </a:lnTo>
                <a:lnTo>
                  <a:pt x="74672" y="4321149"/>
                </a:lnTo>
                <a:lnTo>
                  <a:pt x="55492" y="4279622"/>
                </a:lnTo>
                <a:lnTo>
                  <a:pt x="38974" y="4236696"/>
                </a:lnTo>
                <a:lnTo>
                  <a:pt x="25224" y="4192476"/>
                </a:lnTo>
                <a:lnTo>
                  <a:pt x="14346" y="4147065"/>
                </a:lnTo>
                <a:lnTo>
                  <a:pt x="6446" y="4100571"/>
                </a:lnTo>
                <a:lnTo>
                  <a:pt x="1629" y="4053097"/>
                </a:lnTo>
                <a:lnTo>
                  <a:pt x="0" y="4004750"/>
                </a:lnTo>
                <a:lnTo>
                  <a:pt x="0" y="706201"/>
                </a:lnTo>
                <a:close/>
              </a:path>
            </a:pathLst>
          </a:custGeom>
          <a:noFill/>
          <a:ln cap="flat" cmpd="sng" w="13400">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idx="1" type="body"/>
          </p:nvPr>
        </p:nvSpPr>
        <p:spPr>
          <a:xfrm>
            <a:off x="711200" y="4623943"/>
            <a:ext cx="12801600" cy="13268707"/>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4836160" y="18696814"/>
            <a:ext cx="4551680" cy="100520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0" type="dt"/>
          </p:nvPr>
        </p:nvSpPr>
        <p:spPr>
          <a:xfrm>
            <a:off x="711200" y="18696814"/>
            <a:ext cx="3271520" cy="10052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10241280" y="18696814"/>
            <a:ext cx="3271520" cy="100520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1" Type="http://schemas.openxmlformats.org/officeDocument/2006/relationships/image" Target="../media/image7.png"/><Relationship Id="rId10" Type="http://schemas.openxmlformats.org/officeDocument/2006/relationships/image" Target="../media/image8.png"/><Relationship Id="rId12" Type="http://schemas.openxmlformats.org/officeDocument/2006/relationships/image" Target="../media/image9.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0.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7"/>
          <p:cNvGrpSpPr/>
          <p:nvPr/>
        </p:nvGrpSpPr>
        <p:grpSpPr>
          <a:xfrm>
            <a:off x="9482066" y="8180071"/>
            <a:ext cx="4330577" cy="5246713"/>
            <a:chOff x="5082215" y="8719877"/>
            <a:chExt cx="4237355" cy="4711065"/>
          </a:xfrm>
        </p:grpSpPr>
        <p:sp>
          <p:nvSpPr>
            <p:cNvPr id="45" name="Google Shape;45;p7"/>
            <p:cNvSpPr/>
            <p:nvPr/>
          </p:nvSpPr>
          <p:spPr>
            <a:xfrm>
              <a:off x="5082215" y="8719877"/>
              <a:ext cx="4237355" cy="4711065"/>
            </a:xfrm>
            <a:custGeom>
              <a:rect b="b" l="l" r="r" t="t"/>
              <a:pathLst>
                <a:path extrusionOk="0" h="4711065" w="4237355">
                  <a:moveTo>
                    <a:pt x="3530946" y="0"/>
                  </a:moveTo>
                  <a:lnTo>
                    <a:pt x="706201" y="0"/>
                  </a:lnTo>
                  <a:lnTo>
                    <a:pt x="657853" y="1629"/>
                  </a:lnTo>
                  <a:lnTo>
                    <a:pt x="610380" y="6446"/>
                  </a:lnTo>
                  <a:lnTo>
                    <a:pt x="563885" y="14346"/>
                  </a:lnTo>
                  <a:lnTo>
                    <a:pt x="518475" y="25224"/>
                  </a:lnTo>
                  <a:lnTo>
                    <a:pt x="474254" y="38974"/>
                  </a:lnTo>
                  <a:lnTo>
                    <a:pt x="431328" y="55492"/>
                  </a:lnTo>
                  <a:lnTo>
                    <a:pt x="389802" y="74672"/>
                  </a:lnTo>
                  <a:lnTo>
                    <a:pt x="349781" y="96410"/>
                  </a:lnTo>
                  <a:lnTo>
                    <a:pt x="311370" y="120600"/>
                  </a:lnTo>
                  <a:lnTo>
                    <a:pt x="274675" y="147136"/>
                  </a:lnTo>
                  <a:lnTo>
                    <a:pt x="239801" y="175915"/>
                  </a:lnTo>
                  <a:lnTo>
                    <a:pt x="206852" y="206830"/>
                  </a:lnTo>
                  <a:lnTo>
                    <a:pt x="175935" y="239776"/>
                  </a:lnTo>
                  <a:lnTo>
                    <a:pt x="147154" y="274650"/>
                  </a:lnTo>
                  <a:lnTo>
                    <a:pt x="120615" y="311344"/>
                  </a:lnTo>
                  <a:lnTo>
                    <a:pt x="96423" y="349754"/>
                  </a:lnTo>
                  <a:lnTo>
                    <a:pt x="74683" y="389776"/>
                  </a:lnTo>
                  <a:lnTo>
                    <a:pt x="55500" y="431303"/>
                  </a:lnTo>
                  <a:lnTo>
                    <a:pt x="38980" y="474231"/>
                  </a:lnTo>
                  <a:lnTo>
                    <a:pt x="25228" y="518454"/>
                  </a:lnTo>
                  <a:lnTo>
                    <a:pt x="14348" y="563868"/>
                  </a:lnTo>
                  <a:lnTo>
                    <a:pt x="6447" y="610367"/>
                  </a:lnTo>
                  <a:lnTo>
                    <a:pt x="1629" y="657846"/>
                  </a:lnTo>
                  <a:lnTo>
                    <a:pt x="0" y="706201"/>
                  </a:lnTo>
                  <a:lnTo>
                    <a:pt x="0" y="4004750"/>
                  </a:lnTo>
                  <a:lnTo>
                    <a:pt x="1629" y="4053097"/>
                  </a:lnTo>
                  <a:lnTo>
                    <a:pt x="6447" y="4100571"/>
                  </a:lnTo>
                  <a:lnTo>
                    <a:pt x="14348" y="4147065"/>
                  </a:lnTo>
                  <a:lnTo>
                    <a:pt x="25228" y="4192476"/>
                  </a:lnTo>
                  <a:lnTo>
                    <a:pt x="38980" y="4236696"/>
                  </a:lnTo>
                  <a:lnTo>
                    <a:pt x="55500" y="4279622"/>
                  </a:lnTo>
                  <a:lnTo>
                    <a:pt x="74683" y="4321149"/>
                  </a:lnTo>
                  <a:lnTo>
                    <a:pt x="96423" y="4361170"/>
                  </a:lnTo>
                  <a:lnTo>
                    <a:pt x="120615" y="4399580"/>
                  </a:lnTo>
                  <a:lnTo>
                    <a:pt x="147154" y="4436275"/>
                  </a:lnTo>
                  <a:lnTo>
                    <a:pt x="175935" y="4471150"/>
                  </a:lnTo>
                  <a:lnTo>
                    <a:pt x="206852" y="4504098"/>
                  </a:lnTo>
                  <a:lnTo>
                    <a:pt x="239801" y="4535015"/>
                  </a:lnTo>
                  <a:lnTo>
                    <a:pt x="274675" y="4563796"/>
                  </a:lnTo>
                  <a:lnTo>
                    <a:pt x="311370" y="4590335"/>
                  </a:lnTo>
                  <a:lnTo>
                    <a:pt x="349781" y="4614527"/>
                  </a:lnTo>
                  <a:lnTo>
                    <a:pt x="389802" y="4636267"/>
                  </a:lnTo>
                  <a:lnTo>
                    <a:pt x="431328" y="4655450"/>
                  </a:lnTo>
                  <a:lnTo>
                    <a:pt x="474254" y="4671970"/>
                  </a:lnTo>
                  <a:lnTo>
                    <a:pt x="518475" y="4685723"/>
                  </a:lnTo>
                  <a:lnTo>
                    <a:pt x="563885" y="4696602"/>
                  </a:lnTo>
                  <a:lnTo>
                    <a:pt x="610380" y="4704504"/>
                  </a:lnTo>
                  <a:lnTo>
                    <a:pt x="657853" y="4709321"/>
                  </a:lnTo>
                  <a:lnTo>
                    <a:pt x="706201" y="4710951"/>
                  </a:lnTo>
                  <a:lnTo>
                    <a:pt x="3530946" y="4710951"/>
                  </a:lnTo>
                  <a:lnTo>
                    <a:pt x="3579301" y="4709321"/>
                  </a:lnTo>
                  <a:lnTo>
                    <a:pt x="3626781" y="4704504"/>
                  </a:lnTo>
                  <a:lnTo>
                    <a:pt x="3673282" y="4696602"/>
                  </a:lnTo>
                  <a:lnTo>
                    <a:pt x="3718697" y="4685723"/>
                  </a:lnTo>
                  <a:lnTo>
                    <a:pt x="3762923" y="4671970"/>
                  </a:lnTo>
                  <a:lnTo>
                    <a:pt x="3805854" y="4655450"/>
                  </a:lnTo>
                  <a:lnTo>
                    <a:pt x="3847384" y="4636267"/>
                  </a:lnTo>
                  <a:lnTo>
                    <a:pt x="3887408" y="4614527"/>
                  </a:lnTo>
                  <a:lnTo>
                    <a:pt x="3925822" y="4590335"/>
                  </a:lnTo>
                  <a:lnTo>
                    <a:pt x="3962520" y="4563796"/>
                  </a:lnTo>
                  <a:lnTo>
                    <a:pt x="3997397" y="4535015"/>
                  </a:lnTo>
                  <a:lnTo>
                    <a:pt x="4030347" y="4504098"/>
                  </a:lnTo>
                  <a:lnTo>
                    <a:pt x="4061266" y="4471150"/>
                  </a:lnTo>
                  <a:lnTo>
                    <a:pt x="4090048" y="4436275"/>
                  </a:lnTo>
                  <a:lnTo>
                    <a:pt x="4116588" y="4399580"/>
                  </a:lnTo>
                  <a:lnTo>
                    <a:pt x="4140781" y="4361170"/>
                  </a:lnTo>
                  <a:lnTo>
                    <a:pt x="4162522" y="4321149"/>
                  </a:lnTo>
                  <a:lnTo>
                    <a:pt x="4181705" y="4279622"/>
                  </a:lnTo>
                  <a:lnTo>
                    <a:pt x="4198226" y="4236696"/>
                  </a:lnTo>
                  <a:lnTo>
                    <a:pt x="4211979" y="4192476"/>
                  </a:lnTo>
                  <a:lnTo>
                    <a:pt x="4222858" y="4147065"/>
                  </a:lnTo>
                  <a:lnTo>
                    <a:pt x="4230760" y="4100571"/>
                  </a:lnTo>
                  <a:lnTo>
                    <a:pt x="4235578" y="4053097"/>
                  </a:lnTo>
                  <a:lnTo>
                    <a:pt x="4237207" y="4004750"/>
                  </a:lnTo>
                  <a:lnTo>
                    <a:pt x="4237207" y="706201"/>
                  </a:lnTo>
                  <a:lnTo>
                    <a:pt x="4235578" y="657846"/>
                  </a:lnTo>
                  <a:lnTo>
                    <a:pt x="4230760" y="610367"/>
                  </a:lnTo>
                  <a:lnTo>
                    <a:pt x="4222858" y="563868"/>
                  </a:lnTo>
                  <a:lnTo>
                    <a:pt x="4211979" y="518454"/>
                  </a:lnTo>
                  <a:lnTo>
                    <a:pt x="4198226" y="474231"/>
                  </a:lnTo>
                  <a:lnTo>
                    <a:pt x="4181705" y="431303"/>
                  </a:lnTo>
                  <a:lnTo>
                    <a:pt x="4162522" y="389776"/>
                  </a:lnTo>
                  <a:lnTo>
                    <a:pt x="4140781" y="349754"/>
                  </a:lnTo>
                  <a:lnTo>
                    <a:pt x="4116588" y="311344"/>
                  </a:lnTo>
                  <a:lnTo>
                    <a:pt x="4090048" y="274650"/>
                  </a:lnTo>
                  <a:lnTo>
                    <a:pt x="4061266" y="239776"/>
                  </a:lnTo>
                  <a:lnTo>
                    <a:pt x="4030347" y="206830"/>
                  </a:lnTo>
                  <a:lnTo>
                    <a:pt x="3997397" y="175915"/>
                  </a:lnTo>
                  <a:lnTo>
                    <a:pt x="3962520" y="147136"/>
                  </a:lnTo>
                  <a:lnTo>
                    <a:pt x="3925822" y="120600"/>
                  </a:lnTo>
                  <a:lnTo>
                    <a:pt x="3887408" y="96410"/>
                  </a:lnTo>
                  <a:lnTo>
                    <a:pt x="3847384" y="74672"/>
                  </a:lnTo>
                  <a:lnTo>
                    <a:pt x="3805854" y="55492"/>
                  </a:lnTo>
                  <a:lnTo>
                    <a:pt x="3762923" y="38974"/>
                  </a:lnTo>
                  <a:lnTo>
                    <a:pt x="3718697" y="25224"/>
                  </a:lnTo>
                  <a:lnTo>
                    <a:pt x="3673282" y="14346"/>
                  </a:lnTo>
                  <a:lnTo>
                    <a:pt x="3626781" y="6446"/>
                  </a:lnTo>
                  <a:lnTo>
                    <a:pt x="3579301" y="1629"/>
                  </a:lnTo>
                  <a:lnTo>
                    <a:pt x="3530946"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431"/>
            </a:p>
          </p:txBody>
        </p:sp>
        <p:sp>
          <p:nvSpPr>
            <p:cNvPr id="46" name="Google Shape;46;p7"/>
            <p:cNvSpPr/>
            <p:nvPr/>
          </p:nvSpPr>
          <p:spPr>
            <a:xfrm>
              <a:off x="5082215" y="8719877"/>
              <a:ext cx="4237355" cy="4711065"/>
            </a:xfrm>
            <a:custGeom>
              <a:rect b="b" l="l" r="r" t="t"/>
              <a:pathLst>
                <a:path extrusionOk="0" h="4711065" w="4237355">
                  <a:moveTo>
                    <a:pt x="0" y="706201"/>
                  </a:moveTo>
                  <a:lnTo>
                    <a:pt x="1629" y="657846"/>
                  </a:lnTo>
                  <a:lnTo>
                    <a:pt x="6447" y="610367"/>
                  </a:lnTo>
                  <a:lnTo>
                    <a:pt x="14348" y="563868"/>
                  </a:lnTo>
                  <a:lnTo>
                    <a:pt x="25228" y="518454"/>
                  </a:lnTo>
                  <a:lnTo>
                    <a:pt x="38980" y="474231"/>
                  </a:lnTo>
                  <a:lnTo>
                    <a:pt x="55500" y="431303"/>
                  </a:lnTo>
                  <a:lnTo>
                    <a:pt x="74683" y="389776"/>
                  </a:lnTo>
                  <a:lnTo>
                    <a:pt x="96423" y="349754"/>
                  </a:lnTo>
                  <a:lnTo>
                    <a:pt x="120615" y="311344"/>
                  </a:lnTo>
                  <a:lnTo>
                    <a:pt x="147154" y="274650"/>
                  </a:lnTo>
                  <a:lnTo>
                    <a:pt x="175935" y="239776"/>
                  </a:lnTo>
                  <a:lnTo>
                    <a:pt x="206852" y="206830"/>
                  </a:lnTo>
                  <a:lnTo>
                    <a:pt x="239801" y="175915"/>
                  </a:lnTo>
                  <a:lnTo>
                    <a:pt x="274675" y="147136"/>
                  </a:lnTo>
                  <a:lnTo>
                    <a:pt x="311370" y="120600"/>
                  </a:lnTo>
                  <a:lnTo>
                    <a:pt x="349781" y="96410"/>
                  </a:lnTo>
                  <a:lnTo>
                    <a:pt x="389802" y="74672"/>
                  </a:lnTo>
                  <a:lnTo>
                    <a:pt x="431328" y="55492"/>
                  </a:lnTo>
                  <a:lnTo>
                    <a:pt x="474254" y="38974"/>
                  </a:lnTo>
                  <a:lnTo>
                    <a:pt x="518475" y="25224"/>
                  </a:lnTo>
                  <a:lnTo>
                    <a:pt x="563885" y="14346"/>
                  </a:lnTo>
                  <a:lnTo>
                    <a:pt x="610380" y="6446"/>
                  </a:lnTo>
                  <a:lnTo>
                    <a:pt x="657853" y="1629"/>
                  </a:lnTo>
                  <a:lnTo>
                    <a:pt x="706201" y="0"/>
                  </a:lnTo>
                  <a:lnTo>
                    <a:pt x="3530946" y="0"/>
                  </a:lnTo>
                  <a:lnTo>
                    <a:pt x="3579301" y="1629"/>
                  </a:lnTo>
                  <a:lnTo>
                    <a:pt x="3626781" y="6446"/>
                  </a:lnTo>
                  <a:lnTo>
                    <a:pt x="3673282" y="14346"/>
                  </a:lnTo>
                  <a:lnTo>
                    <a:pt x="3718697" y="25224"/>
                  </a:lnTo>
                  <a:lnTo>
                    <a:pt x="3762923" y="38974"/>
                  </a:lnTo>
                  <a:lnTo>
                    <a:pt x="3805854" y="55492"/>
                  </a:lnTo>
                  <a:lnTo>
                    <a:pt x="3847384" y="74672"/>
                  </a:lnTo>
                  <a:lnTo>
                    <a:pt x="3887408" y="96410"/>
                  </a:lnTo>
                  <a:lnTo>
                    <a:pt x="3925822" y="120600"/>
                  </a:lnTo>
                  <a:lnTo>
                    <a:pt x="3962520" y="147136"/>
                  </a:lnTo>
                  <a:lnTo>
                    <a:pt x="3997397" y="175915"/>
                  </a:lnTo>
                  <a:lnTo>
                    <a:pt x="4030347" y="206830"/>
                  </a:lnTo>
                  <a:lnTo>
                    <a:pt x="4061266" y="239776"/>
                  </a:lnTo>
                  <a:lnTo>
                    <a:pt x="4090048" y="274650"/>
                  </a:lnTo>
                  <a:lnTo>
                    <a:pt x="4116588" y="311344"/>
                  </a:lnTo>
                  <a:lnTo>
                    <a:pt x="4140781" y="349754"/>
                  </a:lnTo>
                  <a:lnTo>
                    <a:pt x="4162522" y="389776"/>
                  </a:lnTo>
                  <a:lnTo>
                    <a:pt x="4181705" y="431303"/>
                  </a:lnTo>
                  <a:lnTo>
                    <a:pt x="4198226" y="474231"/>
                  </a:lnTo>
                  <a:lnTo>
                    <a:pt x="4211979" y="518454"/>
                  </a:lnTo>
                  <a:lnTo>
                    <a:pt x="4222858" y="563868"/>
                  </a:lnTo>
                  <a:lnTo>
                    <a:pt x="4230760" y="610367"/>
                  </a:lnTo>
                  <a:lnTo>
                    <a:pt x="4235578" y="657846"/>
                  </a:lnTo>
                  <a:lnTo>
                    <a:pt x="4237207" y="706201"/>
                  </a:lnTo>
                  <a:lnTo>
                    <a:pt x="4237207" y="4004750"/>
                  </a:lnTo>
                  <a:lnTo>
                    <a:pt x="4235578" y="4053097"/>
                  </a:lnTo>
                  <a:lnTo>
                    <a:pt x="4230760" y="4100571"/>
                  </a:lnTo>
                  <a:lnTo>
                    <a:pt x="4222858" y="4147065"/>
                  </a:lnTo>
                  <a:lnTo>
                    <a:pt x="4211979" y="4192476"/>
                  </a:lnTo>
                  <a:lnTo>
                    <a:pt x="4198226" y="4236696"/>
                  </a:lnTo>
                  <a:lnTo>
                    <a:pt x="4181705" y="4279622"/>
                  </a:lnTo>
                  <a:lnTo>
                    <a:pt x="4162522" y="4321149"/>
                  </a:lnTo>
                  <a:lnTo>
                    <a:pt x="4140781" y="4361170"/>
                  </a:lnTo>
                  <a:lnTo>
                    <a:pt x="4116588" y="4399580"/>
                  </a:lnTo>
                  <a:lnTo>
                    <a:pt x="4090048" y="4436275"/>
                  </a:lnTo>
                  <a:lnTo>
                    <a:pt x="4061266" y="4471150"/>
                  </a:lnTo>
                  <a:lnTo>
                    <a:pt x="4030347" y="4504098"/>
                  </a:lnTo>
                  <a:lnTo>
                    <a:pt x="3997397" y="4535015"/>
                  </a:lnTo>
                  <a:lnTo>
                    <a:pt x="3962520" y="4563796"/>
                  </a:lnTo>
                  <a:lnTo>
                    <a:pt x="3925822" y="4590335"/>
                  </a:lnTo>
                  <a:lnTo>
                    <a:pt x="3887408" y="4614527"/>
                  </a:lnTo>
                  <a:lnTo>
                    <a:pt x="3847384" y="4636267"/>
                  </a:lnTo>
                  <a:lnTo>
                    <a:pt x="3805854" y="4655450"/>
                  </a:lnTo>
                  <a:lnTo>
                    <a:pt x="3762923" y="4671970"/>
                  </a:lnTo>
                  <a:lnTo>
                    <a:pt x="3718697" y="4685723"/>
                  </a:lnTo>
                  <a:lnTo>
                    <a:pt x="3673282" y="4696602"/>
                  </a:lnTo>
                  <a:lnTo>
                    <a:pt x="3626781" y="4704504"/>
                  </a:lnTo>
                  <a:lnTo>
                    <a:pt x="3579301" y="4709321"/>
                  </a:lnTo>
                  <a:lnTo>
                    <a:pt x="3530946" y="4710951"/>
                  </a:lnTo>
                  <a:lnTo>
                    <a:pt x="706201" y="4710951"/>
                  </a:lnTo>
                  <a:lnTo>
                    <a:pt x="657853" y="4709321"/>
                  </a:lnTo>
                  <a:lnTo>
                    <a:pt x="610380" y="4704504"/>
                  </a:lnTo>
                  <a:lnTo>
                    <a:pt x="563885" y="4696602"/>
                  </a:lnTo>
                  <a:lnTo>
                    <a:pt x="518475" y="4685723"/>
                  </a:lnTo>
                  <a:lnTo>
                    <a:pt x="474254" y="4671970"/>
                  </a:lnTo>
                  <a:lnTo>
                    <a:pt x="431328" y="4655450"/>
                  </a:lnTo>
                  <a:lnTo>
                    <a:pt x="389802" y="4636267"/>
                  </a:lnTo>
                  <a:lnTo>
                    <a:pt x="349781" y="4614527"/>
                  </a:lnTo>
                  <a:lnTo>
                    <a:pt x="311370" y="4590335"/>
                  </a:lnTo>
                  <a:lnTo>
                    <a:pt x="274675" y="4563796"/>
                  </a:lnTo>
                  <a:lnTo>
                    <a:pt x="239801" y="4535015"/>
                  </a:lnTo>
                  <a:lnTo>
                    <a:pt x="206852" y="4504098"/>
                  </a:lnTo>
                  <a:lnTo>
                    <a:pt x="175935" y="4471150"/>
                  </a:lnTo>
                  <a:lnTo>
                    <a:pt x="147154" y="4436275"/>
                  </a:lnTo>
                  <a:lnTo>
                    <a:pt x="120615" y="4399580"/>
                  </a:lnTo>
                  <a:lnTo>
                    <a:pt x="96423" y="4361170"/>
                  </a:lnTo>
                  <a:lnTo>
                    <a:pt x="74683" y="4321149"/>
                  </a:lnTo>
                  <a:lnTo>
                    <a:pt x="55500" y="4279622"/>
                  </a:lnTo>
                  <a:lnTo>
                    <a:pt x="38980" y="4236696"/>
                  </a:lnTo>
                  <a:lnTo>
                    <a:pt x="25228" y="4192476"/>
                  </a:lnTo>
                  <a:lnTo>
                    <a:pt x="14348" y="4147065"/>
                  </a:lnTo>
                  <a:lnTo>
                    <a:pt x="6447" y="4100571"/>
                  </a:lnTo>
                  <a:lnTo>
                    <a:pt x="1629" y="4053097"/>
                  </a:lnTo>
                  <a:lnTo>
                    <a:pt x="0" y="4004750"/>
                  </a:lnTo>
                  <a:lnTo>
                    <a:pt x="0" y="706201"/>
                  </a:lnTo>
                  <a:close/>
                </a:path>
              </a:pathLst>
            </a:custGeom>
            <a:noFill/>
            <a:ln cap="flat" cmpd="sng" w="13700">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431"/>
            </a:p>
          </p:txBody>
        </p:sp>
      </p:grpSp>
      <p:sp>
        <p:nvSpPr>
          <p:cNvPr id="47" name="Google Shape;47;p7"/>
          <p:cNvSpPr txBox="1"/>
          <p:nvPr/>
        </p:nvSpPr>
        <p:spPr>
          <a:xfrm>
            <a:off x="9602993" y="11561045"/>
            <a:ext cx="3749700" cy="354900"/>
          </a:xfrm>
          <a:prstGeom prst="rect">
            <a:avLst/>
          </a:prstGeom>
          <a:noFill/>
          <a:ln>
            <a:noFill/>
          </a:ln>
        </p:spPr>
        <p:txBody>
          <a:bodyPr anchorCtr="0" anchor="t" bIns="0" lIns="0" spcFirstLastPara="1" rIns="0" wrap="square" tIns="12050">
            <a:spAutoFit/>
          </a:bodyPr>
          <a:lstStyle/>
          <a:p>
            <a:pPr indent="0" lvl="0" marL="12700" marR="5080" rtl="0" algn="l">
              <a:lnSpc>
                <a:spcPct val="102499"/>
              </a:lnSpc>
              <a:spcBef>
                <a:spcPts val="0"/>
              </a:spcBef>
              <a:spcAft>
                <a:spcPts val="0"/>
              </a:spcAft>
              <a:buNone/>
            </a:pPr>
            <a:r>
              <a:rPr lang="en-US" sz="1100">
                <a:solidFill>
                  <a:srgbClr val="2E4D5D"/>
                </a:solidFill>
                <a:latin typeface="Arial"/>
                <a:ea typeface="Arial"/>
                <a:cs typeface="Arial"/>
                <a:sym typeface="Arial"/>
              </a:rPr>
              <a:t>Higher velocities (e.g., fixed at 3 cm/s) cause a spatial shift between the obtained and desired profiles.</a:t>
            </a:r>
            <a:endParaRPr sz="1100">
              <a:latin typeface="Arial"/>
              <a:ea typeface="Arial"/>
              <a:cs typeface="Arial"/>
              <a:sym typeface="Arial"/>
            </a:endParaRPr>
          </a:p>
        </p:txBody>
      </p:sp>
      <p:grpSp>
        <p:nvGrpSpPr>
          <p:cNvPr id="48" name="Google Shape;48;p7"/>
          <p:cNvGrpSpPr/>
          <p:nvPr/>
        </p:nvGrpSpPr>
        <p:grpSpPr>
          <a:xfrm>
            <a:off x="9885731" y="12082033"/>
            <a:ext cx="3422979" cy="1236189"/>
            <a:chOff x="9912945" y="12054819"/>
            <a:chExt cx="3422979" cy="1236189"/>
          </a:xfrm>
        </p:grpSpPr>
        <p:pic>
          <p:nvPicPr>
            <p:cNvPr descr="A graph of a speed shift  AI-generated content may be incorrect." id="49" name="Google Shape;49;p7"/>
            <p:cNvPicPr preferRelativeResize="0"/>
            <p:nvPr/>
          </p:nvPicPr>
          <p:blipFill rotWithShape="1">
            <a:blip r:embed="rId3">
              <a:alphaModFix/>
            </a:blip>
            <a:srcRect b="0" l="0" r="0" t="0"/>
            <a:stretch/>
          </p:blipFill>
          <p:spPr>
            <a:xfrm>
              <a:off x="9994547" y="12058392"/>
              <a:ext cx="3341377" cy="1232616"/>
            </a:xfrm>
            <a:prstGeom prst="rect">
              <a:avLst/>
            </a:prstGeom>
            <a:noFill/>
            <a:ln>
              <a:noFill/>
            </a:ln>
          </p:spPr>
        </p:pic>
        <p:sp>
          <p:nvSpPr>
            <p:cNvPr id="50" name="Google Shape;50;p7"/>
            <p:cNvSpPr/>
            <p:nvPr/>
          </p:nvSpPr>
          <p:spPr>
            <a:xfrm>
              <a:off x="9912945" y="12054819"/>
              <a:ext cx="196850" cy="209550"/>
            </a:xfrm>
            <a:custGeom>
              <a:rect b="b" l="l" r="r" t="t"/>
              <a:pathLst>
                <a:path extrusionOk="0" h="209550" w="196850">
                  <a:moveTo>
                    <a:pt x="196637" y="0"/>
                  </a:moveTo>
                  <a:lnTo>
                    <a:pt x="0" y="0"/>
                  </a:lnTo>
                  <a:lnTo>
                    <a:pt x="0" y="209128"/>
                  </a:lnTo>
                  <a:lnTo>
                    <a:pt x="196637" y="209128"/>
                  </a:lnTo>
                  <a:lnTo>
                    <a:pt x="196637"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1" name="Google Shape;51;p7"/>
          <p:cNvSpPr txBox="1"/>
          <p:nvPr/>
        </p:nvSpPr>
        <p:spPr>
          <a:xfrm>
            <a:off x="9651250" y="8262575"/>
            <a:ext cx="4025400" cy="1783800"/>
          </a:xfrm>
          <a:prstGeom prst="rect">
            <a:avLst/>
          </a:prstGeom>
          <a:noFill/>
          <a:ln>
            <a:noFill/>
          </a:ln>
        </p:spPr>
        <p:txBody>
          <a:bodyPr anchorCtr="0" anchor="t" bIns="0" lIns="0" spcFirstLastPara="1" rIns="0" wrap="square" tIns="11425">
            <a:spAutoFit/>
          </a:bodyPr>
          <a:lstStyle/>
          <a:p>
            <a:pPr indent="1905" lvl="0" marL="177165" marR="5080" rtl="0" algn="ctr">
              <a:lnSpc>
                <a:spcPct val="101600"/>
              </a:lnSpc>
              <a:spcBef>
                <a:spcPts val="0"/>
              </a:spcBef>
              <a:spcAft>
                <a:spcPts val="0"/>
              </a:spcAft>
              <a:buNone/>
            </a:pPr>
            <a:r>
              <a:rPr b="1" lang="en-US" sz="1850">
                <a:solidFill>
                  <a:srgbClr val="2E4D5D"/>
                </a:solidFill>
                <a:latin typeface="Arial"/>
                <a:ea typeface="Arial"/>
                <a:cs typeface="Arial"/>
                <a:sym typeface="Arial"/>
              </a:rPr>
              <a:t>Speed adaptation </a:t>
            </a:r>
            <a:r>
              <a:rPr lang="en-US" sz="1850">
                <a:solidFill>
                  <a:srgbClr val="2E4D5D"/>
                </a:solidFill>
                <a:latin typeface="Arial"/>
                <a:ea typeface="Arial"/>
                <a:cs typeface="Arial"/>
                <a:sym typeface="Arial"/>
              </a:rPr>
              <a:t>provides a balance between grading precision and execution time.</a:t>
            </a:r>
            <a:endParaRPr sz="1850">
              <a:latin typeface="Arial"/>
              <a:ea typeface="Arial"/>
              <a:cs typeface="Arial"/>
              <a:sym typeface="Arial"/>
            </a:endParaRPr>
          </a:p>
          <a:p>
            <a:pPr indent="0" lvl="0" marL="12700" marR="95885" rtl="0" algn="l">
              <a:lnSpc>
                <a:spcPct val="102499"/>
              </a:lnSpc>
              <a:spcBef>
                <a:spcPts val="1670"/>
              </a:spcBef>
              <a:spcAft>
                <a:spcPts val="0"/>
              </a:spcAft>
              <a:buNone/>
            </a:pPr>
            <a:r>
              <a:rPr b="1" lang="en-US" sz="1100">
                <a:solidFill>
                  <a:srgbClr val="2E4D5D"/>
                </a:solidFill>
                <a:latin typeface="Arial"/>
                <a:ea typeface="Arial"/>
                <a:cs typeface="Arial"/>
                <a:sym typeface="Arial"/>
              </a:rPr>
              <a:t>→ </a:t>
            </a:r>
            <a:r>
              <a:rPr lang="en-US" sz="1100">
                <a:solidFill>
                  <a:srgbClr val="2E4D5D"/>
                </a:solidFill>
                <a:latin typeface="Arial"/>
                <a:ea typeface="Arial"/>
                <a:cs typeface="Arial"/>
                <a:sym typeface="Arial"/>
              </a:rPr>
              <a:t>We take advantage of the task progress to </a:t>
            </a:r>
            <a:r>
              <a:rPr b="1" lang="en-US" sz="1100">
                <a:solidFill>
                  <a:srgbClr val="2E4D5D"/>
                </a:solidFill>
                <a:latin typeface="Arial"/>
                <a:ea typeface="Arial"/>
                <a:cs typeface="Arial"/>
                <a:sym typeface="Arial"/>
              </a:rPr>
              <a:t>switch between rapid grading </a:t>
            </a:r>
            <a:r>
              <a:rPr lang="en-US" sz="1100">
                <a:solidFill>
                  <a:srgbClr val="2E4D5D"/>
                </a:solidFill>
                <a:latin typeface="Arial"/>
                <a:ea typeface="Arial"/>
                <a:cs typeface="Arial"/>
                <a:sym typeface="Arial"/>
              </a:rPr>
              <a:t>when the objective is still far </a:t>
            </a:r>
            <a:r>
              <a:rPr b="1" lang="en-US" sz="1100">
                <a:solidFill>
                  <a:srgbClr val="2E4D5D"/>
                </a:solidFill>
                <a:latin typeface="Arial"/>
                <a:ea typeface="Arial"/>
                <a:cs typeface="Arial"/>
                <a:sym typeface="Arial"/>
              </a:rPr>
              <a:t>and then work with more precision </a:t>
            </a:r>
            <a:r>
              <a:rPr lang="en-US" sz="1100">
                <a:solidFill>
                  <a:srgbClr val="2E4D5D"/>
                </a:solidFill>
                <a:latin typeface="Arial"/>
                <a:ea typeface="Arial"/>
                <a:cs typeface="Arial"/>
                <a:sym typeface="Arial"/>
              </a:rPr>
              <a:t>for the finishing steps (like humans typically work).</a:t>
            </a:r>
            <a:endParaRPr sz="1100">
              <a:latin typeface="Arial"/>
              <a:ea typeface="Arial"/>
              <a:cs typeface="Arial"/>
              <a:sym typeface="Arial"/>
            </a:endParaRPr>
          </a:p>
        </p:txBody>
      </p:sp>
      <p:grpSp>
        <p:nvGrpSpPr>
          <p:cNvPr id="52" name="Google Shape;52;p7"/>
          <p:cNvGrpSpPr/>
          <p:nvPr/>
        </p:nvGrpSpPr>
        <p:grpSpPr>
          <a:xfrm>
            <a:off x="9562416" y="10812549"/>
            <a:ext cx="769620" cy="507365"/>
            <a:chOff x="9589630" y="10785335"/>
            <a:chExt cx="769620" cy="507365"/>
          </a:xfrm>
        </p:grpSpPr>
        <p:sp>
          <p:nvSpPr>
            <p:cNvPr id="53" name="Google Shape;53;p7"/>
            <p:cNvSpPr/>
            <p:nvPr/>
          </p:nvSpPr>
          <p:spPr>
            <a:xfrm>
              <a:off x="9589630" y="10785335"/>
              <a:ext cx="769620" cy="507365"/>
            </a:xfrm>
            <a:custGeom>
              <a:rect b="b" l="l" r="r" t="t"/>
              <a:pathLst>
                <a:path extrusionOk="0" h="507365" w="769620">
                  <a:moveTo>
                    <a:pt x="769493" y="0"/>
                  </a:moveTo>
                  <a:lnTo>
                    <a:pt x="0" y="0"/>
                  </a:lnTo>
                  <a:lnTo>
                    <a:pt x="0" y="253631"/>
                  </a:lnTo>
                  <a:lnTo>
                    <a:pt x="0" y="507276"/>
                  </a:lnTo>
                  <a:lnTo>
                    <a:pt x="769493" y="507276"/>
                  </a:lnTo>
                  <a:lnTo>
                    <a:pt x="769493" y="253631"/>
                  </a:lnTo>
                  <a:lnTo>
                    <a:pt x="769493" y="0"/>
                  </a:lnTo>
                  <a:close/>
                </a:path>
              </a:pathLst>
            </a:custGeom>
            <a:solidFill>
              <a:srgbClr val="E4EC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 name="Google Shape;54;p7"/>
            <p:cNvSpPr/>
            <p:nvPr/>
          </p:nvSpPr>
          <p:spPr>
            <a:xfrm>
              <a:off x="9639984" y="10880952"/>
              <a:ext cx="460375" cy="78105"/>
            </a:xfrm>
            <a:custGeom>
              <a:rect b="b" l="l" r="r" t="t"/>
              <a:pathLst>
                <a:path extrusionOk="0" h="78104" w="460375">
                  <a:moveTo>
                    <a:pt x="435507" y="0"/>
                  </a:moveTo>
                  <a:lnTo>
                    <a:pt x="434374" y="3161"/>
                  </a:lnTo>
                  <a:lnTo>
                    <a:pt x="440816" y="5249"/>
                  </a:lnTo>
                  <a:lnTo>
                    <a:pt x="445528" y="9365"/>
                  </a:lnTo>
                  <a:lnTo>
                    <a:pt x="451613" y="21533"/>
                  </a:lnTo>
                  <a:lnTo>
                    <a:pt x="453164" y="29169"/>
                  </a:lnTo>
                  <a:lnTo>
                    <a:pt x="453164" y="47958"/>
                  </a:lnTo>
                  <a:lnTo>
                    <a:pt x="434493" y="74443"/>
                  </a:lnTo>
                  <a:lnTo>
                    <a:pt x="435507" y="77605"/>
                  </a:lnTo>
                  <a:lnTo>
                    <a:pt x="459860" y="45944"/>
                  </a:lnTo>
                  <a:lnTo>
                    <a:pt x="460262" y="38832"/>
                  </a:lnTo>
                  <a:lnTo>
                    <a:pt x="459859" y="31719"/>
                  </a:lnTo>
                  <a:lnTo>
                    <a:pt x="443441" y="2087"/>
                  </a:lnTo>
                  <a:lnTo>
                    <a:pt x="435507" y="0"/>
                  </a:lnTo>
                  <a:close/>
                </a:path>
                <a:path extrusionOk="0" h="78104" w="460375">
                  <a:moveTo>
                    <a:pt x="24695" y="0"/>
                  </a:moveTo>
                  <a:lnTo>
                    <a:pt x="393" y="31719"/>
                  </a:lnTo>
                  <a:lnTo>
                    <a:pt x="0" y="38832"/>
                  </a:lnTo>
                  <a:lnTo>
                    <a:pt x="393" y="45944"/>
                  </a:lnTo>
                  <a:lnTo>
                    <a:pt x="24695" y="77605"/>
                  </a:lnTo>
                  <a:lnTo>
                    <a:pt x="25709" y="74443"/>
                  </a:lnTo>
                  <a:lnTo>
                    <a:pt x="19386" y="72355"/>
                  </a:lnTo>
                  <a:lnTo>
                    <a:pt x="14733" y="68180"/>
                  </a:lnTo>
                  <a:lnTo>
                    <a:pt x="11631" y="61976"/>
                  </a:lnTo>
                  <a:lnTo>
                    <a:pt x="8589" y="55832"/>
                  </a:lnTo>
                  <a:lnTo>
                    <a:pt x="7038" y="47958"/>
                  </a:lnTo>
                  <a:lnTo>
                    <a:pt x="7038" y="29169"/>
                  </a:lnTo>
                  <a:lnTo>
                    <a:pt x="25828" y="3161"/>
                  </a:lnTo>
                  <a:lnTo>
                    <a:pt x="24695" y="0"/>
                  </a:lnTo>
                  <a:close/>
                </a:path>
              </a:pathLst>
            </a:custGeom>
            <a:solidFill>
              <a:srgbClr val="2E4D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aphicFrame>
        <p:nvGraphicFramePr>
          <p:cNvPr id="55" name="Google Shape;55;p7"/>
          <p:cNvGraphicFramePr/>
          <p:nvPr/>
        </p:nvGraphicFramePr>
        <p:xfrm>
          <a:off x="9562425" y="10805835"/>
          <a:ext cx="3000000" cy="3000000"/>
        </p:xfrm>
        <a:graphic>
          <a:graphicData uri="http://schemas.openxmlformats.org/drawingml/2006/table">
            <a:tbl>
              <a:tblPr bandRow="1" firstRow="1">
                <a:noFill/>
                <a:tableStyleId>{80947832-A820-4495-9823-9954234973CC}</a:tableStyleId>
              </a:tblPr>
              <a:tblGrid>
                <a:gridCol w="769625"/>
                <a:gridCol w="194300"/>
                <a:gridCol w="274950"/>
                <a:gridCol w="327025"/>
                <a:gridCol w="280675"/>
              </a:tblGrid>
              <a:tr h="253375">
                <a:tc rowSpan="2">
                  <a:txBody>
                    <a:bodyPr/>
                    <a:lstStyle/>
                    <a:p>
                      <a:pPr indent="0" lvl="0" marL="78105" marR="0" rtl="0" algn="l">
                        <a:lnSpc>
                          <a:spcPct val="100000"/>
                        </a:lnSpc>
                        <a:spcBef>
                          <a:spcPts val="0"/>
                        </a:spcBef>
                        <a:spcAft>
                          <a:spcPts val="0"/>
                        </a:spcAft>
                        <a:buNone/>
                      </a:pPr>
                      <a:r>
                        <a:rPr lang="en-US" sz="650" u="none" cap="none" strike="noStrike">
                          <a:solidFill>
                            <a:srgbClr val="2E4D5D"/>
                          </a:solidFill>
                          <a:latin typeface="Cambria Math"/>
                          <a:ea typeface="Cambria Math"/>
                          <a:cs typeface="Cambria Math"/>
                          <a:sym typeface="Cambria Math"/>
                        </a:rPr>
                        <a:t>𝑧</a:t>
                      </a:r>
                      <a:r>
                        <a:rPr baseline="-25000" lang="en-US" sz="675" u="none" cap="none" strike="noStrike">
                          <a:solidFill>
                            <a:srgbClr val="2E4D5D"/>
                          </a:solidFill>
                          <a:latin typeface="Cambria Math"/>
                          <a:ea typeface="Cambria Math"/>
                          <a:cs typeface="Cambria Math"/>
                          <a:sym typeface="Cambria Math"/>
                        </a:rPr>
                        <a:t>mes </a:t>
                      </a:r>
                      <a:r>
                        <a:rPr lang="en-US" sz="650" u="none" cap="none" strike="noStrike">
                          <a:solidFill>
                            <a:srgbClr val="2E4D5D"/>
                          </a:solidFill>
                          <a:latin typeface="Cambria Math"/>
                          <a:ea typeface="Cambria Math"/>
                          <a:cs typeface="Cambria Math"/>
                          <a:sym typeface="Cambria Math"/>
                        </a:rPr>
                        <a:t>− 𝑧</a:t>
                      </a:r>
                      <a:r>
                        <a:rPr baseline="-25000" lang="en-US" sz="675" u="none" cap="none" strike="noStrike">
                          <a:solidFill>
                            <a:srgbClr val="2E4D5D"/>
                          </a:solidFill>
                          <a:latin typeface="Cambria Math"/>
                          <a:ea typeface="Cambria Math"/>
                          <a:cs typeface="Cambria Math"/>
                          <a:sym typeface="Cambria Math"/>
                        </a:rPr>
                        <a:t>des  </a:t>
                      </a:r>
                      <a:r>
                        <a:rPr lang="en-US" sz="650" u="none" cap="none" strike="noStrike">
                          <a:solidFill>
                            <a:srgbClr val="2E4D5D"/>
                          </a:solidFill>
                          <a:latin typeface="Arial"/>
                          <a:ea typeface="Arial"/>
                          <a:cs typeface="Arial"/>
                          <a:sym typeface="Arial"/>
                        </a:rPr>
                        <a:t>[mm]</a:t>
                      </a:r>
                      <a:endParaRPr sz="650" u="none" cap="none" strike="noStrike">
                        <a:latin typeface="Arial"/>
                        <a:ea typeface="Arial"/>
                        <a:cs typeface="Arial"/>
                        <a:sym typeface="Arial"/>
                      </a:endParaRPr>
                    </a:p>
                    <a:p>
                      <a:pPr indent="0" lvl="0" marL="0" marR="0" rtl="0" algn="l">
                        <a:lnSpc>
                          <a:spcPct val="100000"/>
                        </a:lnSpc>
                        <a:spcBef>
                          <a:spcPts val="560"/>
                        </a:spcBef>
                        <a:spcAft>
                          <a:spcPts val="0"/>
                        </a:spcAft>
                        <a:buNone/>
                      </a:pPr>
                      <a:r>
                        <a:t/>
                      </a:r>
                      <a:endParaRPr sz="650" u="none" cap="none" strike="noStrike">
                        <a:latin typeface="Times New Roman"/>
                        <a:ea typeface="Times New Roman"/>
                        <a:cs typeface="Times New Roman"/>
                        <a:sym typeface="Times New Roman"/>
                      </a:endParaRPr>
                    </a:p>
                    <a:p>
                      <a:pPr indent="0" lvl="0" marL="43180" marR="0" rtl="0" algn="l">
                        <a:lnSpc>
                          <a:spcPct val="100000"/>
                        </a:lnSpc>
                        <a:spcBef>
                          <a:spcPts val="0"/>
                        </a:spcBef>
                        <a:spcAft>
                          <a:spcPts val="0"/>
                        </a:spcAft>
                        <a:buNone/>
                      </a:pPr>
                      <a:r>
                        <a:rPr baseline="30000" lang="en-US" sz="975" u="none" cap="none" strike="noStrike">
                          <a:solidFill>
                            <a:srgbClr val="2E4D5D"/>
                          </a:solidFill>
                          <a:latin typeface="Cambria Math"/>
                          <a:ea typeface="Cambria Math"/>
                          <a:cs typeface="Cambria Math"/>
                          <a:sym typeface="Cambria Math"/>
                        </a:rPr>
                        <a:t>𝑣</a:t>
                      </a:r>
                      <a:r>
                        <a:rPr lang="en-US" sz="450" u="none" cap="none" strike="noStrike">
                          <a:solidFill>
                            <a:srgbClr val="2E4D5D"/>
                          </a:solidFill>
                          <a:latin typeface="Cambria Math"/>
                          <a:ea typeface="Cambria Math"/>
                          <a:cs typeface="Cambria Math"/>
                          <a:sym typeface="Cambria Math"/>
                        </a:rPr>
                        <a:t>progress </a:t>
                      </a:r>
                      <a:r>
                        <a:rPr baseline="30000" lang="en-US" sz="975" u="none" cap="none" strike="noStrike">
                          <a:solidFill>
                            <a:srgbClr val="2E4D5D"/>
                          </a:solidFill>
                          <a:latin typeface="Arial"/>
                          <a:ea typeface="Arial"/>
                          <a:cs typeface="Arial"/>
                          <a:sym typeface="Arial"/>
                        </a:rPr>
                        <a:t>[mm/s]</a:t>
                      </a:r>
                      <a:endParaRPr baseline="30000" sz="975" u="none" cap="none" strike="noStrike">
                        <a:latin typeface="Arial"/>
                        <a:ea typeface="Arial"/>
                        <a:cs typeface="Arial"/>
                        <a:sym typeface="Arial"/>
                      </a:endParaRPr>
                    </a:p>
                  </a:txBody>
                  <a:tcPr marT="75575" marB="0" marR="0" marL="0">
                    <a:lnT cap="flat" cmpd="sng" w="19050">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tcPr>
                </a:tc>
                <a:tc>
                  <a:txBody>
                    <a:bodyPr/>
                    <a:lstStyle/>
                    <a:p>
                      <a:pPr indent="0" lvl="0" marL="0" marR="381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&lt;2</a:t>
                      </a:r>
                      <a:endParaRPr sz="650" u="none" cap="none" strike="noStrike">
                        <a:latin typeface="Arial"/>
                        <a:ea typeface="Arial"/>
                        <a:cs typeface="Arial"/>
                        <a:sym typeface="Arial"/>
                      </a:endParaRPr>
                    </a:p>
                  </a:txBody>
                  <a:tcPr marT="75575" marB="0" marR="0" marL="0">
                    <a:lnT cap="flat" cmpd="sng" w="19050">
                      <a:solidFill>
                        <a:srgbClr val="17252D"/>
                      </a:solidFill>
                      <a:prstDash val="solid"/>
                      <a:round/>
                      <a:headEnd len="sm" w="sm" type="none"/>
                      <a:tailEnd len="sm" w="sm" type="none"/>
                    </a:lnT>
                    <a:lnB cap="flat" cmpd="sng" w="9525">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]2;5]</a:t>
                      </a:r>
                      <a:endParaRPr sz="650" u="none" cap="none" strike="noStrike">
                        <a:latin typeface="Arial"/>
                        <a:ea typeface="Arial"/>
                        <a:cs typeface="Arial"/>
                        <a:sym typeface="Arial"/>
                      </a:endParaRPr>
                    </a:p>
                  </a:txBody>
                  <a:tcPr marT="75575" marB="0" marR="0" marL="0">
                    <a:lnT cap="flat" cmpd="sng" w="19050">
                      <a:solidFill>
                        <a:srgbClr val="17252D"/>
                      </a:solidFill>
                      <a:prstDash val="solid"/>
                      <a:round/>
                      <a:headEnd len="sm" w="sm" type="none"/>
                      <a:tailEnd len="sm" w="sm" type="none"/>
                    </a:lnT>
                    <a:lnB cap="flat" cmpd="sng" w="9525">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]5;10]</a:t>
                      </a:r>
                      <a:endParaRPr sz="650" u="none" cap="none" strike="noStrike">
                        <a:latin typeface="Arial"/>
                        <a:ea typeface="Arial"/>
                        <a:cs typeface="Arial"/>
                        <a:sym typeface="Arial"/>
                      </a:endParaRPr>
                    </a:p>
                  </a:txBody>
                  <a:tcPr marT="75575" marB="0" marR="0" marL="0">
                    <a:lnT cap="flat" cmpd="sng" w="19050">
                      <a:solidFill>
                        <a:srgbClr val="17252D"/>
                      </a:solidFill>
                      <a:prstDash val="solid"/>
                      <a:round/>
                      <a:headEnd len="sm" w="sm" type="none"/>
                      <a:tailEnd len="sm" w="sm" type="none"/>
                    </a:lnT>
                    <a:lnB cap="flat" cmpd="sng" w="9525">
                      <a:solidFill>
                        <a:srgbClr val="17252D"/>
                      </a:solidFill>
                      <a:prstDash val="solid"/>
                      <a:round/>
                      <a:headEnd len="sm" w="sm" type="none"/>
                      <a:tailEnd len="sm" w="sm" type="none"/>
                    </a:lnB>
                    <a:solidFill>
                      <a:srgbClr val="E4ECF4"/>
                    </a:solidFill>
                  </a:tcPr>
                </a:tc>
                <a:tc>
                  <a:txBody>
                    <a:bodyPr/>
                    <a:lstStyle/>
                    <a:p>
                      <a:pPr indent="0" lvl="0" marL="0" marR="8255"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&gt;10</a:t>
                      </a:r>
                      <a:endParaRPr sz="650" u="none" cap="none" strike="noStrike">
                        <a:latin typeface="Arial"/>
                        <a:ea typeface="Arial"/>
                        <a:cs typeface="Arial"/>
                        <a:sym typeface="Arial"/>
                      </a:endParaRPr>
                    </a:p>
                  </a:txBody>
                  <a:tcPr marT="75575" marB="0" marR="0" marL="0">
                    <a:lnT cap="flat" cmpd="sng" w="19050">
                      <a:solidFill>
                        <a:srgbClr val="17252D"/>
                      </a:solidFill>
                      <a:prstDash val="solid"/>
                      <a:round/>
                      <a:headEnd len="sm" w="sm" type="none"/>
                      <a:tailEnd len="sm" w="sm" type="none"/>
                    </a:lnT>
                    <a:lnB cap="flat" cmpd="sng" w="9525">
                      <a:solidFill>
                        <a:srgbClr val="17252D"/>
                      </a:solidFill>
                      <a:prstDash val="solid"/>
                      <a:round/>
                      <a:headEnd len="sm" w="sm" type="none"/>
                      <a:tailEnd len="sm" w="sm" type="none"/>
                    </a:lnB>
                    <a:solidFill>
                      <a:srgbClr val="E4ECF4"/>
                    </a:solidFill>
                  </a:tcPr>
                </a:tc>
              </a:tr>
              <a:tr h="253375">
                <a:tc vMerge="1"/>
                <a:tc>
                  <a:txBody>
                    <a:bodyPr/>
                    <a:lstStyle/>
                    <a:p>
                      <a:pPr indent="0" lvl="0" marL="0" marR="381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5</a:t>
                      </a:r>
                      <a:endParaRPr sz="650" u="none" cap="none" strike="noStrike">
                        <a:latin typeface="Arial"/>
                        <a:ea typeface="Arial"/>
                        <a:cs typeface="Arial"/>
                        <a:sym typeface="Arial"/>
                      </a:endParaRPr>
                    </a:p>
                  </a:txBody>
                  <a:tcPr marT="7492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635"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10</a:t>
                      </a:r>
                      <a:endParaRPr sz="650" u="none" cap="none" strike="noStrike">
                        <a:latin typeface="Arial"/>
                        <a:ea typeface="Arial"/>
                        <a:cs typeface="Arial"/>
                        <a:sym typeface="Arial"/>
                      </a:endParaRPr>
                    </a:p>
                  </a:txBody>
                  <a:tcPr marT="7492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20</a:t>
                      </a:r>
                      <a:endParaRPr sz="650" u="none" cap="none" strike="noStrike">
                        <a:latin typeface="Arial"/>
                        <a:ea typeface="Arial"/>
                        <a:cs typeface="Arial"/>
                        <a:sym typeface="Arial"/>
                      </a:endParaRPr>
                    </a:p>
                  </a:txBody>
                  <a:tcPr marT="7492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0" marR="8255"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30</a:t>
                      </a:r>
                      <a:endParaRPr sz="650" u="none" cap="none" strike="noStrike">
                        <a:latin typeface="Arial"/>
                        <a:ea typeface="Arial"/>
                        <a:cs typeface="Arial"/>
                        <a:sym typeface="Arial"/>
                      </a:endParaRPr>
                    </a:p>
                  </a:txBody>
                  <a:tcPr marT="7492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r>
            </a:tbl>
          </a:graphicData>
        </a:graphic>
      </p:graphicFrame>
      <p:graphicFrame>
        <p:nvGraphicFramePr>
          <p:cNvPr id="56" name="Google Shape;56;p7"/>
          <p:cNvGraphicFramePr/>
          <p:nvPr/>
        </p:nvGraphicFramePr>
        <p:xfrm>
          <a:off x="11540731" y="10714332"/>
          <a:ext cx="3000000" cy="3000000"/>
        </p:xfrm>
        <a:graphic>
          <a:graphicData uri="http://schemas.openxmlformats.org/drawingml/2006/table">
            <a:tbl>
              <a:tblPr bandRow="1" firstRow="1">
                <a:noFill/>
                <a:tableStyleId>{80947832-A820-4495-9823-9954234973CC}</a:tableStyleId>
              </a:tblPr>
              <a:tblGrid>
                <a:gridCol w="802000"/>
                <a:gridCol w="422275"/>
                <a:gridCol w="370850"/>
                <a:gridCol w="439425"/>
              </a:tblGrid>
              <a:tr h="219700">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Velocity [mm/s]</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0" marR="4445"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5</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17145"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30</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29209"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Adaptive</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r>
              <a:tr h="221625">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Obtained PE [mm]</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0" marR="381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5.03</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17145"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9.19</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29209"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5.66</a:t>
                      </a:r>
                      <a:endParaRPr sz="650" u="none" cap="none" strike="noStrike">
                        <a:latin typeface="Arial"/>
                        <a:ea typeface="Arial"/>
                        <a:cs typeface="Arial"/>
                        <a:sym typeface="Arial"/>
                      </a:endParaRPr>
                    </a:p>
                  </a:txBody>
                  <a:tcPr marT="58425" marB="0" marR="0" marL="0">
                    <a:lnT cap="flat" cmpd="sng" w="19050">
                      <a:solidFill>
                        <a:srgbClr val="17252D"/>
                      </a:solidFill>
                      <a:prstDash val="solid"/>
                      <a:round/>
                      <a:headEnd len="sm" w="sm" type="none"/>
                      <a:tailEnd len="sm" w="sm" type="none"/>
                    </a:lnT>
                    <a:solidFill>
                      <a:srgbClr val="E4ECF4"/>
                    </a:solidFill>
                  </a:tcPr>
                </a:tc>
              </a:tr>
              <a:tr h="217175">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Execution time [s]</a:t>
                      </a:r>
                      <a:endParaRPr sz="650" u="none" cap="none" strike="noStrike">
                        <a:latin typeface="Arial"/>
                        <a:ea typeface="Arial"/>
                        <a:cs typeface="Arial"/>
                        <a:sym typeface="Arial"/>
                      </a:endParaRPr>
                    </a:p>
                  </a:txBody>
                  <a:tcPr marT="558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0" marR="381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254.63</a:t>
                      </a:r>
                      <a:endParaRPr sz="650" u="none" cap="none" strike="noStrike">
                        <a:latin typeface="Arial"/>
                        <a:ea typeface="Arial"/>
                        <a:cs typeface="Arial"/>
                        <a:sym typeface="Arial"/>
                      </a:endParaRPr>
                    </a:p>
                  </a:txBody>
                  <a:tcPr marT="558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1651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89.93</a:t>
                      </a:r>
                      <a:endParaRPr sz="650" u="none" cap="none" strike="noStrike">
                        <a:latin typeface="Arial"/>
                        <a:ea typeface="Arial"/>
                        <a:cs typeface="Arial"/>
                        <a:sym typeface="Arial"/>
                      </a:endParaRPr>
                    </a:p>
                  </a:txBody>
                  <a:tcPr marT="558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28575"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200.8</a:t>
                      </a:r>
                      <a:endParaRPr sz="650" u="none" cap="none" strike="noStrike">
                        <a:latin typeface="Arial"/>
                        <a:ea typeface="Arial"/>
                        <a:cs typeface="Arial"/>
                        <a:sym typeface="Arial"/>
                      </a:endParaRPr>
                    </a:p>
                  </a:txBody>
                  <a:tcPr marT="55875" marB="0" marR="0" marL="0">
                    <a:lnB cap="flat" cmpd="sng" w="19050">
                      <a:solidFill>
                        <a:srgbClr val="17252D"/>
                      </a:solidFill>
                      <a:prstDash val="solid"/>
                      <a:round/>
                      <a:headEnd len="sm" w="sm" type="none"/>
                      <a:tailEnd len="sm" w="sm" type="none"/>
                    </a:lnB>
                    <a:solidFill>
                      <a:srgbClr val="E4ECF4"/>
                    </a:solidFill>
                  </a:tcPr>
                </a:tc>
              </a:tr>
            </a:tbl>
          </a:graphicData>
        </a:graphic>
      </p:graphicFrame>
      <p:sp>
        <p:nvSpPr>
          <p:cNvPr id="57" name="Google Shape;57;p7"/>
          <p:cNvSpPr/>
          <p:nvPr/>
        </p:nvSpPr>
        <p:spPr>
          <a:xfrm>
            <a:off x="-27436" y="-24250"/>
            <a:ext cx="14278800" cy="1783800"/>
          </a:xfrm>
          <a:prstGeom prst="rect">
            <a:avLst/>
          </a:prstGeom>
          <a:solidFill>
            <a:srgbClr val="1025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Calibri"/>
              <a:ea typeface="Calibri"/>
              <a:cs typeface="Calibri"/>
              <a:sym typeface="Calibri"/>
            </a:endParaRPr>
          </a:p>
        </p:txBody>
      </p:sp>
      <p:grpSp>
        <p:nvGrpSpPr>
          <p:cNvPr id="58" name="Google Shape;58;p7"/>
          <p:cNvGrpSpPr/>
          <p:nvPr/>
        </p:nvGrpSpPr>
        <p:grpSpPr>
          <a:xfrm>
            <a:off x="5082231" y="8183669"/>
            <a:ext cx="4237355" cy="5246713"/>
            <a:chOff x="5082215" y="8719877"/>
            <a:chExt cx="4237355" cy="4711065"/>
          </a:xfrm>
        </p:grpSpPr>
        <p:sp>
          <p:nvSpPr>
            <p:cNvPr id="59" name="Google Shape;59;p7"/>
            <p:cNvSpPr/>
            <p:nvPr/>
          </p:nvSpPr>
          <p:spPr>
            <a:xfrm>
              <a:off x="5082215" y="8719877"/>
              <a:ext cx="4237355" cy="4711065"/>
            </a:xfrm>
            <a:custGeom>
              <a:rect b="b" l="l" r="r" t="t"/>
              <a:pathLst>
                <a:path extrusionOk="0" h="4711065" w="4237355">
                  <a:moveTo>
                    <a:pt x="3530946" y="0"/>
                  </a:moveTo>
                  <a:lnTo>
                    <a:pt x="706201" y="0"/>
                  </a:lnTo>
                  <a:lnTo>
                    <a:pt x="657853" y="1629"/>
                  </a:lnTo>
                  <a:lnTo>
                    <a:pt x="610380" y="6446"/>
                  </a:lnTo>
                  <a:lnTo>
                    <a:pt x="563885" y="14346"/>
                  </a:lnTo>
                  <a:lnTo>
                    <a:pt x="518475" y="25224"/>
                  </a:lnTo>
                  <a:lnTo>
                    <a:pt x="474254" y="38974"/>
                  </a:lnTo>
                  <a:lnTo>
                    <a:pt x="431328" y="55492"/>
                  </a:lnTo>
                  <a:lnTo>
                    <a:pt x="389802" y="74672"/>
                  </a:lnTo>
                  <a:lnTo>
                    <a:pt x="349781" y="96410"/>
                  </a:lnTo>
                  <a:lnTo>
                    <a:pt x="311370" y="120600"/>
                  </a:lnTo>
                  <a:lnTo>
                    <a:pt x="274675" y="147136"/>
                  </a:lnTo>
                  <a:lnTo>
                    <a:pt x="239801" y="175915"/>
                  </a:lnTo>
                  <a:lnTo>
                    <a:pt x="206852" y="206830"/>
                  </a:lnTo>
                  <a:lnTo>
                    <a:pt x="175935" y="239776"/>
                  </a:lnTo>
                  <a:lnTo>
                    <a:pt x="147154" y="274650"/>
                  </a:lnTo>
                  <a:lnTo>
                    <a:pt x="120615" y="311344"/>
                  </a:lnTo>
                  <a:lnTo>
                    <a:pt x="96423" y="349754"/>
                  </a:lnTo>
                  <a:lnTo>
                    <a:pt x="74683" y="389776"/>
                  </a:lnTo>
                  <a:lnTo>
                    <a:pt x="55500" y="431303"/>
                  </a:lnTo>
                  <a:lnTo>
                    <a:pt x="38980" y="474231"/>
                  </a:lnTo>
                  <a:lnTo>
                    <a:pt x="25228" y="518454"/>
                  </a:lnTo>
                  <a:lnTo>
                    <a:pt x="14348" y="563868"/>
                  </a:lnTo>
                  <a:lnTo>
                    <a:pt x="6447" y="610367"/>
                  </a:lnTo>
                  <a:lnTo>
                    <a:pt x="1629" y="657846"/>
                  </a:lnTo>
                  <a:lnTo>
                    <a:pt x="0" y="706201"/>
                  </a:lnTo>
                  <a:lnTo>
                    <a:pt x="0" y="4004750"/>
                  </a:lnTo>
                  <a:lnTo>
                    <a:pt x="1629" y="4053097"/>
                  </a:lnTo>
                  <a:lnTo>
                    <a:pt x="6447" y="4100571"/>
                  </a:lnTo>
                  <a:lnTo>
                    <a:pt x="14348" y="4147065"/>
                  </a:lnTo>
                  <a:lnTo>
                    <a:pt x="25228" y="4192476"/>
                  </a:lnTo>
                  <a:lnTo>
                    <a:pt x="38980" y="4236696"/>
                  </a:lnTo>
                  <a:lnTo>
                    <a:pt x="55500" y="4279622"/>
                  </a:lnTo>
                  <a:lnTo>
                    <a:pt x="74683" y="4321149"/>
                  </a:lnTo>
                  <a:lnTo>
                    <a:pt x="96423" y="4361170"/>
                  </a:lnTo>
                  <a:lnTo>
                    <a:pt x="120615" y="4399580"/>
                  </a:lnTo>
                  <a:lnTo>
                    <a:pt x="147154" y="4436275"/>
                  </a:lnTo>
                  <a:lnTo>
                    <a:pt x="175935" y="4471150"/>
                  </a:lnTo>
                  <a:lnTo>
                    <a:pt x="206852" y="4504098"/>
                  </a:lnTo>
                  <a:lnTo>
                    <a:pt x="239801" y="4535015"/>
                  </a:lnTo>
                  <a:lnTo>
                    <a:pt x="274675" y="4563796"/>
                  </a:lnTo>
                  <a:lnTo>
                    <a:pt x="311370" y="4590335"/>
                  </a:lnTo>
                  <a:lnTo>
                    <a:pt x="349781" y="4614527"/>
                  </a:lnTo>
                  <a:lnTo>
                    <a:pt x="389802" y="4636267"/>
                  </a:lnTo>
                  <a:lnTo>
                    <a:pt x="431328" y="4655450"/>
                  </a:lnTo>
                  <a:lnTo>
                    <a:pt x="474254" y="4671970"/>
                  </a:lnTo>
                  <a:lnTo>
                    <a:pt x="518475" y="4685723"/>
                  </a:lnTo>
                  <a:lnTo>
                    <a:pt x="563885" y="4696602"/>
                  </a:lnTo>
                  <a:lnTo>
                    <a:pt x="610380" y="4704504"/>
                  </a:lnTo>
                  <a:lnTo>
                    <a:pt x="657853" y="4709321"/>
                  </a:lnTo>
                  <a:lnTo>
                    <a:pt x="706201" y="4710951"/>
                  </a:lnTo>
                  <a:lnTo>
                    <a:pt x="3530946" y="4710951"/>
                  </a:lnTo>
                  <a:lnTo>
                    <a:pt x="3579301" y="4709321"/>
                  </a:lnTo>
                  <a:lnTo>
                    <a:pt x="3626781" y="4704504"/>
                  </a:lnTo>
                  <a:lnTo>
                    <a:pt x="3673282" y="4696602"/>
                  </a:lnTo>
                  <a:lnTo>
                    <a:pt x="3718697" y="4685723"/>
                  </a:lnTo>
                  <a:lnTo>
                    <a:pt x="3762923" y="4671970"/>
                  </a:lnTo>
                  <a:lnTo>
                    <a:pt x="3805854" y="4655450"/>
                  </a:lnTo>
                  <a:lnTo>
                    <a:pt x="3847384" y="4636267"/>
                  </a:lnTo>
                  <a:lnTo>
                    <a:pt x="3887408" y="4614527"/>
                  </a:lnTo>
                  <a:lnTo>
                    <a:pt x="3925822" y="4590335"/>
                  </a:lnTo>
                  <a:lnTo>
                    <a:pt x="3962520" y="4563796"/>
                  </a:lnTo>
                  <a:lnTo>
                    <a:pt x="3997397" y="4535015"/>
                  </a:lnTo>
                  <a:lnTo>
                    <a:pt x="4030347" y="4504098"/>
                  </a:lnTo>
                  <a:lnTo>
                    <a:pt x="4061266" y="4471150"/>
                  </a:lnTo>
                  <a:lnTo>
                    <a:pt x="4090048" y="4436275"/>
                  </a:lnTo>
                  <a:lnTo>
                    <a:pt x="4116588" y="4399580"/>
                  </a:lnTo>
                  <a:lnTo>
                    <a:pt x="4140781" y="4361170"/>
                  </a:lnTo>
                  <a:lnTo>
                    <a:pt x="4162522" y="4321149"/>
                  </a:lnTo>
                  <a:lnTo>
                    <a:pt x="4181705" y="4279622"/>
                  </a:lnTo>
                  <a:lnTo>
                    <a:pt x="4198226" y="4236696"/>
                  </a:lnTo>
                  <a:lnTo>
                    <a:pt x="4211979" y="4192476"/>
                  </a:lnTo>
                  <a:lnTo>
                    <a:pt x="4222858" y="4147065"/>
                  </a:lnTo>
                  <a:lnTo>
                    <a:pt x="4230760" y="4100571"/>
                  </a:lnTo>
                  <a:lnTo>
                    <a:pt x="4235578" y="4053097"/>
                  </a:lnTo>
                  <a:lnTo>
                    <a:pt x="4237207" y="4004750"/>
                  </a:lnTo>
                  <a:lnTo>
                    <a:pt x="4237207" y="706201"/>
                  </a:lnTo>
                  <a:lnTo>
                    <a:pt x="4235578" y="657846"/>
                  </a:lnTo>
                  <a:lnTo>
                    <a:pt x="4230760" y="610367"/>
                  </a:lnTo>
                  <a:lnTo>
                    <a:pt x="4222858" y="563868"/>
                  </a:lnTo>
                  <a:lnTo>
                    <a:pt x="4211979" y="518454"/>
                  </a:lnTo>
                  <a:lnTo>
                    <a:pt x="4198226" y="474231"/>
                  </a:lnTo>
                  <a:lnTo>
                    <a:pt x="4181705" y="431303"/>
                  </a:lnTo>
                  <a:lnTo>
                    <a:pt x="4162522" y="389776"/>
                  </a:lnTo>
                  <a:lnTo>
                    <a:pt x="4140781" y="349754"/>
                  </a:lnTo>
                  <a:lnTo>
                    <a:pt x="4116588" y="311344"/>
                  </a:lnTo>
                  <a:lnTo>
                    <a:pt x="4090048" y="274650"/>
                  </a:lnTo>
                  <a:lnTo>
                    <a:pt x="4061266" y="239776"/>
                  </a:lnTo>
                  <a:lnTo>
                    <a:pt x="4030347" y="206830"/>
                  </a:lnTo>
                  <a:lnTo>
                    <a:pt x="3997397" y="175915"/>
                  </a:lnTo>
                  <a:lnTo>
                    <a:pt x="3962520" y="147136"/>
                  </a:lnTo>
                  <a:lnTo>
                    <a:pt x="3925822" y="120600"/>
                  </a:lnTo>
                  <a:lnTo>
                    <a:pt x="3887408" y="96410"/>
                  </a:lnTo>
                  <a:lnTo>
                    <a:pt x="3847384" y="74672"/>
                  </a:lnTo>
                  <a:lnTo>
                    <a:pt x="3805854" y="55492"/>
                  </a:lnTo>
                  <a:lnTo>
                    <a:pt x="3762923" y="38974"/>
                  </a:lnTo>
                  <a:lnTo>
                    <a:pt x="3718697" y="25224"/>
                  </a:lnTo>
                  <a:lnTo>
                    <a:pt x="3673282" y="14346"/>
                  </a:lnTo>
                  <a:lnTo>
                    <a:pt x="3626781" y="6446"/>
                  </a:lnTo>
                  <a:lnTo>
                    <a:pt x="3579301" y="1629"/>
                  </a:lnTo>
                  <a:lnTo>
                    <a:pt x="3530946"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 name="Google Shape;60;p7"/>
            <p:cNvSpPr/>
            <p:nvPr/>
          </p:nvSpPr>
          <p:spPr>
            <a:xfrm>
              <a:off x="5082215" y="8719877"/>
              <a:ext cx="4237355" cy="4711065"/>
            </a:xfrm>
            <a:custGeom>
              <a:rect b="b" l="l" r="r" t="t"/>
              <a:pathLst>
                <a:path extrusionOk="0" h="4711065" w="4237355">
                  <a:moveTo>
                    <a:pt x="0" y="706201"/>
                  </a:moveTo>
                  <a:lnTo>
                    <a:pt x="1629" y="657846"/>
                  </a:lnTo>
                  <a:lnTo>
                    <a:pt x="6447" y="610367"/>
                  </a:lnTo>
                  <a:lnTo>
                    <a:pt x="14348" y="563868"/>
                  </a:lnTo>
                  <a:lnTo>
                    <a:pt x="25228" y="518454"/>
                  </a:lnTo>
                  <a:lnTo>
                    <a:pt x="38980" y="474231"/>
                  </a:lnTo>
                  <a:lnTo>
                    <a:pt x="55500" y="431303"/>
                  </a:lnTo>
                  <a:lnTo>
                    <a:pt x="74683" y="389776"/>
                  </a:lnTo>
                  <a:lnTo>
                    <a:pt x="96423" y="349754"/>
                  </a:lnTo>
                  <a:lnTo>
                    <a:pt x="120615" y="311344"/>
                  </a:lnTo>
                  <a:lnTo>
                    <a:pt x="147154" y="274650"/>
                  </a:lnTo>
                  <a:lnTo>
                    <a:pt x="175935" y="239776"/>
                  </a:lnTo>
                  <a:lnTo>
                    <a:pt x="206852" y="206830"/>
                  </a:lnTo>
                  <a:lnTo>
                    <a:pt x="239801" y="175915"/>
                  </a:lnTo>
                  <a:lnTo>
                    <a:pt x="274675" y="147136"/>
                  </a:lnTo>
                  <a:lnTo>
                    <a:pt x="311370" y="120600"/>
                  </a:lnTo>
                  <a:lnTo>
                    <a:pt x="349781" y="96410"/>
                  </a:lnTo>
                  <a:lnTo>
                    <a:pt x="389802" y="74672"/>
                  </a:lnTo>
                  <a:lnTo>
                    <a:pt x="431328" y="55492"/>
                  </a:lnTo>
                  <a:lnTo>
                    <a:pt x="474254" y="38974"/>
                  </a:lnTo>
                  <a:lnTo>
                    <a:pt x="518475" y="25224"/>
                  </a:lnTo>
                  <a:lnTo>
                    <a:pt x="563885" y="14346"/>
                  </a:lnTo>
                  <a:lnTo>
                    <a:pt x="610380" y="6446"/>
                  </a:lnTo>
                  <a:lnTo>
                    <a:pt x="657853" y="1629"/>
                  </a:lnTo>
                  <a:lnTo>
                    <a:pt x="706201" y="0"/>
                  </a:lnTo>
                  <a:lnTo>
                    <a:pt x="3530946" y="0"/>
                  </a:lnTo>
                  <a:lnTo>
                    <a:pt x="3579301" y="1629"/>
                  </a:lnTo>
                  <a:lnTo>
                    <a:pt x="3626781" y="6446"/>
                  </a:lnTo>
                  <a:lnTo>
                    <a:pt x="3673282" y="14346"/>
                  </a:lnTo>
                  <a:lnTo>
                    <a:pt x="3718697" y="25224"/>
                  </a:lnTo>
                  <a:lnTo>
                    <a:pt x="3762923" y="38974"/>
                  </a:lnTo>
                  <a:lnTo>
                    <a:pt x="3805854" y="55492"/>
                  </a:lnTo>
                  <a:lnTo>
                    <a:pt x="3847384" y="74672"/>
                  </a:lnTo>
                  <a:lnTo>
                    <a:pt x="3887408" y="96410"/>
                  </a:lnTo>
                  <a:lnTo>
                    <a:pt x="3925822" y="120600"/>
                  </a:lnTo>
                  <a:lnTo>
                    <a:pt x="3962520" y="147136"/>
                  </a:lnTo>
                  <a:lnTo>
                    <a:pt x="3997397" y="175915"/>
                  </a:lnTo>
                  <a:lnTo>
                    <a:pt x="4030347" y="206830"/>
                  </a:lnTo>
                  <a:lnTo>
                    <a:pt x="4061266" y="239776"/>
                  </a:lnTo>
                  <a:lnTo>
                    <a:pt x="4090048" y="274650"/>
                  </a:lnTo>
                  <a:lnTo>
                    <a:pt x="4116588" y="311344"/>
                  </a:lnTo>
                  <a:lnTo>
                    <a:pt x="4140781" y="349754"/>
                  </a:lnTo>
                  <a:lnTo>
                    <a:pt x="4162522" y="389776"/>
                  </a:lnTo>
                  <a:lnTo>
                    <a:pt x="4181705" y="431303"/>
                  </a:lnTo>
                  <a:lnTo>
                    <a:pt x="4198226" y="474231"/>
                  </a:lnTo>
                  <a:lnTo>
                    <a:pt x="4211979" y="518454"/>
                  </a:lnTo>
                  <a:lnTo>
                    <a:pt x="4222858" y="563868"/>
                  </a:lnTo>
                  <a:lnTo>
                    <a:pt x="4230760" y="610367"/>
                  </a:lnTo>
                  <a:lnTo>
                    <a:pt x="4235578" y="657846"/>
                  </a:lnTo>
                  <a:lnTo>
                    <a:pt x="4237207" y="706201"/>
                  </a:lnTo>
                  <a:lnTo>
                    <a:pt x="4237207" y="4004750"/>
                  </a:lnTo>
                  <a:lnTo>
                    <a:pt x="4235578" y="4053097"/>
                  </a:lnTo>
                  <a:lnTo>
                    <a:pt x="4230760" y="4100571"/>
                  </a:lnTo>
                  <a:lnTo>
                    <a:pt x="4222858" y="4147065"/>
                  </a:lnTo>
                  <a:lnTo>
                    <a:pt x="4211979" y="4192476"/>
                  </a:lnTo>
                  <a:lnTo>
                    <a:pt x="4198226" y="4236696"/>
                  </a:lnTo>
                  <a:lnTo>
                    <a:pt x="4181705" y="4279622"/>
                  </a:lnTo>
                  <a:lnTo>
                    <a:pt x="4162522" y="4321149"/>
                  </a:lnTo>
                  <a:lnTo>
                    <a:pt x="4140781" y="4361170"/>
                  </a:lnTo>
                  <a:lnTo>
                    <a:pt x="4116588" y="4399580"/>
                  </a:lnTo>
                  <a:lnTo>
                    <a:pt x="4090048" y="4436275"/>
                  </a:lnTo>
                  <a:lnTo>
                    <a:pt x="4061266" y="4471150"/>
                  </a:lnTo>
                  <a:lnTo>
                    <a:pt x="4030347" y="4504098"/>
                  </a:lnTo>
                  <a:lnTo>
                    <a:pt x="3997397" y="4535015"/>
                  </a:lnTo>
                  <a:lnTo>
                    <a:pt x="3962520" y="4563796"/>
                  </a:lnTo>
                  <a:lnTo>
                    <a:pt x="3925822" y="4590335"/>
                  </a:lnTo>
                  <a:lnTo>
                    <a:pt x="3887408" y="4614527"/>
                  </a:lnTo>
                  <a:lnTo>
                    <a:pt x="3847384" y="4636267"/>
                  </a:lnTo>
                  <a:lnTo>
                    <a:pt x="3805854" y="4655450"/>
                  </a:lnTo>
                  <a:lnTo>
                    <a:pt x="3762923" y="4671970"/>
                  </a:lnTo>
                  <a:lnTo>
                    <a:pt x="3718697" y="4685723"/>
                  </a:lnTo>
                  <a:lnTo>
                    <a:pt x="3673282" y="4696602"/>
                  </a:lnTo>
                  <a:lnTo>
                    <a:pt x="3626781" y="4704504"/>
                  </a:lnTo>
                  <a:lnTo>
                    <a:pt x="3579301" y="4709321"/>
                  </a:lnTo>
                  <a:lnTo>
                    <a:pt x="3530946" y="4710951"/>
                  </a:lnTo>
                  <a:lnTo>
                    <a:pt x="706201" y="4710951"/>
                  </a:lnTo>
                  <a:lnTo>
                    <a:pt x="657853" y="4709321"/>
                  </a:lnTo>
                  <a:lnTo>
                    <a:pt x="610380" y="4704504"/>
                  </a:lnTo>
                  <a:lnTo>
                    <a:pt x="563885" y="4696602"/>
                  </a:lnTo>
                  <a:lnTo>
                    <a:pt x="518475" y="4685723"/>
                  </a:lnTo>
                  <a:lnTo>
                    <a:pt x="474254" y="4671970"/>
                  </a:lnTo>
                  <a:lnTo>
                    <a:pt x="431328" y="4655450"/>
                  </a:lnTo>
                  <a:lnTo>
                    <a:pt x="389802" y="4636267"/>
                  </a:lnTo>
                  <a:lnTo>
                    <a:pt x="349781" y="4614527"/>
                  </a:lnTo>
                  <a:lnTo>
                    <a:pt x="311370" y="4590335"/>
                  </a:lnTo>
                  <a:lnTo>
                    <a:pt x="274675" y="4563796"/>
                  </a:lnTo>
                  <a:lnTo>
                    <a:pt x="239801" y="4535015"/>
                  </a:lnTo>
                  <a:lnTo>
                    <a:pt x="206852" y="4504098"/>
                  </a:lnTo>
                  <a:lnTo>
                    <a:pt x="175935" y="4471150"/>
                  </a:lnTo>
                  <a:lnTo>
                    <a:pt x="147154" y="4436275"/>
                  </a:lnTo>
                  <a:lnTo>
                    <a:pt x="120615" y="4399580"/>
                  </a:lnTo>
                  <a:lnTo>
                    <a:pt x="96423" y="4361170"/>
                  </a:lnTo>
                  <a:lnTo>
                    <a:pt x="74683" y="4321149"/>
                  </a:lnTo>
                  <a:lnTo>
                    <a:pt x="55500" y="4279622"/>
                  </a:lnTo>
                  <a:lnTo>
                    <a:pt x="38980" y="4236696"/>
                  </a:lnTo>
                  <a:lnTo>
                    <a:pt x="25228" y="4192476"/>
                  </a:lnTo>
                  <a:lnTo>
                    <a:pt x="14348" y="4147065"/>
                  </a:lnTo>
                  <a:lnTo>
                    <a:pt x="6447" y="4100571"/>
                  </a:lnTo>
                  <a:lnTo>
                    <a:pt x="1629" y="4053097"/>
                  </a:lnTo>
                  <a:lnTo>
                    <a:pt x="0" y="4004750"/>
                  </a:lnTo>
                  <a:lnTo>
                    <a:pt x="0" y="706201"/>
                  </a:lnTo>
                  <a:close/>
                </a:path>
              </a:pathLst>
            </a:custGeom>
            <a:noFill/>
            <a:ln cap="flat" cmpd="sng" w="13400">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1" name="Google Shape;61;p7"/>
          <p:cNvSpPr txBox="1"/>
          <p:nvPr/>
        </p:nvSpPr>
        <p:spPr>
          <a:xfrm>
            <a:off x="5288442" y="9793903"/>
            <a:ext cx="2183100" cy="1222800"/>
          </a:xfrm>
          <a:prstGeom prst="rect">
            <a:avLst/>
          </a:prstGeom>
          <a:noFill/>
          <a:ln>
            <a:noFill/>
          </a:ln>
        </p:spPr>
        <p:txBody>
          <a:bodyPr anchorCtr="0" anchor="t" bIns="0" lIns="0" spcFirstLastPara="1" rIns="0" wrap="square" tIns="12050">
            <a:spAutoFit/>
          </a:bodyPr>
          <a:lstStyle/>
          <a:p>
            <a:pPr indent="-79375" lvl="0" marL="91440" marR="5080" rtl="0" algn="l">
              <a:lnSpc>
                <a:spcPct val="102499"/>
              </a:lnSpc>
              <a:spcBef>
                <a:spcPts val="0"/>
              </a:spcBef>
              <a:spcAft>
                <a:spcPts val="0"/>
              </a:spcAft>
              <a:buClr>
                <a:srgbClr val="2E4D5D"/>
              </a:buClr>
              <a:buSzPts val="1100"/>
              <a:buFont typeface="Arial"/>
              <a:buChar char="•"/>
            </a:pPr>
            <a:r>
              <a:rPr lang="en-US" sz="1100">
                <a:solidFill>
                  <a:srgbClr val="2E4D5D"/>
                </a:solidFill>
                <a:latin typeface="Arial"/>
                <a:ea typeface="Arial"/>
                <a:cs typeface="Arial"/>
                <a:sym typeface="Arial"/>
              </a:rPr>
              <a:t>Constraints to avoid 	</a:t>
            </a:r>
            <a:r>
              <a:rPr b="1" lang="en-US" sz="1100">
                <a:solidFill>
                  <a:srgbClr val="2E4D5D"/>
                </a:solidFill>
                <a:latin typeface="Arial"/>
                <a:ea typeface="Arial"/>
                <a:cs typeface="Arial"/>
                <a:sym typeface="Arial"/>
              </a:rPr>
              <a:t>undercutting </a:t>
            </a:r>
            <a:r>
              <a:rPr lang="en-US" sz="1100">
                <a:solidFill>
                  <a:srgbClr val="2E4D5D"/>
                </a:solidFill>
                <a:latin typeface="Arial"/>
                <a:ea typeface="Arial"/>
                <a:cs typeface="Arial"/>
                <a:sym typeface="Arial"/>
              </a:rPr>
              <a:t>and robot-material 	collisions.</a:t>
            </a:r>
            <a:endParaRPr sz="1100">
              <a:latin typeface="Arial"/>
              <a:ea typeface="Arial"/>
              <a:cs typeface="Arial"/>
              <a:sym typeface="Arial"/>
            </a:endParaRPr>
          </a:p>
          <a:p>
            <a:pPr indent="-79375" lvl="0" marL="91440" marR="147955" rtl="0" algn="l">
              <a:lnSpc>
                <a:spcPct val="102499"/>
              </a:lnSpc>
              <a:spcBef>
                <a:spcPts val="0"/>
              </a:spcBef>
              <a:spcAft>
                <a:spcPts val="0"/>
              </a:spcAft>
              <a:buClr>
                <a:srgbClr val="2E4D5D"/>
              </a:buClr>
              <a:buSzPts val="1100"/>
              <a:buFont typeface="Arial"/>
              <a:buChar char="•"/>
            </a:pPr>
            <a:r>
              <a:rPr b="1" lang="en-US" sz="1100">
                <a:solidFill>
                  <a:srgbClr val="2E4D5D"/>
                </a:solidFill>
                <a:latin typeface="Arial"/>
                <a:ea typeface="Arial"/>
                <a:cs typeface="Arial"/>
                <a:sym typeface="Arial"/>
              </a:rPr>
              <a:t>Skill</a:t>
            </a:r>
            <a:r>
              <a:rPr lang="en-US" sz="1100">
                <a:solidFill>
                  <a:srgbClr val="2E4D5D"/>
                </a:solidFill>
                <a:latin typeface="Arial"/>
                <a:ea typeface="Arial"/>
                <a:cs typeface="Arial"/>
                <a:sym typeface="Arial"/>
              </a:rPr>
              <a:t>-based behaviors defining 	cutting and smoothing angles 	depending on task progress.</a:t>
            </a:r>
            <a:endParaRPr sz="1100">
              <a:latin typeface="Arial"/>
              <a:ea typeface="Arial"/>
              <a:cs typeface="Arial"/>
              <a:sym typeface="Arial"/>
            </a:endParaRPr>
          </a:p>
        </p:txBody>
      </p:sp>
      <p:sp>
        <p:nvSpPr>
          <p:cNvPr id="62" name="Google Shape;62;p7"/>
          <p:cNvSpPr txBox="1"/>
          <p:nvPr/>
        </p:nvSpPr>
        <p:spPr>
          <a:xfrm>
            <a:off x="5280688" y="11123204"/>
            <a:ext cx="1913400" cy="7017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100" u="sng">
                <a:solidFill>
                  <a:srgbClr val="2E4D5D"/>
                </a:solidFill>
                <a:latin typeface="Arial"/>
                <a:ea typeface="Arial"/>
                <a:cs typeface="Arial"/>
                <a:sym typeface="Arial"/>
              </a:rPr>
              <a:t>Results:</a:t>
            </a:r>
            <a:endParaRPr sz="1100">
              <a:latin typeface="Arial"/>
              <a:ea typeface="Arial"/>
              <a:cs typeface="Arial"/>
              <a:sym typeface="Arial"/>
            </a:endParaRPr>
          </a:p>
          <a:p>
            <a:pPr indent="-79375" lvl="0" marL="91440" marR="5080" rtl="0" algn="l">
              <a:lnSpc>
                <a:spcPct val="102499"/>
              </a:lnSpc>
              <a:spcBef>
                <a:spcPts val="0"/>
              </a:spcBef>
              <a:spcAft>
                <a:spcPts val="0"/>
              </a:spcAft>
              <a:buClr>
                <a:srgbClr val="2E4D5D"/>
              </a:buClr>
              <a:buSzPts val="1100"/>
              <a:buFont typeface="Arial"/>
              <a:buChar char="•"/>
            </a:pPr>
            <a:r>
              <a:rPr lang="en-US" sz="1100">
                <a:solidFill>
                  <a:srgbClr val="2E4D5D"/>
                </a:solidFill>
                <a:latin typeface="Arial"/>
                <a:ea typeface="Arial"/>
                <a:cs typeface="Arial"/>
                <a:sym typeface="Arial"/>
              </a:rPr>
              <a:t>A fixed low angle (see green 	curve) leads to undercutting.</a:t>
            </a:r>
            <a:endParaRPr sz="1100">
              <a:latin typeface="Arial"/>
              <a:ea typeface="Arial"/>
              <a:cs typeface="Arial"/>
              <a:sym typeface="Arial"/>
            </a:endParaRPr>
          </a:p>
        </p:txBody>
      </p:sp>
      <p:sp>
        <p:nvSpPr>
          <p:cNvPr id="63" name="Google Shape;63;p7"/>
          <p:cNvSpPr txBox="1"/>
          <p:nvPr/>
        </p:nvSpPr>
        <p:spPr>
          <a:xfrm>
            <a:off x="5403508" y="8262571"/>
            <a:ext cx="3593400" cy="1164300"/>
          </a:xfrm>
          <a:prstGeom prst="rect">
            <a:avLst/>
          </a:prstGeom>
          <a:noFill/>
          <a:ln>
            <a:noFill/>
          </a:ln>
        </p:spPr>
        <p:txBody>
          <a:bodyPr anchorCtr="0" anchor="t" bIns="0" lIns="0" spcFirstLastPara="1" rIns="0" wrap="square" tIns="11425">
            <a:spAutoFit/>
          </a:bodyPr>
          <a:lstStyle/>
          <a:p>
            <a:pPr indent="1905" lvl="0" marL="12700" marR="5080" rtl="0" algn="ctr">
              <a:lnSpc>
                <a:spcPct val="101600"/>
              </a:lnSpc>
              <a:spcBef>
                <a:spcPts val="0"/>
              </a:spcBef>
              <a:spcAft>
                <a:spcPts val="0"/>
              </a:spcAft>
              <a:buNone/>
            </a:pPr>
            <a:r>
              <a:rPr b="1" lang="en-US" sz="1850">
                <a:solidFill>
                  <a:srgbClr val="2E4D5D"/>
                </a:solidFill>
                <a:latin typeface="Arial"/>
                <a:ea typeface="Arial"/>
                <a:cs typeface="Arial"/>
                <a:sym typeface="Arial"/>
              </a:rPr>
              <a:t>Grading angle adaptation </a:t>
            </a:r>
            <a:r>
              <a:rPr lang="en-US" sz="1850">
                <a:solidFill>
                  <a:srgbClr val="2E4D5D"/>
                </a:solidFill>
                <a:latin typeface="Arial"/>
                <a:ea typeface="Arial"/>
                <a:cs typeface="Arial"/>
                <a:sym typeface="Arial"/>
              </a:rPr>
              <a:t>switches between cutting and smoothing behaviors, while avoiding undercuts and collisions.</a:t>
            </a:r>
            <a:endParaRPr sz="1850">
              <a:latin typeface="Arial"/>
              <a:ea typeface="Arial"/>
              <a:cs typeface="Arial"/>
              <a:sym typeface="Arial"/>
            </a:endParaRPr>
          </a:p>
        </p:txBody>
      </p:sp>
      <p:grpSp>
        <p:nvGrpSpPr>
          <p:cNvPr id="64" name="Google Shape;64;p7"/>
          <p:cNvGrpSpPr/>
          <p:nvPr/>
        </p:nvGrpSpPr>
        <p:grpSpPr>
          <a:xfrm>
            <a:off x="5082215" y="4628904"/>
            <a:ext cx="8630920" cy="3359150"/>
            <a:chOff x="5082215" y="5174495"/>
            <a:chExt cx="8630920" cy="3359150"/>
          </a:xfrm>
        </p:grpSpPr>
        <p:sp>
          <p:nvSpPr>
            <p:cNvPr id="65" name="Google Shape;65;p7"/>
            <p:cNvSpPr/>
            <p:nvPr/>
          </p:nvSpPr>
          <p:spPr>
            <a:xfrm>
              <a:off x="5082215" y="5174495"/>
              <a:ext cx="8630920" cy="3359150"/>
            </a:xfrm>
            <a:custGeom>
              <a:rect b="b" l="l" r="r" t="t"/>
              <a:pathLst>
                <a:path extrusionOk="0" h="3359150" w="8630919">
                  <a:moveTo>
                    <a:pt x="8070641" y="0"/>
                  </a:moveTo>
                  <a:lnTo>
                    <a:pt x="559759" y="0"/>
                  </a:lnTo>
                  <a:lnTo>
                    <a:pt x="511466" y="2054"/>
                  </a:lnTo>
                  <a:lnTo>
                    <a:pt x="464313" y="8107"/>
                  </a:lnTo>
                  <a:lnTo>
                    <a:pt x="418468" y="17990"/>
                  </a:lnTo>
                  <a:lnTo>
                    <a:pt x="374099" y="31534"/>
                  </a:lnTo>
                  <a:lnTo>
                    <a:pt x="331373" y="48572"/>
                  </a:lnTo>
                  <a:lnTo>
                    <a:pt x="290461" y="68936"/>
                  </a:lnTo>
                  <a:lnTo>
                    <a:pt x="251528" y="92457"/>
                  </a:lnTo>
                  <a:lnTo>
                    <a:pt x="214744" y="118968"/>
                  </a:lnTo>
                  <a:lnTo>
                    <a:pt x="180276" y="148300"/>
                  </a:lnTo>
                  <a:lnTo>
                    <a:pt x="148293" y="180285"/>
                  </a:lnTo>
                  <a:lnTo>
                    <a:pt x="118963" y="214755"/>
                  </a:lnTo>
                  <a:lnTo>
                    <a:pt x="92454" y="251543"/>
                  </a:lnTo>
                  <a:lnTo>
                    <a:pt x="68934" y="290480"/>
                  </a:lnTo>
                  <a:lnTo>
                    <a:pt x="48571" y="331397"/>
                  </a:lnTo>
                  <a:lnTo>
                    <a:pt x="31534" y="374128"/>
                  </a:lnTo>
                  <a:lnTo>
                    <a:pt x="17990" y="418504"/>
                  </a:lnTo>
                  <a:lnTo>
                    <a:pt x="8107" y="464356"/>
                  </a:lnTo>
                  <a:lnTo>
                    <a:pt x="2054" y="511517"/>
                  </a:lnTo>
                  <a:lnTo>
                    <a:pt x="0" y="559819"/>
                  </a:lnTo>
                  <a:lnTo>
                    <a:pt x="0" y="2798916"/>
                  </a:lnTo>
                  <a:lnTo>
                    <a:pt x="2054" y="2847218"/>
                  </a:lnTo>
                  <a:lnTo>
                    <a:pt x="8107" y="2894377"/>
                  </a:lnTo>
                  <a:lnTo>
                    <a:pt x="17990" y="2940228"/>
                  </a:lnTo>
                  <a:lnTo>
                    <a:pt x="31534" y="2984600"/>
                  </a:lnTo>
                  <a:lnTo>
                    <a:pt x="48571" y="3027327"/>
                  </a:lnTo>
                  <a:lnTo>
                    <a:pt x="68934" y="3068241"/>
                  </a:lnTo>
                  <a:lnTo>
                    <a:pt x="92454" y="3107174"/>
                  </a:lnTo>
                  <a:lnTo>
                    <a:pt x="118963" y="3143957"/>
                  </a:lnTo>
                  <a:lnTo>
                    <a:pt x="148293" y="3178423"/>
                  </a:lnTo>
                  <a:lnTo>
                    <a:pt x="180276" y="3210403"/>
                  </a:lnTo>
                  <a:lnTo>
                    <a:pt x="214744" y="3239731"/>
                  </a:lnTo>
                  <a:lnTo>
                    <a:pt x="251528" y="3266237"/>
                  </a:lnTo>
                  <a:lnTo>
                    <a:pt x="290461" y="3289754"/>
                  </a:lnTo>
                  <a:lnTo>
                    <a:pt x="331373" y="3310113"/>
                  </a:lnTo>
                  <a:lnTo>
                    <a:pt x="374099" y="3327148"/>
                  </a:lnTo>
                  <a:lnTo>
                    <a:pt x="418468" y="3340689"/>
                  </a:lnTo>
                  <a:lnTo>
                    <a:pt x="464313" y="3350570"/>
                  </a:lnTo>
                  <a:lnTo>
                    <a:pt x="511466" y="3356621"/>
                  </a:lnTo>
                  <a:lnTo>
                    <a:pt x="559759" y="3358676"/>
                  </a:lnTo>
                  <a:lnTo>
                    <a:pt x="8070641" y="3358676"/>
                  </a:lnTo>
                  <a:lnTo>
                    <a:pt x="8118943" y="3356621"/>
                  </a:lnTo>
                  <a:lnTo>
                    <a:pt x="8166104" y="3350570"/>
                  </a:lnTo>
                  <a:lnTo>
                    <a:pt x="8211956" y="3340689"/>
                  </a:lnTo>
                  <a:lnTo>
                    <a:pt x="8256332" y="3327148"/>
                  </a:lnTo>
                  <a:lnTo>
                    <a:pt x="8299063" y="3310113"/>
                  </a:lnTo>
                  <a:lnTo>
                    <a:pt x="8339980" y="3289754"/>
                  </a:lnTo>
                  <a:lnTo>
                    <a:pt x="8378917" y="3266237"/>
                  </a:lnTo>
                  <a:lnTo>
                    <a:pt x="8415705" y="3239731"/>
                  </a:lnTo>
                  <a:lnTo>
                    <a:pt x="8450175" y="3210403"/>
                  </a:lnTo>
                  <a:lnTo>
                    <a:pt x="8482160" y="3178423"/>
                  </a:lnTo>
                  <a:lnTo>
                    <a:pt x="8511492" y="3143957"/>
                  </a:lnTo>
                  <a:lnTo>
                    <a:pt x="8538003" y="3107174"/>
                  </a:lnTo>
                  <a:lnTo>
                    <a:pt x="8561524" y="3068241"/>
                  </a:lnTo>
                  <a:lnTo>
                    <a:pt x="8581888" y="3027327"/>
                  </a:lnTo>
                  <a:lnTo>
                    <a:pt x="8598926" y="2984600"/>
                  </a:lnTo>
                  <a:lnTo>
                    <a:pt x="8612470" y="2940228"/>
                  </a:lnTo>
                  <a:lnTo>
                    <a:pt x="8622353" y="2894377"/>
                  </a:lnTo>
                  <a:lnTo>
                    <a:pt x="8628406" y="2847218"/>
                  </a:lnTo>
                  <a:lnTo>
                    <a:pt x="8630460" y="2798916"/>
                  </a:lnTo>
                  <a:lnTo>
                    <a:pt x="8630460" y="559819"/>
                  </a:lnTo>
                  <a:lnTo>
                    <a:pt x="8628406" y="511517"/>
                  </a:lnTo>
                  <a:lnTo>
                    <a:pt x="8622353" y="464356"/>
                  </a:lnTo>
                  <a:lnTo>
                    <a:pt x="8612470" y="418504"/>
                  </a:lnTo>
                  <a:lnTo>
                    <a:pt x="8598926" y="374128"/>
                  </a:lnTo>
                  <a:lnTo>
                    <a:pt x="8581888" y="331397"/>
                  </a:lnTo>
                  <a:lnTo>
                    <a:pt x="8561524" y="290480"/>
                  </a:lnTo>
                  <a:lnTo>
                    <a:pt x="8538003" y="251543"/>
                  </a:lnTo>
                  <a:lnTo>
                    <a:pt x="8511492" y="214755"/>
                  </a:lnTo>
                  <a:lnTo>
                    <a:pt x="8482160" y="180285"/>
                  </a:lnTo>
                  <a:lnTo>
                    <a:pt x="8450175" y="148300"/>
                  </a:lnTo>
                  <a:lnTo>
                    <a:pt x="8415705" y="118968"/>
                  </a:lnTo>
                  <a:lnTo>
                    <a:pt x="8378917" y="92457"/>
                  </a:lnTo>
                  <a:lnTo>
                    <a:pt x="8339980" y="68936"/>
                  </a:lnTo>
                  <a:lnTo>
                    <a:pt x="8299063" y="48572"/>
                  </a:lnTo>
                  <a:lnTo>
                    <a:pt x="8256332" y="31534"/>
                  </a:lnTo>
                  <a:lnTo>
                    <a:pt x="8211956" y="17990"/>
                  </a:lnTo>
                  <a:lnTo>
                    <a:pt x="8166104" y="8107"/>
                  </a:lnTo>
                  <a:lnTo>
                    <a:pt x="8118943" y="2054"/>
                  </a:lnTo>
                  <a:lnTo>
                    <a:pt x="8070641"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 name="Google Shape;66;p7"/>
            <p:cNvSpPr/>
            <p:nvPr/>
          </p:nvSpPr>
          <p:spPr>
            <a:xfrm>
              <a:off x="5082215" y="5174495"/>
              <a:ext cx="8630919" cy="3359150"/>
            </a:xfrm>
            <a:custGeom>
              <a:rect b="b" l="l" r="r" t="t"/>
              <a:pathLst>
                <a:path extrusionOk="0" h="3359150" w="8630919">
                  <a:moveTo>
                    <a:pt x="0" y="559819"/>
                  </a:moveTo>
                  <a:lnTo>
                    <a:pt x="2054" y="511517"/>
                  </a:lnTo>
                  <a:lnTo>
                    <a:pt x="8107" y="464356"/>
                  </a:lnTo>
                  <a:lnTo>
                    <a:pt x="17990" y="418504"/>
                  </a:lnTo>
                  <a:lnTo>
                    <a:pt x="31534" y="374128"/>
                  </a:lnTo>
                  <a:lnTo>
                    <a:pt x="48571" y="331397"/>
                  </a:lnTo>
                  <a:lnTo>
                    <a:pt x="68934" y="290480"/>
                  </a:lnTo>
                  <a:lnTo>
                    <a:pt x="92454" y="251543"/>
                  </a:lnTo>
                  <a:lnTo>
                    <a:pt x="118963" y="214755"/>
                  </a:lnTo>
                  <a:lnTo>
                    <a:pt x="148293" y="180285"/>
                  </a:lnTo>
                  <a:lnTo>
                    <a:pt x="180276" y="148300"/>
                  </a:lnTo>
                  <a:lnTo>
                    <a:pt x="214744" y="118968"/>
                  </a:lnTo>
                  <a:lnTo>
                    <a:pt x="251528" y="92457"/>
                  </a:lnTo>
                  <a:lnTo>
                    <a:pt x="290461" y="68936"/>
                  </a:lnTo>
                  <a:lnTo>
                    <a:pt x="331373" y="48572"/>
                  </a:lnTo>
                  <a:lnTo>
                    <a:pt x="374099" y="31534"/>
                  </a:lnTo>
                  <a:lnTo>
                    <a:pt x="418468" y="17990"/>
                  </a:lnTo>
                  <a:lnTo>
                    <a:pt x="464313" y="8107"/>
                  </a:lnTo>
                  <a:lnTo>
                    <a:pt x="511466" y="2054"/>
                  </a:lnTo>
                  <a:lnTo>
                    <a:pt x="559759" y="0"/>
                  </a:lnTo>
                  <a:lnTo>
                    <a:pt x="8070641" y="0"/>
                  </a:lnTo>
                  <a:lnTo>
                    <a:pt x="8118943" y="2054"/>
                  </a:lnTo>
                  <a:lnTo>
                    <a:pt x="8166104" y="8107"/>
                  </a:lnTo>
                  <a:lnTo>
                    <a:pt x="8211956" y="17990"/>
                  </a:lnTo>
                  <a:lnTo>
                    <a:pt x="8256332" y="31534"/>
                  </a:lnTo>
                  <a:lnTo>
                    <a:pt x="8299063" y="48572"/>
                  </a:lnTo>
                  <a:lnTo>
                    <a:pt x="8339980" y="68936"/>
                  </a:lnTo>
                  <a:lnTo>
                    <a:pt x="8378917" y="92457"/>
                  </a:lnTo>
                  <a:lnTo>
                    <a:pt x="8415705" y="118968"/>
                  </a:lnTo>
                  <a:lnTo>
                    <a:pt x="8450175" y="148300"/>
                  </a:lnTo>
                  <a:lnTo>
                    <a:pt x="8482160" y="180285"/>
                  </a:lnTo>
                  <a:lnTo>
                    <a:pt x="8511492" y="214755"/>
                  </a:lnTo>
                  <a:lnTo>
                    <a:pt x="8538003" y="251543"/>
                  </a:lnTo>
                  <a:lnTo>
                    <a:pt x="8561524" y="290480"/>
                  </a:lnTo>
                  <a:lnTo>
                    <a:pt x="8581888" y="331397"/>
                  </a:lnTo>
                  <a:lnTo>
                    <a:pt x="8598926" y="374128"/>
                  </a:lnTo>
                  <a:lnTo>
                    <a:pt x="8612470" y="418504"/>
                  </a:lnTo>
                  <a:lnTo>
                    <a:pt x="8622353" y="464356"/>
                  </a:lnTo>
                  <a:lnTo>
                    <a:pt x="8628406" y="511517"/>
                  </a:lnTo>
                  <a:lnTo>
                    <a:pt x="8630460" y="559819"/>
                  </a:lnTo>
                  <a:lnTo>
                    <a:pt x="8630460" y="2798916"/>
                  </a:lnTo>
                  <a:lnTo>
                    <a:pt x="8628406" y="2847218"/>
                  </a:lnTo>
                  <a:lnTo>
                    <a:pt x="8622353" y="2894377"/>
                  </a:lnTo>
                  <a:lnTo>
                    <a:pt x="8612470" y="2940228"/>
                  </a:lnTo>
                  <a:lnTo>
                    <a:pt x="8598926" y="2984600"/>
                  </a:lnTo>
                  <a:lnTo>
                    <a:pt x="8581888" y="3027327"/>
                  </a:lnTo>
                  <a:lnTo>
                    <a:pt x="8561524" y="3068241"/>
                  </a:lnTo>
                  <a:lnTo>
                    <a:pt x="8538003" y="3107174"/>
                  </a:lnTo>
                  <a:lnTo>
                    <a:pt x="8511492" y="3143957"/>
                  </a:lnTo>
                  <a:lnTo>
                    <a:pt x="8482160" y="3178423"/>
                  </a:lnTo>
                  <a:lnTo>
                    <a:pt x="8450175" y="3210403"/>
                  </a:lnTo>
                  <a:lnTo>
                    <a:pt x="8415705" y="3239731"/>
                  </a:lnTo>
                  <a:lnTo>
                    <a:pt x="8378917" y="3266237"/>
                  </a:lnTo>
                  <a:lnTo>
                    <a:pt x="8339980" y="3289754"/>
                  </a:lnTo>
                  <a:lnTo>
                    <a:pt x="8299063" y="3310113"/>
                  </a:lnTo>
                  <a:lnTo>
                    <a:pt x="8256332" y="3327148"/>
                  </a:lnTo>
                  <a:lnTo>
                    <a:pt x="8211956" y="3340689"/>
                  </a:lnTo>
                  <a:lnTo>
                    <a:pt x="8166104" y="3350570"/>
                  </a:lnTo>
                  <a:lnTo>
                    <a:pt x="8118943" y="3356621"/>
                  </a:lnTo>
                  <a:lnTo>
                    <a:pt x="8070641" y="3358676"/>
                  </a:lnTo>
                  <a:lnTo>
                    <a:pt x="559759" y="3358676"/>
                  </a:lnTo>
                  <a:lnTo>
                    <a:pt x="511466" y="3356621"/>
                  </a:lnTo>
                  <a:lnTo>
                    <a:pt x="464313" y="3350570"/>
                  </a:lnTo>
                  <a:lnTo>
                    <a:pt x="418468" y="3340689"/>
                  </a:lnTo>
                  <a:lnTo>
                    <a:pt x="374099" y="3327148"/>
                  </a:lnTo>
                  <a:lnTo>
                    <a:pt x="331373" y="3310113"/>
                  </a:lnTo>
                  <a:lnTo>
                    <a:pt x="290461" y="3289754"/>
                  </a:lnTo>
                  <a:lnTo>
                    <a:pt x="251528" y="3266237"/>
                  </a:lnTo>
                  <a:lnTo>
                    <a:pt x="214744" y="3239731"/>
                  </a:lnTo>
                  <a:lnTo>
                    <a:pt x="180276" y="3210403"/>
                  </a:lnTo>
                  <a:lnTo>
                    <a:pt x="148293" y="3178423"/>
                  </a:lnTo>
                  <a:lnTo>
                    <a:pt x="118963" y="3143957"/>
                  </a:lnTo>
                  <a:lnTo>
                    <a:pt x="92454" y="3107174"/>
                  </a:lnTo>
                  <a:lnTo>
                    <a:pt x="68934" y="3068241"/>
                  </a:lnTo>
                  <a:lnTo>
                    <a:pt x="48571" y="3027327"/>
                  </a:lnTo>
                  <a:lnTo>
                    <a:pt x="31534" y="2984600"/>
                  </a:lnTo>
                  <a:lnTo>
                    <a:pt x="17990" y="2940228"/>
                  </a:lnTo>
                  <a:lnTo>
                    <a:pt x="8107" y="2894377"/>
                  </a:lnTo>
                  <a:lnTo>
                    <a:pt x="2054" y="2847218"/>
                  </a:lnTo>
                  <a:lnTo>
                    <a:pt x="0" y="2798916"/>
                  </a:lnTo>
                  <a:lnTo>
                    <a:pt x="0" y="559819"/>
                  </a:lnTo>
                  <a:close/>
                </a:path>
              </a:pathLst>
            </a:custGeom>
            <a:noFill/>
            <a:ln cap="flat" cmpd="sng" w="13400">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 name="Google Shape;67;p7"/>
            <p:cNvSpPr/>
            <p:nvPr/>
          </p:nvSpPr>
          <p:spPr>
            <a:xfrm>
              <a:off x="5299164" y="6936496"/>
              <a:ext cx="2515235" cy="378460"/>
            </a:xfrm>
            <a:custGeom>
              <a:rect b="b" l="l" r="r" t="t"/>
              <a:pathLst>
                <a:path extrusionOk="0" h="378459" w="2515234">
                  <a:moveTo>
                    <a:pt x="2515100" y="0"/>
                  </a:moveTo>
                  <a:lnTo>
                    <a:pt x="0" y="0"/>
                  </a:lnTo>
                  <a:lnTo>
                    <a:pt x="0" y="377837"/>
                  </a:lnTo>
                  <a:lnTo>
                    <a:pt x="2515100" y="377837"/>
                  </a:lnTo>
                  <a:lnTo>
                    <a:pt x="25151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 name="Google Shape;68;p7"/>
            <p:cNvSpPr/>
            <p:nvPr/>
          </p:nvSpPr>
          <p:spPr>
            <a:xfrm>
              <a:off x="5299164" y="6936496"/>
              <a:ext cx="2515235" cy="378460"/>
            </a:xfrm>
            <a:custGeom>
              <a:rect b="b" l="l" r="r" t="t"/>
              <a:pathLst>
                <a:path extrusionOk="0" h="378459" w="2515234">
                  <a:moveTo>
                    <a:pt x="0" y="377837"/>
                  </a:moveTo>
                  <a:lnTo>
                    <a:pt x="2515100" y="377837"/>
                  </a:lnTo>
                  <a:lnTo>
                    <a:pt x="2515100" y="0"/>
                  </a:lnTo>
                  <a:lnTo>
                    <a:pt x="0" y="0"/>
                  </a:lnTo>
                  <a:lnTo>
                    <a:pt x="0" y="377837"/>
                  </a:lnTo>
                  <a:close/>
                </a:path>
              </a:pathLst>
            </a:custGeom>
            <a:noFill/>
            <a:ln cap="flat" cmpd="sng" w="9525">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9" name="Google Shape;69;p7"/>
          <p:cNvSpPr txBox="1"/>
          <p:nvPr/>
        </p:nvSpPr>
        <p:spPr>
          <a:xfrm>
            <a:off x="5454570" y="6387463"/>
            <a:ext cx="2204700" cy="559800"/>
          </a:xfrm>
          <a:prstGeom prst="rect">
            <a:avLst/>
          </a:prstGeom>
          <a:noFill/>
          <a:ln>
            <a:noFill/>
          </a:ln>
        </p:spPr>
        <p:txBody>
          <a:bodyPr anchorCtr="0" anchor="t" bIns="0" lIns="0" spcFirstLastPara="1" rIns="0" wrap="square" tIns="31750">
            <a:spAutoFit/>
          </a:bodyPr>
          <a:lstStyle/>
          <a:p>
            <a:pPr indent="0" lvl="0" marL="0" marR="22860" rtl="0" algn="ctr">
              <a:lnSpc>
                <a:spcPct val="100000"/>
              </a:lnSpc>
              <a:spcBef>
                <a:spcPts val="0"/>
              </a:spcBef>
              <a:spcAft>
                <a:spcPts val="0"/>
              </a:spcAft>
              <a:buNone/>
            </a:pPr>
            <a:r>
              <a:rPr baseline="30000" lang="en-US" sz="1650">
                <a:solidFill>
                  <a:srgbClr val="2E4D5D"/>
                </a:solidFill>
                <a:latin typeface="Cambria Math"/>
                <a:ea typeface="Cambria Math"/>
                <a:cs typeface="Cambria Math"/>
                <a:sym typeface="Cambria Math"/>
              </a:rPr>
              <a:t>𝑣</a:t>
            </a:r>
            <a:r>
              <a:rPr lang="en-US" sz="800">
                <a:solidFill>
                  <a:srgbClr val="2E4D5D"/>
                </a:solidFill>
                <a:latin typeface="Cambria Math"/>
                <a:ea typeface="Cambria Math"/>
                <a:cs typeface="Cambria Math"/>
                <a:sym typeface="Cambria Math"/>
              </a:rPr>
              <a:t>z </a:t>
            </a:r>
            <a:r>
              <a:rPr baseline="30000" lang="en-US" sz="1650">
                <a:solidFill>
                  <a:srgbClr val="2E4D5D"/>
                </a:solidFill>
                <a:latin typeface="Cambria Math"/>
                <a:ea typeface="Cambria Math"/>
                <a:cs typeface="Cambria Math"/>
                <a:sym typeface="Cambria Math"/>
              </a:rPr>
              <a:t>= 𝑘 (𝑧</a:t>
            </a:r>
            <a:r>
              <a:rPr lang="en-US" sz="800">
                <a:solidFill>
                  <a:srgbClr val="2E4D5D"/>
                </a:solidFill>
                <a:latin typeface="Cambria Math"/>
                <a:ea typeface="Cambria Math"/>
                <a:cs typeface="Cambria Math"/>
                <a:sym typeface="Cambria Math"/>
              </a:rPr>
              <a:t>setpoint  </a:t>
            </a:r>
            <a:r>
              <a:rPr baseline="30000" lang="en-US" sz="1650">
                <a:solidFill>
                  <a:srgbClr val="2E4D5D"/>
                </a:solidFill>
                <a:latin typeface="Cambria Math"/>
                <a:ea typeface="Cambria Math"/>
                <a:cs typeface="Cambria Math"/>
                <a:sym typeface="Cambria Math"/>
              </a:rPr>
              <a:t>− 𝑧</a:t>
            </a:r>
            <a:r>
              <a:rPr lang="en-US" sz="800">
                <a:solidFill>
                  <a:srgbClr val="2E4D5D"/>
                </a:solidFill>
                <a:latin typeface="Cambria Math"/>
                <a:ea typeface="Cambria Math"/>
                <a:cs typeface="Cambria Math"/>
                <a:sym typeface="Cambria Math"/>
              </a:rPr>
              <a:t>mes</a:t>
            </a:r>
            <a:r>
              <a:rPr baseline="30000" lang="en-US" sz="1650">
                <a:solidFill>
                  <a:srgbClr val="2E4D5D"/>
                </a:solidFill>
                <a:latin typeface="Cambria Math"/>
                <a:ea typeface="Cambria Math"/>
                <a:cs typeface="Cambria Math"/>
                <a:sym typeface="Cambria Math"/>
              </a:rPr>
              <a:t>)</a:t>
            </a:r>
            <a:endParaRPr baseline="30000" sz="1650">
              <a:latin typeface="Cambria Math"/>
              <a:ea typeface="Cambria Math"/>
              <a:cs typeface="Cambria Math"/>
              <a:sym typeface="Cambria Math"/>
            </a:endParaRPr>
          </a:p>
          <a:p>
            <a:pPr indent="0" lvl="0" marL="0" rtl="0" algn="ctr">
              <a:lnSpc>
                <a:spcPct val="100000"/>
              </a:lnSpc>
              <a:spcBef>
                <a:spcPts val="155"/>
              </a:spcBef>
              <a:spcAft>
                <a:spcPts val="0"/>
              </a:spcAft>
              <a:buNone/>
            </a:pPr>
            <a:r>
              <a:rPr baseline="30000" lang="en-US" sz="1650">
                <a:solidFill>
                  <a:srgbClr val="2E4D5D"/>
                </a:solidFill>
                <a:latin typeface="Cambria Math"/>
                <a:ea typeface="Cambria Math"/>
                <a:cs typeface="Cambria Math"/>
                <a:sym typeface="Cambria Math"/>
              </a:rPr>
              <a:t>𝑧</a:t>
            </a:r>
            <a:r>
              <a:rPr lang="en-US" sz="800">
                <a:solidFill>
                  <a:srgbClr val="2E4D5D"/>
                </a:solidFill>
                <a:latin typeface="Cambria Math"/>
                <a:ea typeface="Cambria Math"/>
                <a:cs typeface="Cambria Math"/>
                <a:sym typeface="Cambria Math"/>
              </a:rPr>
              <a:t>setpoint  </a:t>
            </a:r>
            <a:r>
              <a:rPr baseline="30000" lang="en-US" sz="1650">
                <a:solidFill>
                  <a:srgbClr val="2E4D5D"/>
                </a:solidFill>
                <a:latin typeface="Cambria Math"/>
                <a:ea typeface="Cambria Math"/>
                <a:cs typeface="Cambria Math"/>
                <a:sym typeface="Cambria Math"/>
              </a:rPr>
              <a:t>= 𝑧</a:t>
            </a:r>
            <a:r>
              <a:rPr lang="en-US" sz="800">
                <a:solidFill>
                  <a:srgbClr val="2E4D5D"/>
                </a:solidFill>
                <a:latin typeface="Cambria Math"/>
                <a:ea typeface="Cambria Math"/>
                <a:cs typeface="Cambria Math"/>
                <a:sym typeface="Cambria Math"/>
              </a:rPr>
              <a:t>mes </a:t>
            </a:r>
            <a:r>
              <a:rPr baseline="30000" lang="en-US" sz="1650">
                <a:solidFill>
                  <a:srgbClr val="2E4D5D"/>
                </a:solidFill>
                <a:latin typeface="Cambria Math"/>
                <a:ea typeface="Cambria Math"/>
                <a:cs typeface="Cambria Math"/>
                <a:sym typeface="Cambria Math"/>
              </a:rPr>
              <a:t>+ 𝛼 (𝑧</a:t>
            </a:r>
            <a:r>
              <a:rPr lang="en-US" sz="800">
                <a:solidFill>
                  <a:srgbClr val="2E4D5D"/>
                </a:solidFill>
                <a:latin typeface="Cambria Math"/>
                <a:ea typeface="Cambria Math"/>
                <a:cs typeface="Cambria Math"/>
                <a:sym typeface="Cambria Math"/>
              </a:rPr>
              <a:t>des </a:t>
            </a:r>
            <a:r>
              <a:rPr baseline="30000" lang="en-US" sz="1650">
                <a:solidFill>
                  <a:srgbClr val="2E4D5D"/>
                </a:solidFill>
                <a:latin typeface="Cambria Math"/>
                <a:ea typeface="Cambria Math"/>
                <a:cs typeface="Cambria Math"/>
                <a:sym typeface="Cambria Math"/>
              </a:rPr>
              <a:t>− 𝑧</a:t>
            </a:r>
            <a:r>
              <a:rPr lang="en-US" sz="800">
                <a:solidFill>
                  <a:srgbClr val="2E4D5D"/>
                </a:solidFill>
                <a:latin typeface="Cambria Math"/>
                <a:ea typeface="Cambria Math"/>
                <a:cs typeface="Cambria Math"/>
                <a:sym typeface="Cambria Math"/>
              </a:rPr>
              <a:t>mes</a:t>
            </a:r>
            <a:r>
              <a:rPr baseline="30000" lang="en-US" sz="1650">
                <a:solidFill>
                  <a:srgbClr val="2E4D5D"/>
                </a:solidFill>
                <a:latin typeface="Cambria Math"/>
                <a:ea typeface="Cambria Math"/>
                <a:cs typeface="Cambria Math"/>
                <a:sym typeface="Cambria Math"/>
              </a:rPr>
              <a:t>)</a:t>
            </a:r>
            <a:endParaRPr baseline="30000" sz="1650">
              <a:latin typeface="Cambria Math"/>
              <a:ea typeface="Cambria Math"/>
              <a:cs typeface="Cambria Math"/>
              <a:sym typeface="Cambria Math"/>
            </a:endParaRPr>
          </a:p>
        </p:txBody>
      </p:sp>
      <p:grpSp>
        <p:nvGrpSpPr>
          <p:cNvPr id="70" name="Google Shape;70;p7"/>
          <p:cNvGrpSpPr/>
          <p:nvPr/>
        </p:nvGrpSpPr>
        <p:grpSpPr>
          <a:xfrm>
            <a:off x="5285265" y="4754349"/>
            <a:ext cx="8133573" cy="3100866"/>
            <a:chOff x="5285265" y="5299940"/>
            <a:chExt cx="8133573" cy="3100866"/>
          </a:xfrm>
        </p:grpSpPr>
        <p:pic>
          <p:nvPicPr>
            <p:cNvPr descr="A red line on a black background  AI-generated content may be incorrect." id="71" name="Google Shape;71;p7"/>
            <p:cNvPicPr preferRelativeResize="0"/>
            <p:nvPr/>
          </p:nvPicPr>
          <p:blipFill rotWithShape="1">
            <a:blip r:embed="rId4">
              <a:alphaModFix/>
            </a:blip>
            <a:srcRect b="0" l="0" r="0" t="0"/>
            <a:stretch/>
          </p:blipFill>
          <p:spPr>
            <a:xfrm>
              <a:off x="5285265" y="7472050"/>
              <a:ext cx="2485155" cy="928756"/>
            </a:xfrm>
            <a:prstGeom prst="rect">
              <a:avLst/>
            </a:prstGeom>
            <a:noFill/>
            <a:ln>
              <a:noFill/>
            </a:ln>
          </p:spPr>
        </p:pic>
        <p:pic>
          <p:nvPicPr>
            <p:cNvPr id="72" name="Google Shape;72;p7"/>
            <p:cNvPicPr preferRelativeResize="0"/>
            <p:nvPr/>
          </p:nvPicPr>
          <p:blipFill rotWithShape="1">
            <a:blip r:embed="rId5">
              <a:alphaModFix/>
            </a:blip>
            <a:srcRect b="0" l="0" r="0" t="0"/>
            <a:stretch/>
          </p:blipFill>
          <p:spPr>
            <a:xfrm>
              <a:off x="9941816" y="5299940"/>
              <a:ext cx="3477022" cy="1349530"/>
            </a:xfrm>
            <a:prstGeom prst="rect">
              <a:avLst/>
            </a:prstGeom>
            <a:noFill/>
            <a:ln>
              <a:noFill/>
            </a:ln>
          </p:spPr>
        </p:pic>
        <p:sp>
          <p:nvSpPr>
            <p:cNvPr id="73" name="Google Shape;73;p7"/>
            <p:cNvSpPr/>
            <p:nvPr/>
          </p:nvSpPr>
          <p:spPr>
            <a:xfrm>
              <a:off x="9855620" y="5317894"/>
              <a:ext cx="205104" cy="231140"/>
            </a:xfrm>
            <a:custGeom>
              <a:rect b="b" l="l" r="r" t="t"/>
              <a:pathLst>
                <a:path extrusionOk="0" h="231139" w="205104">
                  <a:moveTo>
                    <a:pt x="204618" y="0"/>
                  </a:moveTo>
                  <a:lnTo>
                    <a:pt x="0" y="0"/>
                  </a:lnTo>
                  <a:lnTo>
                    <a:pt x="0" y="231026"/>
                  </a:lnTo>
                  <a:lnTo>
                    <a:pt x="204618" y="231026"/>
                  </a:lnTo>
                  <a:lnTo>
                    <a:pt x="204618"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 name="Google Shape;74;p7"/>
            <p:cNvSpPr/>
            <p:nvPr/>
          </p:nvSpPr>
          <p:spPr>
            <a:xfrm>
              <a:off x="7752168" y="7484636"/>
              <a:ext cx="181610" cy="416559"/>
            </a:xfrm>
            <a:custGeom>
              <a:rect b="b" l="l" r="r" t="t"/>
              <a:pathLst>
                <a:path extrusionOk="0" h="416559" w="181609">
                  <a:moveTo>
                    <a:pt x="181098" y="0"/>
                  </a:moveTo>
                  <a:lnTo>
                    <a:pt x="178501" y="58873"/>
                  </a:lnTo>
                  <a:lnTo>
                    <a:pt x="171748" y="115007"/>
                  </a:lnTo>
                  <a:lnTo>
                    <a:pt x="161148" y="167637"/>
                  </a:lnTo>
                  <a:lnTo>
                    <a:pt x="147010" y="215999"/>
                  </a:lnTo>
                  <a:lnTo>
                    <a:pt x="129639" y="259328"/>
                  </a:lnTo>
                  <a:lnTo>
                    <a:pt x="109345" y="296860"/>
                  </a:lnTo>
                  <a:lnTo>
                    <a:pt x="86436" y="327830"/>
                  </a:lnTo>
                  <a:lnTo>
                    <a:pt x="34000" y="367029"/>
                  </a:lnTo>
                  <a:lnTo>
                    <a:pt x="34000" y="329210"/>
                  </a:lnTo>
                  <a:lnTo>
                    <a:pt x="0" y="379376"/>
                  </a:lnTo>
                  <a:lnTo>
                    <a:pt x="34000" y="416061"/>
                  </a:lnTo>
                  <a:lnTo>
                    <a:pt x="34000" y="378183"/>
                  </a:lnTo>
                  <a:lnTo>
                    <a:pt x="61819" y="362180"/>
                  </a:lnTo>
                  <a:lnTo>
                    <a:pt x="110777" y="305706"/>
                  </a:lnTo>
                  <a:lnTo>
                    <a:pt x="131274" y="266886"/>
                  </a:lnTo>
                  <a:lnTo>
                    <a:pt x="148689" y="222113"/>
                  </a:lnTo>
                  <a:lnTo>
                    <a:pt x="162699" y="172212"/>
                  </a:lnTo>
                  <a:lnTo>
                    <a:pt x="172985" y="118009"/>
                  </a:lnTo>
                  <a:lnTo>
                    <a:pt x="179225" y="60330"/>
                  </a:lnTo>
                  <a:lnTo>
                    <a:pt x="181098" y="0"/>
                  </a:lnTo>
                  <a:close/>
                </a:path>
              </a:pathLst>
            </a:custGeom>
            <a:solidFill>
              <a:srgbClr val="2E4D5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 name="Google Shape;75;p7"/>
            <p:cNvSpPr/>
            <p:nvPr/>
          </p:nvSpPr>
          <p:spPr>
            <a:xfrm>
              <a:off x="7752168" y="7099772"/>
              <a:ext cx="181610" cy="390525"/>
            </a:xfrm>
            <a:custGeom>
              <a:rect b="b" l="l" r="r" t="t"/>
              <a:pathLst>
                <a:path extrusionOk="0" h="390525" w="181609">
                  <a:moveTo>
                    <a:pt x="0" y="0"/>
                  </a:moveTo>
                  <a:lnTo>
                    <a:pt x="0" y="11094"/>
                  </a:lnTo>
                  <a:lnTo>
                    <a:pt x="29378" y="16059"/>
                  </a:lnTo>
                  <a:lnTo>
                    <a:pt x="57247" y="30433"/>
                  </a:lnTo>
                  <a:lnTo>
                    <a:pt x="106961" y="84284"/>
                  </a:lnTo>
                  <a:lnTo>
                    <a:pt x="128061" y="122201"/>
                  </a:lnTo>
                  <a:lnTo>
                    <a:pt x="146161" y="166404"/>
                  </a:lnTo>
                  <a:lnTo>
                    <a:pt x="160887" y="216113"/>
                  </a:lnTo>
                  <a:lnTo>
                    <a:pt x="171867" y="270548"/>
                  </a:lnTo>
                  <a:lnTo>
                    <a:pt x="178728" y="328927"/>
                  </a:lnTo>
                  <a:lnTo>
                    <a:pt x="181098" y="390471"/>
                  </a:lnTo>
                  <a:lnTo>
                    <a:pt x="181098" y="379317"/>
                  </a:lnTo>
                  <a:lnTo>
                    <a:pt x="178728" y="317789"/>
                  </a:lnTo>
                  <a:lnTo>
                    <a:pt x="171867" y="259423"/>
                  </a:lnTo>
                  <a:lnTo>
                    <a:pt x="160887" y="204998"/>
                  </a:lnTo>
                  <a:lnTo>
                    <a:pt x="146161" y="155296"/>
                  </a:lnTo>
                  <a:lnTo>
                    <a:pt x="128061" y="111098"/>
                  </a:lnTo>
                  <a:lnTo>
                    <a:pt x="106961" y="73185"/>
                  </a:lnTo>
                  <a:lnTo>
                    <a:pt x="83232" y="42338"/>
                  </a:lnTo>
                  <a:lnTo>
                    <a:pt x="29378" y="4964"/>
                  </a:lnTo>
                  <a:lnTo>
                    <a:pt x="0" y="0"/>
                  </a:lnTo>
                  <a:close/>
                </a:path>
              </a:pathLst>
            </a:custGeom>
            <a:solidFill>
              <a:srgbClr val="253D4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 name="Google Shape;76;p7"/>
            <p:cNvSpPr/>
            <p:nvPr/>
          </p:nvSpPr>
          <p:spPr>
            <a:xfrm>
              <a:off x="7752168" y="7099772"/>
              <a:ext cx="181610" cy="801370"/>
            </a:xfrm>
            <a:custGeom>
              <a:rect b="b" l="l" r="r" t="t"/>
              <a:pathLst>
                <a:path extrusionOk="0" h="801370" w="181609">
                  <a:moveTo>
                    <a:pt x="181098" y="390471"/>
                  </a:moveTo>
                  <a:lnTo>
                    <a:pt x="178728" y="328927"/>
                  </a:lnTo>
                  <a:lnTo>
                    <a:pt x="171867" y="270548"/>
                  </a:lnTo>
                  <a:lnTo>
                    <a:pt x="160887" y="216113"/>
                  </a:lnTo>
                  <a:lnTo>
                    <a:pt x="146161" y="166404"/>
                  </a:lnTo>
                  <a:lnTo>
                    <a:pt x="128061" y="122201"/>
                  </a:lnTo>
                  <a:lnTo>
                    <a:pt x="106961" y="84284"/>
                  </a:lnTo>
                  <a:lnTo>
                    <a:pt x="83232" y="53435"/>
                  </a:lnTo>
                  <a:lnTo>
                    <a:pt x="29378" y="16059"/>
                  </a:lnTo>
                  <a:lnTo>
                    <a:pt x="0" y="11094"/>
                  </a:lnTo>
                  <a:lnTo>
                    <a:pt x="0" y="0"/>
                  </a:lnTo>
                  <a:lnTo>
                    <a:pt x="57247" y="19337"/>
                  </a:lnTo>
                  <a:lnTo>
                    <a:pt x="106961" y="73185"/>
                  </a:lnTo>
                  <a:lnTo>
                    <a:pt x="128061" y="111098"/>
                  </a:lnTo>
                  <a:lnTo>
                    <a:pt x="146161" y="155296"/>
                  </a:lnTo>
                  <a:lnTo>
                    <a:pt x="160887" y="204998"/>
                  </a:lnTo>
                  <a:lnTo>
                    <a:pt x="171867" y="259423"/>
                  </a:lnTo>
                  <a:lnTo>
                    <a:pt x="178728" y="317789"/>
                  </a:lnTo>
                  <a:lnTo>
                    <a:pt x="181098" y="379317"/>
                  </a:lnTo>
                  <a:lnTo>
                    <a:pt x="181098" y="390471"/>
                  </a:lnTo>
                  <a:lnTo>
                    <a:pt x="178864" y="450071"/>
                  </a:lnTo>
                  <a:lnTo>
                    <a:pt x="172370" y="506973"/>
                  </a:lnTo>
                  <a:lnTo>
                    <a:pt x="161930" y="560382"/>
                  </a:lnTo>
                  <a:lnTo>
                    <a:pt x="147859" y="609506"/>
                  </a:lnTo>
                  <a:lnTo>
                    <a:pt x="130469" y="653549"/>
                  </a:lnTo>
                  <a:lnTo>
                    <a:pt x="110074" y="691719"/>
                  </a:lnTo>
                  <a:lnTo>
                    <a:pt x="86989" y="723221"/>
                  </a:lnTo>
                  <a:lnTo>
                    <a:pt x="34000" y="763048"/>
                  </a:lnTo>
                  <a:lnTo>
                    <a:pt x="34000" y="800926"/>
                  </a:lnTo>
                  <a:lnTo>
                    <a:pt x="0" y="764241"/>
                  </a:lnTo>
                  <a:lnTo>
                    <a:pt x="34000" y="714075"/>
                  </a:lnTo>
                  <a:lnTo>
                    <a:pt x="34000" y="751893"/>
                  </a:lnTo>
                  <a:lnTo>
                    <a:pt x="61218" y="736339"/>
                  </a:lnTo>
                  <a:lnTo>
                    <a:pt x="109345" y="681724"/>
                  </a:lnTo>
                  <a:lnTo>
                    <a:pt x="129639" y="644192"/>
                  </a:lnTo>
                  <a:lnTo>
                    <a:pt x="147010" y="600863"/>
                  </a:lnTo>
                  <a:lnTo>
                    <a:pt x="161148" y="552502"/>
                  </a:lnTo>
                  <a:lnTo>
                    <a:pt x="171748" y="499871"/>
                  </a:lnTo>
                  <a:lnTo>
                    <a:pt x="178501" y="443737"/>
                  </a:lnTo>
                  <a:lnTo>
                    <a:pt x="181098" y="384864"/>
                  </a:lnTo>
                </a:path>
              </a:pathLst>
            </a:custGeom>
            <a:noFill/>
            <a:ln cap="flat" cmpd="sng" w="9525">
              <a:solidFill>
                <a:srgbClr val="2E4D5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7" name="Google Shape;77;p7"/>
          <p:cNvSpPr txBox="1"/>
          <p:nvPr/>
        </p:nvSpPr>
        <p:spPr>
          <a:xfrm>
            <a:off x="7998839" y="6500262"/>
            <a:ext cx="1285800" cy="1253700"/>
          </a:xfrm>
          <a:prstGeom prst="rect">
            <a:avLst/>
          </a:prstGeom>
          <a:noFill/>
          <a:ln>
            <a:noFill/>
          </a:ln>
        </p:spPr>
        <p:txBody>
          <a:bodyPr anchorCtr="0" anchor="t" bIns="0" lIns="0" spcFirstLastPara="1" rIns="0" wrap="square" tIns="8250">
            <a:spAutoFit/>
          </a:bodyPr>
          <a:lstStyle/>
          <a:p>
            <a:pPr indent="0" lvl="0" marL="38100" marR="30480" rtl="0" algn="l">
              <a:lnSpc>
                <a:spcPct val="104700"/>
              </a:lnSpc>
              <a:spcBef>
                <a:spcPts val="0"/>
              </a:spcBef>
              <a:spcAft>
                <a:spcPts val="0"/>
              </a:spcAft>
              <a:buNone/>
            </a:pPr>
            <a:r>
              <a:rPr lang="en-US" sz="1100">
                <a:solidFill>
                  <a:srgbClr val="2E4D5D"/>
                </a:solidFill>
                <a:latin typeface="Arial"/>
                <a:ea typeface="Arial"/>
                <a:cs typeface="Arial"/>
                <a:sym typeface="Arial"/>
              </a:rPr>
              <a:t>Insertion via a simple proportional velocity controller in which </a:t>
            </a:r>
            <a:r>
              <a:rPr lang="en-US" sz="1100">
                <a:solidFill>
                  <a:srgbClr val="2E4D5D"/>
                </a:solidFill>
                <a:latin typeface="Cambria Math"/>
                <a:ea typeface="Cambria Math"/>
                <a:cs typeface="Cambria Math"/>
                <a:sym typeface="Cambria Math"/>
              </a:rPr>
              <a:t>𝑧</a:t>
            </a:r>
            <a:r>
              <a:rPr baseline="-25000" lang="en-US" sz="1200">
                <a:solidFill>
                  <a:srgbClr val="2E4D5D"/>
                </a:solidFill>
                <a:latin typeface="Cambria Math"/>
                <a:ea typeface="Cambria Math"/>
                <a:cs typeface="Cambria Math"/>
                <a:sym typeface="Cambria Math"/>
              </a:rPr>
              <a:t>setpoint </a:t>
            </a:r>
            <a:r>
              <a:rPr lang="en-US" sz="1100">
                <a:solidFill>
                  <a:srgbClr val="2E4D5D"/>
                </a:solidFill>
                <a:latin typeface="Arial"/>
                <a:ea typeface="Arial"/>
                <a:cs typeface="Arial"/>
                <a:sym typeface="Arial"/>
              </a:rPr>
              <a:t>is adjusted through</a:t>
            </a:r>
            <a:endParaRPr sz="1100">
              <a:latin typeface="Arial"/>
              <a:ea typeface="Arial"/>
              <a:cs typeface="Arial"/>
              <a:sym typeface="Arial"/>
            </a:endParaRPr>
          </a:p>
          <a:p>
            <a:pPr indent="0" lvl="0" marL="38100" marR="204470" rtl="0" algn="l">
              <a:lnSpc>
                <a:spcPct val="102499"/>
              </a:lnSpc>
              <a:spcBef>
                <a:spcPts val="0"/>
              </a:spcBef>
              <a:spcAft>
                <a:spcPts val="0"/>
              </a:spcAft>
              <a:buNone/>
            </a:pPr>
            <a:r>
              <a:rPr lang="en-US" sz="1100">
                <a:solidFill>
                  <a:srgbClr val="2E4D5D"/>
                </a:solidFill>
                <a:latin typeface="Cambria Math"/>
                <a:ea typeface="Cambria Math"/>
                <a:cs typeface="Cambria Math"/>
                <a:sym typeface="Cambria Math"/>
              </a:rPr>
              <a:t>𝛼 </a:t>
            </a:r>
            <a:r>
              <a:rPr lang="en-US" sz="1100">
                <a:solidFill>
                  <a:srgbClr val="2E4D5D"/>
                </a:solidFill>
                <a:latin typeface="Arial"/>
                <a:ea typeface="Arial"/>
                <a:cs typeface="Arial"/>
                <a:sym typeface="Arial"/>
              </a:rPr>
              <a:t>based on measured force.</a:t>
            </a:r>
            <a:endParaRPr sz="1100">
              <a:latin typeface="Arial"/>
              <a:ea typeface="Arial"/>
              <a:cs typeface="Arial"/>
              <a:sym typeface="Arial"/>
            </a:endParaRPr>
          </a:p>
        </p:txBody>
      </p:sp>
      <p:sp>
        <p:nvSpPr>
          <p:cNvPr id="78" name="Google Shape;78;p7"/>
          <p:cNvSpPr txBox="1"/>
          <p:nvPr/>
        </p:nvSpPr>
        <p:spPr>
          <a:xfrm>
            <a:off x="12006262" y="6546491"/>
            <a:ext cx="1522200" cy="528600"/>
          </a:xfrm>
          <a:prstGeom prst="rect">
            <a:avLst/>
          </a:prstGeom>
          <a:noFill/>
          <a:ln>
            <a:noFill/>
          </a:ln>
        </p:spPr>
        <p:txBody>
          <a:bodyPr anchorCtr="0" anchor="t" bIns="0" lIns="0" spcFirstLastPara="1" rIns="0" wrap="square" tIns="12050">
            <a:spAutoFit/>
          </a:bodyPr>
          <a:lstStyle/>
          <a:p>
            <a:pPr indent="0" lvl="0" marL="12700" marR="5080" rtl="0" algn="l">
              <a:lnSpc>
                <a:spcPct val="102499"/>
              </a:lnSpc>
              <a:spcBef>
                <a:spcPts val="0"/>
              </a:spcBef>
              <a:spcAft>
                <a:spcPts val="0"/>
              </a:spcAft>
              <a:buNone/>
            </a:pPr>
            <a:r>
              <a:rPr lang="en-US" sz="1100">
                <a:solidFill>
                  <a:srgbClr val="2E4D5D"/>
                </a:solidFill>
                <a:latin typeface="Arial"/>
                <a:ea typeface="Arial"/>
                <a:cs typeface="Arial"/>
                <a:sym typeface="Arial"/>
              </a:rPr>
              <a:t>However, adaptation </a:t>
            </a:r>
            <a:r>
              <a:rPr lang="en-US" sz="1100">
                <a:solidFill>
                  <a:srgbClr val="00AF50"/>
                </a:solidFill>
                <a:latin typeface="Arial"/>
                <a:ea typeface="Arial"/>
                <a:cs typeface="Arial"/>
                <a:sym typeface="Arial"/>
              </a:rPr>
              <a:t>reduces </a:t>
            </a:r>
            <a:r>
              <a:rPr lang="en-US" sz="1100">
                <a:solidFill>
                  <a:srgbClr val="2E4D5D"/>
                </a:solidFill>
                <a:latin typeface="Arial"/>
                <a:ea typeface="Arial"/>
                <a:cs typeface="Arial"/>
                <a:sym typeface="Arial"/>
              </a:rPr>
              <a:t>at least 50% of force violations.</a:t>
            </a:r>
            <a:endParaRPr sz="1100">
              <a:latin typeface="Arial"/>
              <a:ea typeface="Arial"/>
              <a:cs typeface="Arial"/>
              <a:sym typeface="Arial"/>
            </a:endParaRPr>
          </a:p>
        </p:txBody>
      </p:sp>
      <p:sp>
        <p:nvSpPr>
          <p:cNvPr id="79" name="Google Shape;79;p7"/>
          <p:cNvSpPr txBox="1"/>
          <p:nvPr/>
        </p:nvSpPr>
        <p:spPr>
          <a:xfrm>
            <a:off x="9523851" y="7273034"/>
            <a:ext cx="3981600" cy="5283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1100">
                <a:solidFill>
                  <a:srgbClr val="2E4D5D"/>
                </a:solidFill>
                <a:latin typeface="Arial"/>
                <a:ea typeface="Arial"/>
                <a:cs typeface="Arial"/>
                <a:sym typeface="Arial"/>
              </a:rPr>
              <a:t>Why are force violations still observed?</a:t>
            </a:r>
            <a:endParaRPr sz="1100">
              <a:latin typeface="Arial"/>
              <a:ea typeface="Arial"/>
              <a:cs typeface="Arial"/>
              <a:sym typeface="Arial"/>
            </a:endParaRPr>
          </a:p>
          <a:p>
            <a:pPr indent="0" lvl="0" marL="12700" marR="5080" rtl="0" algn="l">
              <a:lnSpc>
                <a:spcPct val="102499"/>
              </a:lnSpc>
              <a:spcBef>
                <a:spcPts val="0"/>
              </a:spcBef>
              <a:spcAft>
                <a:spcPts val="0"/>
              </a:spcAft>
              <a:buNone/>
            </a:pPr>
            <a:r>
              <a:rPr lang="en-US" sz="1100">
                <a:solidFill>
                  <a:srgbClr val="2E4D5D"/>
                </a:solidFill>
                <a:latin typeface="Arial"/>
                <a:ea typeface="Arial"/>
                <a:cs typeface="Arial"/>
                <a:sym typeface="Arial"/>
              </a:rPr>
              <a:t>They occur at profile summits when tool angle changes rapidly (angle adaptation does not consider material accumulation).</a:t>
            </a:r>
            <a:endParaRPr sz="1100">
              <a:latin typeface="Arial"/>
              <a:ea typeface="Arial"/>
              <a:cs typeface="Arial"/>
              <a:sym typeface="Arial"/>
            </a:endParaRPr>
          </a:p>
        </p:txBody>
      </p:sp>
      <p:sp>
        <p:nvSpPr>
          <p:cNvPr id="80" name="Google Shape;80;p7"/>
          <p:cNvSpPr txBox="1"/>
          <p:nvPr/>
        </p:nvSpPr>
        <p:spPr>
          <a:xfrm>
            <a:off x="5315752" y="4804639"/>
            <a:ext cx="7776900" cy="1667100"/>
          </a:xfrm>
          <a:prstGeom prst="rect">
            <a:avLst/>
          </a:prstGeom>
          <a:noFill/>
          <a:ln>
            <a:noFill/>
          </a:ln>
        </p:spPr>
        <p:txBody>
          <a:bodyPr anchorCtr="0" anchor="t" bIns="0" lIns="0" spcFirstLastPara="1" rIns="0" wrap="square" tIns="11425">
            <a:spAutoFit/>
          </a:bodyPr>
          <a:lstStyle/>
          <a:p>
            <a:pPr indent="0" lvl="0" marL="12700" marR="3298825" rtl="0" algn="l">
              <a:lnSpc>
                <a:spcPct val="101600"/>
              </a:lnSpc>
              <a:spcBef>
                <a:spcPts val="0"/>
              </a:spcBef>
              <a:spcAft>
                <a:spcPts val="0"/>
              </a:spcAft>
              <a:buNone/>
            </a:pPr>
            <a:r>
              <a:rPr b="1" lang="en-US" sz="1850">
                <a:solidFill>
                  <a:srgbClr val="2E4D5D"/>
                </a:solidFill>
                <a:latin typeface="Arial"/>
                <a:ea typeface="Arial"/>
                <a:cs typeface="Arial"/>
                <a:sym typeface="Arial"/>
              </a:rPr>
              <a:t>Tool insertion adaptation </a:t>
            </a:r>
            <a:r>
              <a:rPr lang="en-US" sz="1850">
                <a:solidFill>
                  <a:srgbClr val="2E4D5D"/>
                </a:solidFill>
                <a:latin typeface="Arial"/>
                <a:ea typeface="Arial"/>
                <a:cs typeface="Arial"/>
                <a:sym typeface="Arial"/>
              </a:rPr>
              <a:t>reduces force violations during tool-material interactions.</a:t>
            </a:r>
            <a:endParaRPr sz="1850">
              <a:latin typeface="Arial"/>
              <a:ea typeface="Arial"/>
              <a:cs typeface="Arial"/>
              <a:sym typeface="Arial"/>
            </a:endParaRPr>
          </a:p>
          <a:p>
            <a:pPr indent="0" lvl="0" marL="13970" marR="3934460" rtl="0" algn="l">
              <a:lnSpc>
                <a:spcPct val="102499"/>
              </a:lnSpc>
              <a:spcBef>
                <a:spcPts val="1315"/>
              </a:spcBef>
              <a:spcAft>
                <a:spcPts val="0"/>
              </a:spcAft>
              <a:buNone/>
            </a:pPr>
            <a:r>
              <a:rPr b="1" lang="en-US" sz="1100">
                <a:solidFill>
                  <a:srgbClr val="2E4D5D"/>
                </a:solidFill>
                <a:latin typeface="Arial"/>
                <a:ea typeface="Arial"/>
                <a:cs typeface="Arial"/>
                <a:sym typeface="Arial"/>
              </a:rPr>
              <a:t>Interaction forces </a:t>
            </a:r>
            <a:r>
              <a:rPr lang="en-US" sz="1100">
                <a:solidFill>
                  <a:srgbClr val="2E4D5D"/>
                </a:solidFill>
                <a:latin typeface="Arial"/>
                <a:ea typeface="Arial"/>
                <a:cs typeface="Arial"/>
                <a:sym typeface="Arial"/>
              </a:rPr>
              <a:t>may vary significantly during contact and even exceed the robot’s limits.</a:t>
            </a:r>
            <a:endParaRPr sz="1100">
              <a:latin typeface="Arial"/>
              <a:ea typeface="Arial"/>
              <a:cs typeface="Arial"/>
              <a:sym typeface="Arial"/>
            </a:endParaRPr>
          </a:p>
          <a:p>
            <a:pPr indent="0" lvl="0" marL="13970" marR="4018279" rtl="0" algn="l">
              <a:lnSpc>
                <a:spcPct val="122727"/>
              </a:lnSpc>
              <a:spcBef>
                <a:spcPts val="55"/>
              </a:spcBef>
              <a:spcAft>
                <a:spcPts val="0"/>
              </a:spcAft>
              <a:buNone/>
            </a:pPr>
            <a:r>
              <a:rPr b="1" lang="en-US" sz="1100">
                <a:solidFill>
                  <a:srgbClr val="2E4D5D"/>
                </a:solidFill>
                <a:latin typeface="Arial"/>
                <a:ea typeface="Arial"/>
                <a:cs typeface="Arial"/>
                <a:sym typeface="Arial"/>
              </a:rPr>
              <a:t>→ </a:t>
            </a:r>
            <a:r>
              <a:rPr lang="en-US" sz="1100">
                <a:solidFill>
                  <a:srgbClr val="2E4D5D"/>
                </a:solidFill>
                <a:latin typeface="Arial"/>
                <a:ea typeface="Arial"/>
                <a:cs typeface="Arial"/>
                <a:sym typeface="Arial"/>
              </a:rPr>
              <a:t>Tool insertion is regulated based on interaction force, allowing </a:t>
            </a:r>
            <a:r>
              <a:rPr b="1" lang="en-US" sz="1100">
                <a:solidFill>
                  <a:srgbClr val="2E4D5D"/>
                </a:solidFill>
                <a:latin typeface="Arial"/>
                <a:ea typeface="Arial"/>
                <a:cs typeface="Arial"/>
                <a:sym typeface="Arial"/>
              </a:rPr>
              <a:t>deviations from the desired profile </a:t>
            </a:r>
            <a:r>
              <a:rPr lang="en-US" sz="1100">
                <a:solidFill>
                  <a:srgbClr val="2E4D5D"/>
                </a:solidFill>
                <a:latin typeface="Arial"/>
                <a:ea typeface="Arial"/>
                <a:cs typeface="Arial"/>
                <a:sym typeface="Arial"/>
              </a:rPr>
              <a:t>if necessary.</a:t>
            </a:r>
            <a:endParaRPr sz="1100">
              <a:latin typeface="Arial"/>
              <a:ea typeface="Arial"/>
              <a:cs typeface="Arial"/>
              <a:sym typeface="Arial"/>
            </a:endParaRPr>
          </a:p>
          <a:p>
            <a:pPr indent="0" lvl="0" marL="4204970" rtl="0" algn="l">
              <a:lnSpc>
                <a:spcPct val="81818"/>
              </a:lnSpc>
              <a:spcBef>
                <a:spcPts val="0"/>
              </a:spcBef>
              <a:spcAft>
                <a:spcPts val="0"/>
              </a:spcAft>
              <a:buNone/>
            </a:pPr>
            <a:r>
              <a:rPr b="1" lang="en-US" sz="1100" u="sng">
                <a:solidFill>
                  <a:srgbClr val="2E4D5D"/>
                </a:solidFill>
                <a:latin typeface="Arial"/>
                <a:ea typeface="Arial"/>
                <a:cs typeface="Arial"/>
                <a:sym typeface="Arial"/>
              </a:rPr>
              <a:t>Results</a:t>
            </a:r>
            <a:r>
              <a:rPr b="1" lang="en-US" sz="1100" u="none">
                <a:solidFill>
                  <a:srgbClr val="2E4D5D"/>
                </a:solidFill>
                <a:latin typeface="Arial"/>
                <a:ea typeface="Arial"/>
                <a:cs typeface="Arial"/>
                <a:sym typeface="Arial"/>
              </a:rPr>
              <a:t>: </a:t>
            </a:r>
            <a:r>
              <a:rPr lang="en-US" sz="1100" u="none">
                <a:solidFill>
                  <a:srgbClr val="2E4D5D"/>
                </a:solidFill>
                <a:latin typeface="Arial"/>
                <a:ea typeface="Arial"/>
                <a:cs typeface="Arial"/>
                <a:sym typeface="Arial"/>
              </a:rPr>
              <a:t>The obtained profiles are geometrically similar.</a:t>
            </a:r>
            <a:endParaRPr sz="1100">
              <a:latin typeface="Arial"/>
              <a:ea typeface="Arial"/>
              <a:cs typeface="Arial"/>
              <a:sym typeface="Arial"/>
            </a:endParaRPr>
          </a:p>
        </p:txBody>
      </p:sp>
      <p:grpSp>
        <p:nvGrpSpPr>
          <p:cNvPr id="81" name="Google Shape;81;p7"/>
          <p:cNvGrpSpPr/>
          <p:nvPr/>
        </p:nvGrpSpPr>
        <p:grpSpPr>
          <a:xfrm>
            <a:off x="5082215" y="17137625"/>
            <a:ext cx="8630920" cy="1524000"/>
            <a:chOff x="5082215" y="17137625"/>
            <a:chExt cx="8630920" cy="1524000"/>
          </a:xfrm>
        </p:grpSpPr>
        <p:sp>
          <p:nvSpPr>
            <p:cNvPr id="82" name="Google Shape;82;p7"/>
            <p:cNvSpPr/>
            <p:nvPr/>
          </p:nvSpPr>
          <p:spPr>
            <a:xfrm>
              <a:off x="5082215" y="17137625"/>
              <a:ext cx="8630920" cy="1524000"/>
            </a:xfrm>
            <a:custGeom>
              <a:rect b="b" l="l" r="r" t="t"/>
              <a:pathLst>
                <a:path extrusionOk="0" h="1524000" w="8630919">
                  <a:moveTo>
                    <a:pt x="8376469" y="0"/>
                  </a:moveTo>
                  <a:lnTo>
                    <a:pt x="253991" y="0"/>
                  </a:lnTo>
                  <a:lnTo>
                    <a:pt x="208330" y="4093"/>
                  </a:lnTo>
                  <a:lnTo>
                    <a:pt x="165356" y="15894"/>
                  </a:lnTo>
                  <a:lnTo>
                    <a:pt x="125787" y="34685"/>
                  </a:lnTo>
                  <a:lnTo>
                    <a:pt x="90338" y="59747"/>
                  </a:lnTo>
                  <a:lnTo>
                    <a:pt x="59728" y="90363"/>
                  </a:lnTo>
                  <a:lnTo>
                    <a:pt x="34672" y="125813"/>
                  </a:lnTo>
                  <a:lnTo>
                    <a:pt x="15887" y="165380"/>
                  </a:lnTo>
                  <a:lnTo>
                    <a:pt x="4091" y="208346"/>
                  </a:lnTo>
                  <a:lnTo>
                    <a:pt x="0" y="253991"/>
                  </a:lnTo>
                  <a:lnTo>
                    <a:pt x="0" y="1269957"/>
                  </a:lnTo>
                  <a:lnTo>
                    <a:pt x="4091" y="1315600"/>
                  </a:lnTo>
                  <a:lnTo>
                    <a:pt x="15887" y="1358560"/>
                  </a:lnTo>
                  <a:lnTo>
                    <a:pt x="34672" y="1398119"/>
                  </a:lnTo>
                  <a:lnTo>
                    <a:pt x="59728" y="1433560"/>
                  </a:lnTo>
                  <a:lnTo>
                    <a:pt x="90338" y="1464166"/>
                  </a:lnTo>
                  <a:lnTo>
                    <a:pt x="125787" y="1489219"/>
                  </a:lnTo>
                  <a:lnTo>
                    <a:pt x="165356" y="1508002"/>
                  </a:lnTo>
                  <a:lnTo>
                    <a:pt x="208330" y="1519797"/>
                  </a:lnTo>
                  <a:lnTo>
                    <a:pt x="253991" y="1523889"/>
                  </a:lnTo>
                  <a:lnTo>
                    <a:pt x="8376469" y="1523889"/>
                  </a:lnTo>
                  <a:lnTo>
                    <a:pt x="8422114" y="1519797"/>
                  </a:lnTo>
                  <a:lnTo>
                    <a:pt x="8465080" y="1508002"/>
                  </a:lnTo>
                  <a:lnTo>
                    <a:pt x="8504647" y="1489219"/>
                  </a:lnTo>
                  <a:lnTo>
                    <a:pt x="8540097" y="1464166"/>
                  </a:lnTo>
                  <a:lnTo>
                    <a:pt x="8570713" y="1433560"/>
                  </a:lnTo>
                  <a:lnTo>
                    <a:pt x="8595775" y="1398119"/>
                  </a:lnTo>
                  <a:lnTo>
                    <a:pt x="8614566" y="1358560"/>
                  </a:lnTo>
                  <a:lnTo>
                    <a:pt x="8626367" y="1315600"/>
                  </a:lnTo>
                  <a:lnTo>
                    <a:pt x="8630460" y="1269957"/>
                  </a:lnTo>
                  <a:lnTo>
                    <a:pt x="8630460" y="253991"/>
                  </a:lnTo>
                  <a:lnTo>
                    <a:pt x="8626367" y="208346"/>
                  </a:lnTo>
                  <a:lnTo>
                    <a:pt x="8614566" y="165380"/>
                  </a:lnTo>
                  <a:lnTo>
                    <a:pt x="8595775" y="125813"/>
                  </a:lnTo>
                  <a:lnTo>
                    <a:pt x="8570713" y="90363"/>
                  </a:lnTo>
                  <a:lnTo>
                    <a:pt x="8540097" y="59747"/>
                  </a:lnTo>
                  <a:lnTo>
                    <a:pt x="8504647" y="34685"/>
                  </a:lnTo>
                  <a:lnTo>
                    <a:pt x="8465080" y="15894"/>
                  </a:lnTo>
                  <a:lnTo>
                    <a:pt x="8422114" y="4093"/>
                  </a:lnTo>
                  <a:lnTo>
                    <a:pt x="8376469" y="0"/>
                  </a:lnTo>
                  <a:close/>
                </a:path>
              </a:pathLst>
            </a:custGeom>
            <a:solidFill>
              <a:srgbClr val="E4EC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 name="Google Shape;83;p7"/>
            <p:cNvSpPr/>
            <p:nvPr/>
          </p:nvSpPr>
          <p:spPr>
            <a:xfrm>
              <a:off x="5082215" y="17137625"/>
              <a:ext cx="8630920" cy="1524000"/>
            </a:xfrm>
            <a:custGeom>
              <a:rect b="b" l="l" r="r" t="t"/>
              <a:pathLst>
                <a:path extrusionOk="0" h="1524000" w="8630919">
                  <a:moveTo>
                    <a:pt x="0" y="253991"/>
                  </a:moveTo>
                  <a:lnTo>
                    <a:pt x="4091" y="208346"/>
                  </a:lnTo>
                  <a:lnTo>
                    <a:pt x="15887" y="165380"/>
                  </a:lnTo>
                  <a:lnTo>
                    <a:pt x="34672" y="125813"/>
                  </a:lnTo>
                  <a:lnTo>
                    <a:pt x="59728" y="90363"/>
                  </a:lnTo>
                  <a:lnTo>
                    <a:pt x="90338" y="59747"/>
                  </a:lnTo>
                  <a:lnTo>
                    <a:pt x="125787" y="34685"/>
                  </a:lnTo>
                  <a:lnTo>
                    <a:pt x="165356" y="15894"/>
                  </a:lnTo>
                  <a:lnTo>
                    <a:pt x="208330" y="4093"/>
                  </a:lnTo>
                  <a:lnTo>
                    <a:pt x="253991" y="0"/>
                  </a:lnTo>
                  <a:lnTo>
                    <a:pt x="8376469" y="0"/>
                  </a:lnTo>
                  <a:lnTo>
                    <a:pt x="8422114" y="4093"/>
                  </a:lnTo>
                  <a:lnTo>
                    <a:pt x="8465080" y="15894"/>
                  </a:lnTo>
                  <a:lnTo>
                    <a:pt x="8504647" y="34685"/>
                  </a:lnTo>
                  <a:lnTo>
                    <a:pt x="8540097" y="59747"/>
                  </a:lnTo>
                  <a:lnTo>
                    <a:pt x="8570713" y="90363"/>
                  </a:lnTo>
                  <a:lnTo>
                    <a:pt x="8595775" y="125813"/>
                  </a:lnTo>
                  <a:lnTo>
                    <a:pt x="8614566" y="165380"/>
                  </a:lnTo>
                  <a:lnTo>
                    <a:pt x="8626367" y="208346"/>
                  </a:lnTo>
                  <a:lnTo>
                    <a:pt x="8630460" y="253991"/>
                  </a:lnTo>
                  <a:lnTo>
                    <a:pt x="8630460" y="1269957"/>
                  </a:lnTo>
                  <a:lnTo>
                    <a:pt x="8626367" y="1315600"/>
                  </a:lnTo>
                  <a:lnTo>
                    <a:pt x="8614566" y="1358560"/>
                  </a:lnTo>
                  <a:lnTo>
                    <a:pt x="8595775" y="1398119"/>
                  </a:lnTo>
                  <a:lnTo>
                    <a:pt x="8570713" y="1433560"/>
                  </a:lnTo>
                  <a:lnTo>
                    <a:pt x="8540097" y="1464166"/>
                  </a:lnTo>
                  <a:lnTo>
                    <a:pt x="8504647" y="1489219"/>
                  </a:lnTo>
                  <a:lnTo>
                    <a:pt x="8465080" y="1508002"/>
                  </a:lnTo>
                  <a:lnTo>
                    <a:pt x="8422114" y="1519797"/>
                  </a:lnTo>
                  <a:lnTo>
                    <a:pt x="8376469" y="1523889"/>
                  </a:lnTo>
                  <a:lnTo>
                    <a:pt x="253991" y="1523889"/>
                  </a:lnTo>
                  <a:lnTo>
                    <a:pt x="208330" y="1519797"/>
                  </a:lnTo>
                  <a:lnTo>
                    <a:pt x="165356" y="1508002"/>
                  </a:lnTo>
                  <a:lnTo>
                    <a:pt x="125787" y="1489219"/>
                  </a:lnTo>
                  <a:lnTo>
                    <a:pt x="90338" y="1464166"/>
                  </a:lnTo>
                  <a:lnTo>
                    <a:pt x="59728" y="1433560"/>
                  </a:lnTo>
                  <a:lnTo>
                    <a:pt x="34672" y="1398119"/>
                  </a:lnTo>
                  <a:lnTo>
                    <a:pt x="15887" y="1358560"/>
                  </a:lnTo>
                  <a:lnTo>
                    <a:pt x="4091" y="1315600"/>
                  </a:lnTo>
                  <a:lnTo>
                    <a:pt x="0" y="1269957"/>
                  </a:lnTo>
                  <a:lnTo>
                    <a:pt x="0" y="253991"/>
                  </a:lnTo>
                  <a:close/>
                </a:path>
              </a:pathLst>
            </a:custGeom>
            <a:noFill/>
            <a:ln cap="flat" cmpd="sng" w="9525">
              <a:solidFill>
                <a:srgbClr val="1D8DA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4" name="Google Shape;84;p7"/>
          <p:cNvSpPr txBox="1"/>
          <p:nvPr/>
        </p:nvSpPr>
        <p:spPr>
          <a:xfrm>
            <a:off x="5330187" y="17197996"/>
            <a:ext cx="7376159" cy="483870"/>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en-US" sz="1500">
                <a:solidFill>
                  <a:srgbClr val="2E4D5D"/>
                </a:solidFill>
                <a:latin typeface="Arial"/>
                <a:ea typeface="Arial"/>
                <a:cs typeface="Arial"/>
                <a:sym typeface="Arial"/>
              </a:rPr>
              <a:t>In short, we present a framework for </a:t>
            </a:r>
            <a:r>
              <a:rPr b="1" lang="en-US" sz="1500">
                <a:solidFill>
                  <a:srgbClr val="2E4D5D"/>
                </a:solidFill>
                <a:latin typeface="Arial"/>
                <a:ea typeface="Arial"/>
                <a:cs typeface="Arial"/>
                <a:sym typeface="Arial"/>
              </a:rPr>
              <a:t>iterative </a:t>
            </a:r>
            <a:r>
              <a:rPr lang="en-US" sz="1500">
                <a:solidFill>
                  <a:srgbClr val="2E4D5D"/>
                </a:solidFill>
                <a:latin typeface="Arial"/>
                <a:ea typeface="Arial"/>
                <a:cs typeface="Arial"/>
                <a:sym typeface="Arial"/>
              </a:rPr>
              <a:t>sand profile grading that employs </a:t>
            </a:r>
            <a:r>
              <a:rPr b="1" lang="en-US" sz="1500">
                <a:solidFill>
                  <a:srgbClr val="2E4D5D"/>
                </a:solidFill>
                <a:latin typeface="Arial"/>
                <a:ea typeface="Arial"/>
                <a:cs typeface="Arial"/>
                <a:sym typeface="Arial"/>
              </a:rPr>
              <a:t>simple adaptation rules </a:t>
            </a:r>
            <a:r>
              <a:rPr lang="en-US" sz="1500">
                <a:solidFill>
                  <a:srgbClr val="2E4D5D"/>
                </a:solidFill>
                <a:latin typeface="Arial"/>
                <a:ea typeface="Arial"/>
                <a:cs typeface="Arial"/>
                <a:sym typeface="Arial"/>
              </a:rPr>
              <a:t>relying on limited knowledge of the material behavior.</a:t>
            </a:r>
            <a:endParaRPr sz="1500">
              <a:latin typeface="Arial"/>
              <a:ea typeface="Arial"/>
              <a:cs typeface="Arial"/>
              <a:sym typeface="Arial"/>
            </a:endParaRPr>
          </a:p>
        </p:txBody>
      </p:sp>
      <p:sp>
        <p:nvSpPr>
          <p:cNvPr id="85" name="Google Shape;85;p7"/>
          <p:cNvSpPr txBox="1"/>
          <p:nvPr/>
        </p:nvSpPr>
        <p:spPr>
          <a:xfrm>
            <a:off x="5330187" y="17885170"/>
            <a:ext cx="7884795" cy="713105"/>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en-US" sz="1500">
                <a:solidFill>
                  <a:srgbClr val="2E4D5D"/>
                </a:solidFill>
                <a:latin typeface="Arial"/>
                <a:ea typeface="Arial"/>
                <a:cs typeface="Arial"/>
                <a:sym typeface="Arial"/>
              </a:rPr>
              <a:t>By extending this work with advanced </a:t>
            </a:r>
            <a:r>
              <a:rPr b="1" lang="en-US" sz="1500">
                <a:solidFill>
                  <a:srgbClr val="2E4D5D"/>
                </a:solidFill>
                <a:latin typeface="Arial"/>
                <a:ea typeface="Arial"/>
                <a:cs typeface="Arial"/>
                <a:sym typeface="Arial"/>
              </a:rPr>
              <a:t>high-level decision making</a:t>
            </a:r>
            <a:r>
              <a:rPr lang="en-US" sz="1500">
                <a:solidFill>
                  <a:srgbClr val="2E4D5D"/>
                </a:solidFill>
                <a:latin typeface="Arial"/>
                <a:ea typeface="Arial"/>
                <a:cs typeface="Arial"/>
                <a:sym typeface="Arial"/>
              </a:rPr>
              <a:t>, we envision the potential for </a:t>
            </a:r>
            <a:r>
              <a:rPr b="1" lang="en-US" sz="1500">
                <a:solidFill>
                  <a:srgbClr val="2E4D5D"/>
                </a:solidFill>
                <a:latin typeface="Arial"/>
                <a:ea typeface="Arial"/>
                <a:cs typeface="Arial"/>
                <a:sym typeface="Arial"/>
              </a:rPr>
              <a:t>generalizing </a:t>
            </a:r>
            <a:r>
              <a:rPr lang="en-US" sz="1500">
                <a:solidFill>
                  <a:srgbClr val="2E4D5D"/>
                </a:solidFill>
                <a:latin typeface="Arial"/>
                <a:ea typeface="Arial"/>
                <a:cs typeface="Arial"/>
                <a:sym typeface="Arial"/>
              </a:rPr>
              <a:t>to 2D surface grading and other amorphous materials manipulation tasks, automating a broader range of construction tasks.</a:t>
            </a:r>
            <a:endParaRPr sz="1500">
              <a:latin typeface="Arial"/>
              <a:ea typeface="Arial"/>
              <a:cs typeface="Arial"/>
              <a:sym typeface="Arial"/>
            </a:endParaRPr>
          </a:p>
        </p:txBody>
      </p:sp>
      <p:sp>
        <p:nvSpPr>
          <p:cNvPr id="86" name="Google Shape;86;p7"/>
          <p:cNvSpPr txBox="1"/>
          <p:nvPr/>
        </p:nvSpPr>
        <p:spPr>
          <a:xfrm>
            <a:off x="-869120" y="1742189"/>
            <a:ext cx="15921000" cy="2370900"/>
          </a:xfrm>
          <a:prstGeom prst="rect">
            <a:avLst/>
          </a:prstGeom>
          <a:noFill/>
          <a:ln>
            <a:noFill/>
          </a:ln>
        </p:spPr>
        <p:txBody>
          <a:bodyPr anchorCtr="0" anchor="t" bIns="0" lIns="0" spcFirstLastPara="1" rIns="0" wrap="square" tIns="12700">
            <a:spAutoFit/>
          </a:bodyPr>
          <a:lstStyle/>
          <a:p>
            <a:pPr indent="0" lvl="0" marL="12700" marR="5080" rtl="0" algn="ctr">
              <a:lnSpc>
                <a:spcPct val="100200"/>
              </a:lnSpc>
              <a:spcBef>
                <a:spcPts val="0"/>
              </a:spcBef>
              <a:spcAft>
                <a:spcPts val="0"/>
              </a:spcAft>
              <a:buNone/>
            </a:pPr>
            <a:r>
              <a:rPr b="1" lang="en-US" sz="5100">
                <a:solidFill>
                  <a:srgbClr val="00213B"/>
                </a:solidFill>
              </a:rPr>
              <a:t>Counterfactual Diagnosis of Robotic Grasp Failures under Perceptual and Geometric Degradation</a:t>
            </a:r>
            <a:endParaRPr sz="5100">
              <a:latin typeface="Arial"/>
              <a:ea typeface="Arial"/>
              <a:cs typeface="Arial"/>
              <a:sym typeface="Arial"/>
            </a:endParaRPr>
          </a:p>
        </p:txBody>
      </p:sp>
      <p:sp>
        <p:nvSpPr>
          <p:cNvPr id="87" name="Google Shape;87;p7"/>
          <p:cNvSpPr txBox="1"/>
          <p:nvPr/>
        </p:nvSpPr>
        <p:spPr>
          <a:xfrm>
            <a:off x="11095042" y="19185489"/>
            <a:ext cx="2912110" cy="741680"/>
          </a:xfrm>
          <a:prstGeom prst="rect">
            <a:avLst/>
          </a:prstGeom>
          <a:noFill/>
          <a:ln>
            <a:noFill/>
          </a:ln>
        </p:spPr>
        <p:txBody>
          <a:bodyPr anchorCtr="0" anchor="t" bIns="0" lIns="0" spcFirstLastPara="1" rIns="0" wrap="square" tIns="17125">
            <a:spAutoFit/>
          </a:bodyPr>
          <a:lstStyle/>
          <a:p>
            <a:pPr indent="0" lvl="0" marL="12700" marR="5080" rtl="0" algn="l">
              <a:lnSpc>
                <a:spcPct val="118947"/>
              </a:lnSpc>
              <a:spcBef>
                <a:spcPts val="0"/>
              </a:spcBef>
              <a:spcAft>
                <a:spcPts val="0"/>
              </a:spcAft>
              <a:buNone/>
            </a:pPr>
            <a:r>
              <a:rPr lang="en-US" sz="950">
                <a:solidFill>
                  <a:srgbClr val="FFFFFF"/>
                </a:solidFill>
                <a:latin typeface="Arial"/>
                <a:ea typeface="Arial"/>
                <a:cs typeface="Arial"/>
                <a:sym typeface="Arial"/>
              </a:rPr>
              <a:t>Funded by the European Union. Views and opinions expressed are however those of the author(s) only and do not necessarily reflect those of the European Union or HADEA. Neither the European Union nor the granting authority can be held responsible for them.</a:t>
            </a:r>
            <a:endParaRPr sz="950">
              <a:latin typeface="Arial"/>
              <a:ea typeface="Arial"/>
              <a:cs typeface="Arial"/>
              <a:sym typeface="Arial"/>
            </a:endParaRPr>
          </a:p>
        </p:txBody>
      </p:sp>
      <p:grpSp>
        <p:nvGrpSpPr>
          <p:cNvPr id="88" name="Google Shape;88;p7"/>
          <p:cNvGrpSpPr/>
          <p:nvPr/>
        </p:nvGrpSpPr>
        <p:grpSpPr>
          <a:xfrm>
            <a:off x="0" y="19031371"/>
            <a:ext cx="14220190" cy="1062990"/>
            <a:chOff x="0" y="19031371"/>
            <a:chExt cx="14220190" cy="1062990"/>
          </a:xfrm>
        </p:grpSpPr>
        <p:sp>
          <p:nvSpPr>
            <p:cNvPr id="89" name="Google Shape;89;p7"/>
            <p:cNvSpPr/>
            <p:nvPr/>
          </p:nvSpPr>
          <p:spPr>
            <a:xfrm>
              <a:off x="0" y="19031371"/>
              <a:ext cx="14220190" cy="1062990"/>
            </a:xfrm>
            <a:custGeom>
              <a:rect b="b" l="l" r="r" t="t"/>
              <a:pathLst>
                <a:path extrusionOk="0" h="1062990" w="14220190">
                  <a:moveTo>
                    <a:pt x="14219884" y="0"/>
                  </a:moveTo>
                  <a:lnTo>
                    <a:pt x="0" y="0"/>
                  </a:lnTo>
                  <a:lnTo>
                    <a:pt x="0" y="1062552"/>
                  </a:lnTo>
                  <a:lnTo>
                    <a:pt x="14219884" y="1062552"/>
                  </a:lnTo>
                  <a:lnTo>
                    <a:pt x="14219884" y="0"/>
                  </a:lnTo>
                  <a:close/>
                </a:path>
              </a:pathLst>
            </a:custGeom>
            <a:solidFill>
              <a:srgbClr val="10253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0" name="Google Shape;90;p7"/>
            <p:cNvSpPr/>
            <p:nvPr/>
          </p:nvSpPr>
          <p:spPr>
            <a:xfrm>
              <a:off x="0" y="19031371"/>
              <a:ext cx="14220190" cy="1062990"/>
            </a:xfrm>
            <a:custGeom>
              <a:rect b="b" l="l" r="r" t="t"/>
              <a:pathLst>
                <a:path extrusionOk="0" h="1062990" w="14220190">
                  <a:moveTo>
                    <a:pt x="0" y="1062552"/>
                  </a:moveTo>
                  <a:lnTo>
                    <a:pt x="14219884" y="1062552"/>
                  </a:lnTo>
                  <a:lnTo>
                    <a:pt x="14219884" y="0"/>
                  </a:lnTo>
                  <a:lnTo>
                    <a:pt x="0" y="0"/>
                  </a:lnTo>
                  <a:lnTo>
                    <a:pt x="0" y="1062552"/>
                  </a:lnTo>
                  <a:close/>
                </a:path>
              </a:pathLst>
            </a:custGeom>
            <a:solidFill>
              <a:srgbClr val="10253F"/>
            </a:solidFill>
            <a:ln cap="flat" cmpd="sng" w="9525">
              <a:solidFill>
                <a:srgbClr val="1D8DA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aphicFrame>
        <p:nvGraphicFramePr>
          <p:cNvPr id="91" name="Google Shape;91;p7"/>
          <p:cNvGraphicFramePr/>
          <p:nvPr/>
        </p:nvGraphicFramePr>
        <p:xfrm>
          <a:off x="9650423" y="6456742"/>
          <a:ext cx="3000000" cy="3000000"/>
        </p:xfrm>
        <a:graphic>
          <a:graphicData uri="http://schemas.openxmlformats.org/drawingml/2006/table">
            <a:tbl>
              <a:tblPr bandRow="1" firstRow="1">
                <a:noFill/>
                <a:tableStyleId>{80947832-A820-4495-9823-9954234973CC}</a:tableStyleId>
              </a:tblPr>
              <a:tblGrid>
                <a:gridCol w="871225"/>
                <a:gridCol w="332750"/>
                <a:gridCol w="367675"/>
                <a:gridCol w="322575"/>
                <a:gridCol w="354325"/>
              </a:tblGrid>
              <a:tr h="185425">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Configuration</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c gridSpan="4">
                  <a:txBody>
                    <a:bodyPr/>
                    <a:lstStyle/>
                    <a:p>
                      <a:pPr indent="0" lvl="0" marL="140335" marR="0" rtl="0" algn="l">
                        <a:lnSpc>
                          <a:spcPct val="100000"/>
                        </a:lnSpc>
                        <a:spcBef>
                          <a:spcPts val="0"/>
                        </a:spcBef>
                        <a:spcAft>
                          <a:spcPts val="0"/>
                        </a:spcAft>
                        <a:buNone/>
                      </a:pPr>
                      <a:r>
                        <a:rPr lang="en-US" sz="650" u="none" cap="none" strike="noStrike">
                          <a:solidFill>
                            <a:srgbClr val="2E4D5D"/>
                          </a:solidFill>
                          <a:latin typeface="Cambria Math"/>
                          <a:ea typeface="Cambria Math"/>
                          <a:cs typeface="Cambria Math"/>
                          <a:sym typeface="Cambria Math"/>
                        </a:rPr>
                        <a:t>𝐹</a:t>
                      </a:r>
                      <a:r>
                        <a:rPr baseline="-25000" lang="en-US" sz="675" u="none" cap="none" strike="noStrike">
                          <a:solidFill>
                            <a:srgbClr val="2E4D5D"/>
                          </a:solidFill>
                          <a:latin typeface="Cambria Math"/>
                          <a:ea typeface="Cambria Math"/>
                          <a:cs typeface="Cambria Math"/>
                          <a:sym typeface="Cambria Math"/>
                        </a:rPr>
                        <a:t>lim </a:t>
                      </a:r>
                      <a:r>
                        <a:rPr lang="en-US" sz="650" u="none" cap="none" strike="noStrike">
                          <a:solidFill>
                            <a:srgbClr val="2E4D5D"/>
                          </a:solidFill>
                          <a:latin typeface="Arial"/>
                          <a:ea typeface="Arial"/>
                          <a:cs typeface="Arial"/>
                          <a:sym typeface="Arial"/>
                        </a:rPr>
                        <a:t>= 30 N	</a:t>
                      </a:r>
                      <a:r>
                        <a:rPr lang="en-US" sz="650" u="none" cap="none" strike="noStrike">
                          <a:solidFill>
                            <a:srgbClr val="2E4D5D"/>
                          </a:solidFill>
                          <a:latin typeface="Cambria Math"/>
                          <a:ea typeface="Cambria Math"/>
                          <a:cs typeface="Cambria Math"/>
                          <a:sym typeface="Cambria Math"/>
                        </a:rPr>
                        <a:t>𝐹</a:t>
                      </a:r>
                      <a:r>
                        <a:rPr baseline="-25000" lang="en-US" sz="675" u="none" cap="none" strike="noStrike">
                          <a:solidFill>
                            <a:srgbClr val="2E4D5D"/>
                          </a:solidFill>
                          <a:latin typeface="Cambria Math"/>
                          <a:ea typeface="Cambria Math"/>
                          <a:cs typeface="Cambria Math"/>
                          <a:sym typeface="Cambria Math"/>
                        </a:rPr>
                        <a:t>lim </a:t>
                      </a:r>
                      <a:r>
                        <a:rPr lang="en-US" sz="650" u="none" cap="none" strike="noStrike">
                          <a:solidFill>
                            <a:srgbClr val="2E4D5D"/>
                          </a:solidFill>
                          <a:latin typeface="Arial"/>
                          <a:ea typeface="Arial"/>
                          <a:cs typeface="Arial"/>
                          <a:sym typeface="Arial"/>
                        </a:rPr>
                        <a:t>= 50 N</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lnB cap="flat" cmpd="sng" w="9525">
                      <a:solidFill>
                        <a:srgbClr val="17252D"/>
                      </a:solidFill>
                      <a:prstDash val="solid"/>
                      <a:round/>
                      <a:headEnd len="sm" w="sm" type="none"/>
                      <a:tailEnd len="sm" w="sm" type="none"/>
                    </a:lnB>
                    <a:solidFill>
                      <a:srgbClr val="E4ECF4"/>
                    </a:solidFill>
                  </a:tcPr>
                </a:tc>
                <a:tc hMerge="1"/>
                <a:tc hMerge="1"/>
                <a:tc hMerge="1"/>
              </a:tr>
              <a:tr h="185425">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Insertion Adaptation</a:t>
                      </a:r>
                      <a:endParaRPr sz="650" u="none" cap="none" strike="noStrike">
                        <a:latin typeface="Arial"/>
                        <a:ea typeface="Arial"/>
                        <a:cs typeface="Arial"/>
                        <a:sym typeface="Arial"/>
                      </a:endParaRPr>
                    </a:p>
                  </a:txBody>
                  <a:tcPr marT="412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11430" marR="0" rtl="0" algn="ctr">
                        <a:lnSpc>
                          <a:spcPct val="100000"/>
                        </a:lnSpc>
                        <a:spcBef>
                          <a:spcPts val="0"/>
                        </a:spcBef>
                        <a:spcAft>
                          <a:spcPts val="0"/>
                        </a:spcAft>
                        <a:buNone/>
                      </a:pPr>
                      <a:r>
                        <a:rPr lang="en-US" sz="650" u="none" cap="none" strike="noStrike">
                          <a:solidFill>
                            <a:srgbClr val="00AF50"/>
                          </a:solidFill>
                          <a:latin typeface="Arial"/>
                          <a:ea typeface="Arial"/>
                          <a:cs typeface="Arial"/>
                          <a:sym typeface="Arial"/>
                        </a:rPr>
                        <a:t>On</a:t>
                      </a:r>
                      <a:endParaRPr sz="650" u="none" cap="none" strike="noStrike">
                        <a:latin typeface="Arial"/>
                        <a:ea typeface="Arial"/>
                        <a:cs typeface="Arial"/>
                        <a:sym typeface="Arial"/>
                      </a:endParaRPr>
                    </a:p>
                  </a:txBody>
                  <a:tcPr marT="4127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Off</a:t>
                      </a:r>
                      <a:endParaRPr sz="650" u="none" cap="none" strike="noStrike">
                        <a:latin typeface="Arial"/>
                        <a:ea typeface="Arial"/>
                        <a:cs typeface="Arial"/>
                        <a:sym typeface="Arial"/>
                      </a:endParaRPr>
                    </a:p>
                  </a:txBody>
                  <a:tcPr marT="4127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00AF50"/>
                          </a:solidFill>
                          <a:latin typeface="Arial"/>
                          <a:ea typeface="Arial"/>
                          <a:cs typeface="Arial"/>
                          <a:sym typeface="Arial"/>
                        </a:rPr>
                        <a:t>On</a:t>
                      </a:r>
                      <a:endParaRPr sz="650" u="none" cap="none" strike="noStrike">
                        <a:latin typeface="Arial"/>
                        <a:ea typeface="Arial"/>
                        <a:cs typeface="Arial"/>
                        <a:sym typeface="Arial"/>
                      </a:endParaRPr>
                    </a:p>
                  </a:txBody>
                  <a:tcPr marT="4127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c>
                  <a:txBody>
                    <a:bodyPr/>
                    <a:lstStyle/>
                    <a:p>
                      <a:pPr indent="0" lvl="0" marL="1016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Off</a:t>
                      </a:r>
                      <a:endParaRPr sz="650" u="none" cap="none" strike="noStrike">
                        <a:latin typeface="Arial"/>
                        <a:ea typeface="Arial"/>
                        <a:cs typeface="Arial"/>
                        <a:sym typeface="Arial"/>
                      </a:endParaRPr>
                    </a:p>
                  </a:txBody>
                  <a:tcPr marT="41275" marB="0" marR="0" marL="0">
                    <a:lnT cap="flat" cmpd="sng" w="9525">
                      <a:solidFill>
                        <a:srgbClr val="17252D"/>
                      </a:solidFill>
                      <a:prstDash val="solid"/>
                      <a:round/>
                      <a:headEnd len="sm" w="sm" type="none"/>
                      <a:tailEnd len="sm" w="sm" type="none"/>
                    </a:lnT>
                    <a:lnB cap="flat" cmpd="sng" w="19050">
                      <a:solidFill>
                        <a:srgbClr val="17252D"/>
                      </a:solidFill>
                      <a:prstDash val="solid"/>
                      <a:round/>
                      <a:headEnd len="sm" w="sm" type="none"/>
                      <a:tailEnd len="sm" w="sm" type="none"/>
                    </a:lnB>
                    <a:solidFill>
                      <a:srgbClr val="E4ECF4"/>
                    </a:solidFill>
                  </a:tcPr>
                </a:tc>
              </a:tr>
              <a:tr h="187950">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Sand level S2</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1143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8.09</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18.28</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4.96</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c>
                  <a:txBody>
                    <a:bodyPr/>
                    <a:lstStyle/>
                    <a:p>
                      <a:pPr indent="0" lvl="0" marL="1016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9.88</a:t>
                      </a:r>
                      <a:endParaRPr sz="650" u="none" cap="none" strike="noStrike">
                        <a:latin typeface="Arial"/>
                        <a:ea typeface="Arial"/>
                        <a:cs typeface="Arial"/>
                        <a:sym typeface="Arial"/>
                      </a:endParaRPr>
                    </a:p>
                  </a:txBody>
                  <a:tcPr marT="41275" marB="0" marR="0" marL="0">
                    <a:lnT cap="flat" cmpd="sng" w="19050">
                      <a:solidFill>
                        <a:srgbClr val="17252D"/>
                      </a:solidFill>
                      <a:prstDash val="solid"/>
                      <a:round/>
                      <a:headEnd len="sm" w="sm" type="none"/>
                      <a:tailEnd len="sm" w="sm" type="none"/>
                    </a:lnT>
                    <a:solidFill>
                      <a:srgbClr val="E4ECF4"/>
                    </a:solidFill>
                  </a:tcPr>
                </a:tc>
              </a:tr>
              <a:tr h="183525">
                <a:tc>
                  <a:txBody>
                    <a:bodyPr/>
                    <a:lstStyle/>
                    <a:p>
                      <a:pPr indent="0" lvl="0" marL="43180" marR="0" rtl="0" algn="l">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Sand level S3</a:t>
                      </a:r>
                      <a:endParaRPr sz="650" u="none" cap="none" strike="noStrike">
                        <a:latin typeface="Arial"/>
                        <a:ea typeface="Arial"/>
                        <a:cs typeface="Arial"/>
                        <a:sym typeface="Arial"/>
                      </a:endParaRPr>
                    </a:p>
                  </a:txBody>
                  <a:tcPr marT="393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1143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6.86</a:t>
                      </a:r>
                      <a:endParaRPr sz="650" u="none" cap="none" strike="noStrike">
                        <a:latin typeface="Arial"/>
                        <a:ea typeface="Arial"/>
                        <a:cs typeface="Arial"/>
                        <a:sym typeface="Arial"/>
                      </a:endParaRPr>
                    </a:p>
                  </a:txBody>
                  <a:tcPr marT="393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21.25</a:t>
                      </a:r>
                      <a:endParaRPr sz="650" u="none" cap="none" strike="noStrike">
                        <a:latin typeface="Arial"/>
                        <a:ea typeface="Arial"/>
                        <a:cs typeface="Arial"/>
                        <a:sym typeface="Arial"/>
                      </a:endParaRPr>
                    </a:p>
                  </a:txBody>
                  <a:tcPr marT="393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4.68</a:t>
                      </a:r>
                      <a:endParaRPr sz="650" u="none" cap="none" strike="noStrike">
                        <a:latin typeface="Arial"/>
                        <a:ea typeface="Arial"/>
                        <a:cs typeface="Arial"/>
                        <a:sym typeface="Arial"/>
                      </a:endParaRPr>
                    </a:p>
                  </a:txBody>
                  <a:tcPr marT="39375" marB="0" marR="0" marL="0">
                    <a:lnB cap="flat" cmpd="sng" w="19050">
                      <a:solidFill>
                        <a:srgbClr val="17252D"/>
                      </a:solidFill>
                      <a:prstDash val="solid"/>
                      <a:round/>
                      <a:headEnd len="sm" w="sm" type="none"/>
                      <a:tailEnd len="sm" w="sm" type="none"/>
                    </a:lnB>
                    <a:solidFill>
                      <a:srgbClr val="E4ECF4"/>
                    </a:solidFill>
                  </a:tcPr>
                </a:tc>
                <a:tc>
                  <a:txBody>
                    <a:bodyPr/>
                    <a:lstStyle/>
                    <a:p>
                      <a:pPr indent="0" lvl="0" marL="10160" marR="0" rtl="0" algn="ctr">
                        <a:lnSpc>
                          <a:spcPct val="100000"/>
                        </a:lnSpc>
                        <a:spcBef>
                          <a:spcPts val="0"/>
                        </a:spcBef>
                        <a:spcAft>
                          <a:spcPts val="0"/>
                        </a:spcAft>
                        <a:buNone/>
                      </a:pPr>
                      <a:r>
                        <a:rPr lang="en-US" sz="650" u="none" cap="none" strike="noStrike">
                          <a:solidFill>
                            <a:srgbClr val="2E4D5D"/>
                          </a:solidFill>
                          <a:latin typeface="Arial"/>
                          <a:ea typeface="Arial"/>
                          <a:cs typeface="Arial"/>
                          <a:sym typeface="Arial"/>
                        </a:rPr>
                        <a:t>11.29</a:t>
                      </a:r>
                      <a:endParaRPr sz="650" u="none" cap="none" strike="noStrike">
                        <a:latin typeface="Arial"/>
                        <a:ea typeface="Arial"/>
                        <a:cs typeface="Arial"/>
                        <a:sym typeface="Arial"/>
                      </a:endParaRPr>
                    </a:p>
                  </a:txBody>
                  <a:tcPr marT="39375" marB="0" marR="0" marL="0">
                    <a:lnB cap="flat" cmpd="sng" w="19050">
                      <a:solidFill>
                        <a:srgbClr val="17252D"/>
                      </a:solidFill>
                      <a:prstDash val="solid"/>
                      <a:round/>
                      <a:headEnd len="sm" w="sm" type="none"/>
                      <a:tailEnd len="sm" w="sm" type="none"/>
                    </a:lnB>
                    <a:solidFill>
                      <a:srgbClr val="E4ECF4"/>
                    </a:solidFill>
                  </a:tcPr>
                </a:tc>
              </a:tr>
            </a:tbl>
          </a:graphicData>
        </a:graphic>
      </p:graphicFrame>
      <p:grpSp>
        <p:nvGrpSpPr>
          <p:cNvPr id="92" name="Google Shape;92;p7"/>
          <p:cNvGrpSpPr/>
          <p:nvPr/>
        </p:nvGrpSpPr>
        <p:grpSpPr>
          <a:xfrm>
            <a:off x="5082215" y="13673904"/>
            <a:ext cx="8630920" cy="3237865"/>
            <a:chOff x="5082215" y="13673904"/>
            <a:chExt cx="8630920" cy="3237865"/>
          </a:xfrm>
        </p:grpSpPr>
        <p:sp>
          <p:nvSpPr>
            <p:cNvPr id="93" name="Google Shape;93;p7"/>
            <p:cNvSpPr/>
            <p:nvPr/>
          </p:nvSpPr>
          <p:spPr>
            <a:xfrm>
              <a:off x="5082215" y="13673904"/>
              <a:ext cx="8630920" cy="3237865"/>
            </a:xfrm>
            <a:custGeom>
              <a:rect b="b" l="l" r="r" t="t"/>
              <a:pathLst>
                <a:path extrusionOk="0" h="3237865" w="8630919">
                  <a:moveTo>
                    <a:pt x="8090803" y="0"/>
                  </a:moveTo>
                  <a:lnTo>
                    <a:pt x="539597" y="0"/>
                  </a:lnTo>
                  <a:lnTo>
                    <a:pt x="490483" y="2205"/>
                  </a:lnTo>
                  <a:lnTo>
                    <a:pt x="442603" y="8693"/>
                  </a:lnTo>
                  <a:lnTo>
                    <a:pt x="396150" y="19274"/>
                  </a:lnTo>
                  <a:lnTo>
                    <a:pt x="351313" y="33758"/>
                  </a:lnTo>
                  <a:lnTo>
                    <a:pt x="308283" y="51953"/>
                  </a:lnTo>
                  <a:lnTo>
                    <a:pt x="267251" y="73670"/>
                  </a:lnTo>
                  <a:lnTo>
                    <a:pt x="228407" y="98718"/>
                  </a:lnTo>
                  <a:lnTo>
                    <a:pt x="191940" y="126905"/>
                  </a:lnTo>
                  <a:lnTo>
                    <a:pt x="158043" y="158043"/>
                  </a:lnTo>
                  <a:lnTo>
                    <a:pt x="126905" y="191940"/>
                  </a:lnTo>
                  <a:lnTo>
                    <a:pt x="98718" y="228407"/>
                  </a:lnTo>
                  <a:lnTo>
                    <a:pt x="73670" y="267251"/>
                  </a:lnTo>
                  <a:lnTo>
                    <a:pt x="51953" y="308283"/>
                  </a:lnTo>
                  <a:lnTo>
                    <a:pt x="33758" y="351313"/>
                  </a:lnTo>
                  <a:lnTo>
                    <a:pt x="19274" y="396150"/>
                  </a:lnTo>
                  <a:lnTo>
                    <a:pt x="8693" y="442603"/>
                  </a:lnTo>
                  <a:lnTo>
                    <a:pt x="2205" y="490483"/>
                  </a:lnTo>
                  <a:lnTo>
                    <a:pt x="0" y="539597"/>
                  </a:lnTo>
                  <a:lnTo>
                    <a:pt x="0" y="2698048"/>
                  </a:lnTo>
                  <a:lnTo>
                    <a:pt x="2205" y="2747162"/>
                  </a:lnTo>
                  <a:lnTo>
                    <a:pt x="8693" y="2795041"/>
                  </a:lnTo>
                  <a:lnTo>
                    <a:pt x="19274" y="2841495"/>
                  </a:lnTo>
                  <a:lnTo>
                    <a:pt x="33758" y="2886331"/>
                  </a:lnTo>
                  <a:lnTo>
                    <a:pt x="51953" y="2929361"/>
                  </a:lnTo>
                  <a:lnTo>
                    <a:pt x="73670" y="2970394"/>
                  </a:lnTo>
                  <a:lnTo>
                    <a:pt x="98718" y="3009238"/>
                  </a:lnTo>
                  <a:lnTo>
                    <a:pt x="126905" y="3045704"/>
                  </a:lnTo>
                  <a:lnTo>
                    <a:pt x="158043" y="3079601"/>
                  </a:lnTo>
                  <a:lnTo>
                    <a:pt x="191940" y="3110739"/>
                  </a:lnTo>
                  <a:lnTo>
                    <a:pt x="228407" y="3138927"/>
                  </a:lnTo>
                  <a:lnTo>
                    <a:pt x="267251" y="3163975"/>
                  </a:lnTo>
                  <a:lnTo>
                    <a:pt x="308283" y="3185691"/>
                  </a:lnTo>
                  <a:lnTo>
                    <a:pt x="351313" y="3203887"/>
                  </a:lnTo>
                  <a:lnTo>
                    <a:pt x="396150" y="3218370"/>
                  </a:lnTo>
                  <a:lnTo>
                    <a:pt x="442603" y="3228952"/>
                  </a:lnTo>
                  <a:lnTo>
                    <a:pt x="490483" y="3235440"/>
                  </a:lnTo>
                  <a:lnTo>
                    <a:pt x="539597" y="3237645"/>
                  </a:lnTo>
                  <a:lnTo>
                    <a:pt x="8090803" y="3237645"/>
                  </a:lnTo>
                  <a:lnTo>
                    <a:pt x="8139918" y="3235440"/>
                  </a:lnTo>
                  <a:lnTo>
                    <a:pt x="8187799" y="3228952"/>
                  </a:lnTo>
                  <a:lnTo>
                    <a:pt x="8234255" y="3218370"/>
                  </a:lnTo>
                  <a:lnTo>
                    <a:pt x="8279095" y="3203887"/>
                  </a:lnTo>
                  <a:lnTo>
                    <a:pt x="8322128" y="3185691"/>
                  </a:lnTo>
                  <a:lnTo>
                    <a:pt x="8363165" y="3163975"/>
                  </a:lnTo>
                  <a:lnTo>
                    <a:pt x="8402014" y="3138927"/>
                  </a:lnTo>
                  <a:lnTo>
                    <a:pt x="8438485" y="3110739"/>
                  </a:lnTo>
                  <a:lnTo>
                    <a:pt x="8472387" y="3079601"/>
                  </a:lnTo>
                  <a:lnTo>
                    <a:pt x="8503530" y="3045704"/>
                  </a:lnTo>
                  <a:lnTo>
                    <a:pt x="8531722" y="3009238"/>
                  </a:lnTo>
                  <a:lnTo>
                    <a:pt x="8556775" y="2970394"/>
                  </a:lnTo>
                  <a:lnTo>
                    <a:pt x="8578495" y="2929361"/>
                  </a:lnTo>
                  <a:lnTo>
                    <a:pt x="8596695" y="2886331"/>
                  </a:lnTo>
                  <a:lnTo>
                    <a:pt x="8611181" y="2841495"/>
                  </a:lnTo>
                  <a:lnTo>
                    <a:pt x="8621765" y="2795041"/>
                  </a:lnTo>
                  <a:lnTo>
                    <a:pt x="8628255" y="2747162"/>
                  </a:lnTo>
                  <a:lnTo>
                    <a:pt x="8630460" y="2698048"/>
                  </a:lnTo>
                  <a:lnTo>
                    <a:pt x="8630460" y="539597"/>
                  </a:lnTo>
                  <a:lnTo>
                    <a:pt x="8628255" y="490483"/>
                  </a:lnTo>
                  <a:lnTo>
                    <a:pt x="8621765" y="442603"/>
                  </a:lnTo>
                  <a:lnTo>
                    <a:pt x="8611181" y="396150"/>
                  </a:lnTo>
                  <a:lnTo>
                    <a:pt x="8596695" y="351313"/>
                  </a:lnTo>
                  <a:lnTo>
                    <a:pt x="8578495" y="308283"/>
                  </a:lnTo>
                  <a:lnTo>
                    <a:pt x="8556775" y="267251"/>
                  </a:lnTo>
                  <a:lnTo>
                    <a:pt x="8531722" y="228407"/>
                  </a:lnTo>
                  <a:lnTo>
                    <a:pt x="8503530" y="191940"/>
                  </a:lnTo>
                  <a:lnTo>
                    <a:pt x="8472387" y="158043"/>
                  </a:lnTo>
                  <a:lnTo>
                    <a:pt x="8438485" y="126905"/>
                  </a:lnTo>
                  <a:lnTo>
                    <a:pt x="8402014" y="98718"/>
                  </a:lnTo>
                  <a:lnTo>
                    <a:pt x="8363165" y="73670"/>
                  </a:lnTo>
                  <a:lnTo>
                    <a:pt x="8322128" y="51953"/>
                  </a:lnTo>
                  <a:lnTo>
                    <a:pt x="8279095" y="33758"/>
                  </a:lnTo>
                  <a:lnTo>
                    <a:pt x="8234255" y="19274"/>
                  </a:lnTo>
                  <a:lnTo>
                    <a:pt x="8187799" y="8693"/>
                  </a:lnTo>
                  <a:lnTo>
                    <a:pt x="8139918" y="2205"/>
                  </a:lnTo>
                  <a:lnTo>
                    <a:pt x="8090803" y="0"/>
                  </a:lnTo>
                  <a:close/>
                </a:path>
              </a:pathLst>
            </a:custGeom>
            <a:solidFill>
              <a:srgbClr val="E4EC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 name="Google Shape;94;p7"/>
            <p:cNvSpPr/>
            <p:nvPr/>
          </p:nvSpPr>
          <p:spPr>
            <a:xfrm>
              <a:off x="5082215" y="13673904"/>
              <a:ext cx="8630920" cy="3237865"/>
            </a:xfrm>
            <a:custGeom>
              <a:rect b="b" l="l" r="r" t="t"/>
              <a:pathLst>
                <a:path extrusionOk="0" h="3237865" w="8630919">
                  <a:moveTo>
                    <a:pt x="0" y="539597"/>
                  </a:moveTo>
                  <a:lnTo>
                    <a:pt x="2205" y="490483"/>
                  </a:lnTo>
                  <a:lnTo>
                    <a:pt x="8693" y="442603"/>
                  </a:lnTo>
                  <a:lnTo>
                    <a:pt x="19274" y="396150"/>
                  </a:lnTo>
                  <a:lnTo>
                    <a:pt x="33758" y="351313"/>
                  </a:lnTo>
                  <a:lnTo>
                    <a:pt x="51953" y="308283"/>
                  </a:lnTo>
                  <a:lnTo>
                    <a:pt x="73670" y="267251"/>
                  </a:lnTo>
                  <a:lnTo>
                    <a:pt x="98718" y="228407"/>
                  </a:lnTo>
                  <a:lnTo>
                    <a:pt x="126905" y="191940"/>
                  </a:lnTo>
                  <a:lnTo>
                    <a:pt x="158043" y="158043"/>
                  </a:lnTo>
                  <a:lnTo>
                    <a:pt x="191940" y="126905"/>
                  </a:lnTo>
                  <a:lnTo>
                    <a:pt x="228407" y="98718"/>
                  </a:lnTo>
                  <a:lnTo>
                    <a:pt x="267251" y="73670"/>
                  </a:lnTo>
                  <a:lnTo>
                    <a:pt x="308283" y="51953"/>
                  </a:lnTo>
                  <a:lnTo>
                    <a:pt x="351313" y="33758"/>
                  </a:lnTo>
                  <a:lnTo>
                    <a:pt x="396150" y="19274"/>
                  </a:lnTo>
                  <a:lnTo>
                    <a:pt x="442603" y="8693"/>
                  </a:lnTo>
                  <a:lnTo>
                    <a:pt x="490483" y="2205"/>
                  </a:lnTo>
                  <a:lnTo>
                    <a:pt x="539597" y="0"/>
                  </a:lnTo>
                  <a:lnTo>
                    <a:pt x="8090803" y="0"/>
                  </a:lnTo>
                  <a:lnTo>
                    <a:pt x="8139918" y="2205"/>
                  </a:lnTo>
                  <a:lnTo>
                    <a:pt x="8187799" y="8693"/>
                  </a:lnTo>
                  <a:lnTo>
                    <a:pt x="8234255" y="19274"/>
                  </a:lnTo>
                  <a:lnTo>
                    <a:pt x="8279095" y="33758"/>
                  </a:lnTo>
                  <a:lnTo>
                    <a:pt x="8322128" y="51953"/>
                  </a:lnTo>
                  <a:lnTo>
                    <a:pt x="8363165" y="73670"/>
                  </a:lnTo>
                  <a:lnTo>
                    <a:pt x="8402014" y="98718"/>
                  </a:lnTo>
                  <a:lnTo>
                    <a:pt x="8438485" y="126905"/>
                  </a:lnTo>
                  <a:lnTo>
                    <a:pt x="8472387" y="158043"/>
                  </a:lnTo>
                  <a:lnTo>
                    <a:pt x="8503530" y="191940"/>
                  </a:lnTo>
                  <a:lnTo>
                    <a:pt x="8531722" y="228407"/>
                  </a:lnTo>
                  <a:lnTo>
                    <a:pt x="8556775" y="267251"/>
                  </a:lnTo>
                  <a:lnTo>
                    <a:pt x="8578495" y="308283"/>
                  </a:lnTo>
                  <a:lnTo>
                    <a:pt x="8596695" y="351313"/>
                  </a:lnTo>
                  <a:lnTo>
                    <a:pt x="8611181" y="396150"/>
                  </a:lnTo>
                  <a:lnTo>
                    <a:pt x="8621765" y="442603"/>
                  </a:lnTo>
                  <a:lnTo>
                    <a:pt x="8628255" y="490483"/>
                  </a:lnTo>
                  <a:lnTo>
                    <a:pt x="8630460" y="539597"/>
                  </a:lnTo>
                  <a:lnTo>
                    <a:pt x="8630460" y="2698048"/>
                  </a:lnTo>
                  <a:lnTo>
                    <a:pt x="8628255" y="2747162"/>
                  </a:lnTo>
                  <a:lnTo>
                    <a:pt x="8621765" y="2795041"/>
                  </a:lnTo>
                  <a:lnTo>
                    <a:pt x="8611181" y="2841495"/>
                  </a:lnTo>
                  <a:lnTo>
                    <a:pt x="8596695" y="2886331"/>
                  </a:lnTo>
                  <a:lnTo>
                    <a:pt x="8578495" y="2929361"/>
                  </a:lnTo>
                  <a:lnTo>
                    <a:pt x="8556775" y="2970394"/>
                  </a:lnTo>
                  <a:lnTo>
                    <a:pt x="8531722" y="3009238"/>
                  </a:lnTo>
                  <a:lnTo>
                    <a:pt x="8503530" y="3045704"/>
                  </a:lnTo>
                  <a:lnTo>
                    <a:pt x="8472387" y="3079601"/>
                  </a:lnTo>
                  <a:lnTo>
                    <a:pt x="8438485" y="3110739"/>
                  </a:lnTo>
                  <a:lnTo>
                    <a:pt x="8402014" y="3138927"/>
                  </a:lnTo>
                  <a:lnTo>
                    <a:pt x="8363165" y="3163975"/>
                  </a:lnTo>
                  <a:lnTo>
                    <a:pt x="8322128" y="3185691"/>
                  </a:lnTo>
                  <a:lnTo>
                    <a:pt x="8279095" y="3203887"/>
                  </a:lnTo>
                  <a:lnTo>
                    <a:pt x="8234255" y="3218370"/>
                  </a:lnTo>
                  <a:lnTo>
                    <a:pt x="8187799" y="3228952"/>
                  </a:lnTo>
                  <a:lnTo>
                    <a:pt x="8139918" y="3235440"/>
                  </a:lnTo>
                  <a:lnTo>
                    <a:pt x="8090803" y="3237645"/>
                  </a:lnTo>
                  <a:lnTo>
                    <a:pt x="539597" y="3237645"/>
                  </a:lnTo>
                  <a:lnTo>
                    <a:pt x="490483" y="3235440"/>
                  </a:lnTo>
                  <a:lnTo>
                    <a:pt x="442603" y="3228952"/>
                  </a:lnTo>
                  <a:lnTo>
                    <a:pt x="396150" y="3218370"/>
                  </a:lnTo>
                  <a:lnTo>
                    <a:pt x="351313" y="3203887"/>
                  </a:lnTo>
                  <a:lnTo>
                    <a:pt x="308283" y="3185691"/>
                  </a:lnTo>
                  <a:lnTo>
                    <a:pt x="267251" y="3163975"/>
                  </a:lnTo>
                  <a:lnTo>
                    <a:pt x="228407" y="3138927"/>
                  </a:lnTo>
                  <a:lnTo>
                    <a:pt x="191940" y="3110739"/>
                  </a:lnTo>
                  <a:lnTo>
                    <a:pt x="158043" y="3079601"/>
                  </a:lnTo>
                  <a:lnTo>
                    <a:pt x="126905" y="3045704"/>
                  </a:lnTo>
                  <a:lnTo>
                    <a:pt x="98718" y="3009238"/>
                  </a:lnTo>
                  <a:lnTo>
                    <a:pt x="73670" y="2970394"/>
                  </a:lnTo>
                  <a:lnTo>
                    <a:pt x="51953" y="2929361"/>
                  </a:lnTo>
                  <a:lnTo>
                    <a:pt x="33758" y="2886331"/>
                  </a:lnTo>
                  <a:lnTo>
                    <a:pt x="19274" y="2841495"/>
                  </a:lnTo>
                  <a:lnTo>
                    <a:pt x="8693" y="2795041"/>
                  </a:lnTo>
                  <a:lnTo>
                    <a:pt x="2205" y="2747162"/>
                  </a:lnTo>
                  <a:lnTo>
                    <a:pt x="0" y="2698048"/>
                  </a:lnTo>
                  <a:lnTo>
                    <a:pt x="0" y="539597"/>
                  </a:lnTo>
                  <a:close/>
                </a:path>
              </a:pathLst>
            </a:custGeom>
            <a:noFill/>
            <a:ln cap="flat" cmpd="sng" w="9525">
              <a:solidFill>
                <a:srgbClr val="1D8DA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screenshot of a graph  AI-generated content may be incorrect." id="95" name="Google Shape;95;p7"/>
            <p:cNvPicPr preferRelativeResize="0"/>
            <p:nvPr/>
          </p:nvPicPr>
          <p:blipFill rotWithShape="1">
            <a:blip r:embed="rId6">
              <a:alphaModFix/>
            </a:blip>
            <a:srcRect b="0" l="0" r="0" t="0"/>
            <a:stretch/>
          </p:blipFill>
          <p:spPr>
            <a:xfrm>
              <a:off x="5287174" y="13924436"/>
              <a:ext cx="4968163" cy="2736582"/>
            </a:xfrm>
            <a:prstGeom prst="rect">
              <a:avLst/>
            </a:prstGeom>
            <a:noFill/>
            <a:ln>
              <a:noFill/>
            </a:ln>
          </p:spPr>
        </p:pic>
      </p:grpSp>
      <p:sp>
        <p:nvSpPr>
          <p:cNvPr id="96" name="Google Shape;96;p7"/>
          <p:cNvSpPr txBox="1"/>
          <p:nvPr/>
        </p:nvSpPr>
        <p:spPr>
          <a:xfrm>
            <a:off x="10344282" y="13769863"/>
            <a:ext cx="3119120" cy="3055620"/>
          </a:xfrm>
          <a:prstGeom prst="rect">
            <a:avLst/>
          </a:prstGeom>
          <a:noFill/>
          <a:ln>
            <a:noFill/>
          </a:ln>
        </p:spPr>
        <p:txBody>
          <a:bodyPr anchorCtr="0" anchor="t" bIns="0" lIns="0" spcFirstLastPara="1" rIns="0" wrap="square" tIns="11425">
            <a:spAutoFit/>
          </a:bodyPr>
          <a:lstStyle/>
          <a:p>
            <a:pPr indent="0" lvl="0" marL="70485" marR="123189" rtl="0" algn="l">
              <a:lnSpc>
                <a:spcPct val="101600"/>
              </a:lnSpc>
              <a:spcBef>
                <a:spcPts val="0"/>
              </a:spcBef>
              <a:spcAft>
                <a:spcPts val="0"/>
              </a:spcAft>
              <a:buNone/>
            </a:pPr>
            <a:r>
              <a:rPr lang="en-US" sz="1850">
                <a:solidFill>
                  <a:srgbClr val="2E4D5D"/>
                </a:solidFill>
                <a:latin typeface="Arial"/>
                <a:ea typeface="Arial"/>
                <a:cs typeface="Arial"/>
                <a:sym typeface="Arial"/>
              </a:rPr>
              <a:t>Grading quality is limited by </a:t>
            </a:r>
            <a:r>
              <a:rPr b="1" lang="en-US" sz="1850">
                <a:solidFill>
                  <a:srgbClr val="2E4D5D"/>
                </a:solidFill>
                <a:latin typeface="Arial"/>
                <a:ea typeface="Arial"/>
                <a:cs typeface="Arial"/>
                <a:sym typeface="Arial"/>
              </a:rPr>
              <a:t>material constraints </a:t>
            </a:r>
            <a:r>
              <a:rPr lang="en-US" sz="1850">
                <a:solidFill>
                  <a:srgbClr val="2E4D5D"/>
                </a:solidFill>
                <a:latin typeface="Arial"/>
                <a:ea typeface="Arial"/>
                <a:cs typeface="Arial"/>
                <a:sym typeface="Arial"/>
              </a:rPr>
              <a:t>and </a:t>
            </a:r>
            <a:r>
              <a:rPr b="1" lang="en-US" sz="1850">
                <a:solidFill>
                  <a:srgbClr val="2E4D5D"/>
                </a:solidFill>
                <a:latin typeface="Arial"/>
                <a:ea typeface="Arial"/>
                <a:cs typeface="Arial"/>
                <a:sym typeface="Arial"/>
              </a:rPr>
              <a:t>emergences</a:t>
            </a:r>
            <a:r>
              <a:rPr lang="en-US" sz="1850">
                <a:solidFill>
                  <a:srgbClr val="2E4D5D"/>
                </a:solidFill>
                <a:latin typeface="Arial"/>
                <a:ea typeface="Arial"/>
                <a:cs typeface="Arial"/>
                <a:sym typeface="Arial"/>
              </a:rPr>
              <a:t>.</a:t>
            </a:r>
            <a:endParaRPr sz="1850">
              <a:latin typeface="Arial"/>
              <a:ea typeface="Arial"/>
              <a:cs typeface="Arial"/>
              <a:sym typeface="Arial"/>
            </a:endParaRPr>
          </a:p>
          <a:p>
            <a:pPr indent="-158115" lvl="0" marL="170180" marR="5080" rtl="0" algn="just">
              <a:lnSpc>
                <a:spcPct val="102499"/>
              </a:lnSpc>
              <a:spcBef>
                <a:spcPts val="860"/>
              </a:spcBef>
              <a:spcAft>
                <a:spcPts val="0"/>
              </a:spcAft>
              <a:buClr>
                <a:srgbClr val="2E4D5D"/>
              </a:buClr>
              <a:buSzPts val="1100"/>
              <a:buFont typeface="Arial"/>
              <a:buChar char="•"/>
            </a:pPr>
            <a:r>
              <a:rPr lang="en-US" sz="1100">
                <a:solidFill>
                  <a:srgbClr val="2E4D5D"/>
                </a:solidFill>
                <a:latin typeface="Arial"/>
                <a:ea typeface="Arial"/>
                <a:cs typeface="Arial"/>
                <a:sym typeface="Arial"/>
              </a:rPr>
              <a:t>The material itself imposes constraints, such 	as  the  </a:t>
            </a:r>
            <a:r>
              <a:rPr b="1" lang="en-US" sz="1100">
                <a:solidFill>
                  <a:srgbClr val="2E4D5D"/>
                </a:solidFill>
                <a:latin typeface="Arial"/>
                <a:ea typeface="Arial"/>
                <a:cs typeface="Arial"/>
                <a:sym typeface="Arial"/>
              </a:rPr>
              <a:t>repose  angle  </a:t>
            </a:r>
            <a:r>
              <a:rPr lang="en-US" sz="1100">
                <a:solidFill>
                  <a:srgbClr val="2E4D5D"/>
                </a:solidFill>
                <a:latin typeface="Arial"/>
                <a:ea typeface="Arial"/>
                <a:cs typeface="Arial"/>
                <a:sym typeface="Arial"/>
              </a:rPr>
              <a:t>(material  stability). 	Wetter sand can be graded steeper than dry 	sand.</a:t>
            </a:r>
            <a:endParaRPr sz="1100">
              <a:latin typeface="Arial"/>
              <a:ea typeface="Arial"/>
              <a:cs typeface="Arial"/>
              <a:sym typeface="Arial"/>
            </a:endParaRPr>
          </a:p>
          <a:p>
            <a:pPr indent="-158115" lvl="0" marL="170180" marR="5080" rtl="0" algn="just">
              <a:lnSpc>
                <a:spcPct val="102499"/>
              </a:lnSpc>
              <a:spcBef>
                <a:spcPts val="0"/>
              </a:spcBef>
              <a:spcAft>
                <a:spcPts val="0"/>
              </a:spcAft>
              <a:buClr>
                <a:srgbClr val="2E4D5D"/>
              </a:buClr>
              <a:buSzPts val="1100"/>
              <a:buFont typeface="Arial"/>
              <a:buChar char="•"/>
            </a:pPr>
            <a:r>
              <a:rPr b="1" lang="en-US" sz="1100">
                <a:solidFill>
                  <a:srgbClr val="2E4D5D"/>
                </a:solidFill>
                <a:latin typeface="Arial"/>
                <a:ea typeface="Arial"/>
                <a:cs typeface="Arial"/>
                <a:sym typeface="Arial"/>
              </a:rPr>
              <a:t>Emergent  effects  </a:t>
            </a:r>
            <a:r>
              <a:rPr lang="en-US" sz="1100">
                <a:solidFill>
                  <a:srgbClr val="2E4D5D"/>
                </a:solidFill>
                <a:latin typeface="Arial"/>
                <a:ea typeface="Arial"/>
                <a:cs typeface="Arial"/>
                <a:sym typeface="Arial"/>
              </a:rPr>
              <a:t>such  as  Collapses  or 	Accumulation Shifts (Fig. (a) and (b)) occur 	when grading complex profiles. Those effects 	</a:t>
            </a:r>
            <a:r>
              <a:rPr b="1" lang="en-US" sz="1100">
                <a:solidFill>
                  <a:srgbClr val="2E4D5D"/>
                </a:solidFill>
                <a:latin typeface="Arial"/>
                <a:ea typeface="Arial"/>
                <a:cs typeface="Arial"/>
                <a:sym typeface="Arial"/>
              </a:rPr>
              <a:t>can not be resolved</a:t>
            </a:r>
            <a:r>
              <a:rPr lang="en-US" sz="1100">
                <a:solidFill>
                  <a:srgbClr val="2E4D5D"/>
                </a:solidFill>
                <a:latin typeface="Arial"/>
                <a:ea typeface="Arial"/>
                <a:cs typeface="Arial"/>
                <a:sym typeface="Arial"/>
              </a:rPr>
              <a:t>, resulting in significant 	deviations from the desired profile. </a:t>
            </a:r>
            <a:r>
              <a:rPr lang="en-US" sz="1100">
                <a:solidFill>
                  <a:srgbClr val="2E4D5D"/>
                </a:solidFill>
                <a:latin typeface="Noto Sans Symbols"/>
                <a:ea typeface="Noto Sans Symbols"/>
                <a:cs typeface="Noto Sans Symbols"/>
                <a:sym typeface="Noto Sans Symbols"/>
              </a:rPr>
              <a:t>🡺</a:t>
            </a:r>
            <a:r>
              <a:rPr lang="en-US" sz="1100">
                <a:solidFill>
                  <a:srgbClr val="2E4D5D"/>
                </a:solidFill>
                <a:latin typeface="Times New Roman"/>
                <a:ea typeface="Times New Roman"/>
                <a:cs typeface="Times New Roman"/>
                <a:sym typeface="Times New Roman"/>
              </a:rPr>
              <a:t> </a:t>
            </a:r>
            <a:r>
              <a:rPr lang="en-US" sz="1100">
                <a:solidFill>
                  <a:srgbClr val="2E4D5D"/>
                </a:solidFill>
                <a:latin typeface="Arial"/>
                <a:ea typeface="Arial"/>
                <a:cs typeface="Arial"/>
                <a:sym typeface="Arial"/>
              </a:rPr>
              <a:t>Future 	work:  emergence  handling  mechanisms  or 	monitors  to  adapt  world  model  and  robot 	capabilities for next executions.</a:t>
            </a:r>
            <a:endParaRPr sz="1100">
              <a:latin typeface="Arial"/>
              <a:ea typeface="Arial"/>
              <a:cs typeface="Arial"/>
              <a:sym typeface="Arial"/>
            </a:endParaRPr>
          </a:p>
        </p:txBody>
      </p:sp>
      <p:grpSp>
        <p:nvGrpSpPr>
          <p:cNvPr id="97" name="Google Shape;97;p7"/>
          <p:cNvGrpSpPr/>
          <p:nvPr/>
        </p:nvGrpSpPr>
        <p:grpSpPr>
          <a:xfrm>
            <a:off x="507261" y="7820110"/>
            <a:ext cx="4330700" cy="6092190"/>
            <a:chOff x="507261" y="7820110"/>
            <a:chExt cx="4330700" cy="6092190"/>
          </a:xfrm>
        </p:grpSpPr>
        <p:sp>
          <p:nvSpPr>
            <p:cNvPr id="98" name="Google Shape;98;p7"/>
            <p:cNvSpPr/>
            <p:nvPr/>
          </p:nvSpPr>
          <p:spPr>
            <a:xfrm>
              <a:off x="507261" y="7820110"/>
              <a:ext cx="4330700" cy="6092190"/>
            </a:xfrm>
            <a:custGeom>
              <a:rect b="b" l="l" r="r" t="t"/>
              <a:pathLst>
                <a:path extrusionOk="0" h="6092190" w="4330700">
                  <a:moveTo>
                    <a:pt x="3902932" y="0"/>
                  </a:moveTo>
                  <a:lnTo>
                    <a:pt x="427759" y="0"/>
                  </a:lnTo>
                  <a:lnTo>
                    <a:pt x="381144" y="2510"/>
                  </a:lnTo>
                  <a:lnTo>
                    <a:pt x="335985" y="9867"/>
                  </a:lnTo>
                  <a:lnTo>
                    <a:pt x="292542" y="21809"/>
                  </a:lnTo>
                  <a:lnTo>
                    <a:pt x="251076" y="38076"/>
                  </a:lnTo>
                  <a:lnTo>
                    <a:pt x="211847" y="58406"/>
                  </a:lnTo>
                  <a:lnTo>
                    <a:pt x="175116" y="82538"/>
                  </a:lnTo>
                  <a:lnTo>
                    <a:pt x="141145" y="110212"/>
                  </a:lnTo>
                  <a:lnTo>
                    <a:pt x="110194" y="141166"/>
                  </a:lnTo>
                  <a:lnTo>
                    <a:pt x="82523" y="175138"/>
                  </a:lnTo>
                  <a:lnTo>
                    <a:pt x="58394" y="211869"/>
                  </a:lnTo>
                  <a:lnTo>
                    <a:pt x="38068" y="251096"/>
                  </a:lnTo>
                  <a:lnTo>
                    <a:pt x="21804" y="292560"/>
                  </a:lnTo>
                  <a:lnTo>
                    <a:pt x="9864" y="335997"/>
                  </a:lnTo>
                  <a:lnTo>
                    <a:pt x="2509" y="381149"/>
                  </a:lnTo>
                  <a:lnTo>
                    <a:pt x="0" y="427753"/>
                  </a:lnTo>
                  <a:lnTo>
                    <a:pt x="0" y="5664224"/>
                  </a:lnTo>
                  <a:lnTo>
                    <a:pt x="2509" y="5710828"/>
                  </a:lnTo>
                  <a:lnTo>
                    <a:pt x="9864" y="5755980"/>
                  </a:lnTo>
                  <a:lnTo>
                    <a:pt x="21804" y="5799417"/>
                  </a:lnTo>
                  <a:lnTo>
                    <a:pt x="38068" y="5840880"/>
                  </a:lnTo>
                  <a:lnTo>
                    <a:pt x="58394" y="5880108"/>
                  </a:lnTo>
                  <a:lnTo>
                    <a:pt x="82523" y="5916838"/>
                  </a:lnTo>
                  <a:lnTo>
                    <a:pt x="110194" y="5950811"/>
                  </a:lnTo>
                  <a:lnTo>
                    <a:pt x="141145" y="5981765"/>
                  </a:lnTo>
                  <a:lnTo>
                    <a:pt x="175116" y="6009438"/>
                  </a:lnTo>
                  <a:lnTo>
                    <a:pt x="211847" y="6033571"/>
                  </a:lnTo>
                  <a:lnTo>
                    <a:pt x="251076" y="6053901"/>
                  </a:lnTo>
                  <a:lnTo>
                    <a:pt x="292542" y="6070168"/>
                  </a:lnTo>
                  <a:lnTo>
                    <a:pt x="335985" y="6082110"/>
                  </a:lnTo>
                  <a:lnTo>
                    <a:pt x="381144" y="6089467"/>
                  </a:lnTo>
                  <a:lnTo>
                    <a:pt x="427759" y="6091977"/>
                  </a:lnTo>
                  <a:lnTo>
                    <a:pt x="3902932" y="6091977"/>
                  </a:lnTo>
                  <a:lnTo>
                    <a:pt x="3949535" y="6089467"/>
                  </a:lnTo>
                  <a:lnTo>
                    <a:pt x="3994685" y="6082110"/>
                  </a:lnTo>
                  <a:lnTo>
                    <a:pt x="4038119" y="6070168"/>
                  </a:lnTo>
                  <a:lnTo>
                    <a:pt x="4079578" y="6053901"/>
                  </a:lnTo>
                  <a:lnTo>
                    <a:pt x="4118801" y="6033571"/>
                  </a:lnTo>
                  <a:lnTo>
                    <a:pt x="4155526" y="6009438"/>
                  </a:lnTo>
                  <a:lnTo>
                    <a:pt x="4189492" y="5981765"/>
                  </a:lnTo>
                  <a:lnTo>
                    <a:pt x="4220440" y="5950811"/>
                  </a:lnTo>
                  <a:lnTo>
                    <a:pt x="4248108" y="5916838"/>
                  </a:lnTo>
                  <a:lnTo>
                    <a:pt x="4272235" y="5880108"/>
                  </a:lnTo>
                  <a:lnTo>
                    <a:pt x="4292560" y="5840880"/>
                  </a:lnTo>
                  <a:lnTo>
                    <a:pt x="4308822" y="5799417"/>
                  </a:lnTo>
                  <a:lnTo>
                    <a:pt x="4320761" y="5755980"/>
                  </a:lnTo>
                  <a:lnTo>
                    <a:pt x="4328116" y="5710828"/>
                  </a:lnTo>
                  <a:lnTo>
                    <a:pt x="4330626" y="5664224"/>
                  </a:lnTo>
                  <a:lnTo>
                    <a:pt x="4330626" y="427753"/>
                  </a:lnTo>
                  <a:lnTo>
                    <a:pt x="4328116" y="381149"/>
                  </a:lnTo>
                  <a:lnTo>
                    <a:pt x="4320761" y="335997"/>
                  </a:lnTo>
                  <a:lnTo>
                    <a:pt x="4308822" y="292560"/>
                  </a:lnTo>
                  <a:lnTo>
                    <a:pt x="4292560" y="251096"/>
                  </a:lnTo>
                  <a:lnTo>
                    <a:pt x="4272235" y="211869"/>
                  </a:lnTo>
                  <a:lnTo>
                    <a:pt x="4248108" y="175138"/>
                  </a:lnTo>
                  <a:lnTo>
                    <a:pt x="4220440" y="141166"/>
                  </a:lnTo>
                  <a:lnTo>
                    <a:pt x="4189492" y="110212"/>
                  </a:lnTo>
                  <a:lnTo>
                    <a:pt x="4155526" y="82538"/>
                  </a:lnTo>
                  <a:lnTo>
                    <a:pt x="4118801" y="58406"/>
                  </a:lnTo>
                  <a:lnTo>
                    <a:pt x="4079578" y="38076"/>
                  </a:lnTo>
                  <a:lnTo>
                    <a:pt x="4038119" y="21809"/>
                  </a:lnTo>
                  <a:lnTo>
                    <a:pt x="3994685" y="9867"/>
                  </a:lnTo>
                  <a:lnTo>
                    <a:pt x="3949535" y="2510"/>
                  </a:lnTo>
                  <a:lnTo>
                    <a:pt x="3902932" y="0"/>
                  </a:lnTo>
                  <a:close/>
                </a:path>
              </a:pathLst>
            </a:custGeom>
            <a:solidFill>
              <a:srgbClr val="E4ECF4"/>
            </a:solidFill>
            <a:ln cap="flat" cmpd="sng" w="9525">
              <a:solidFill>
                <a:srgbClr val="10253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9" name="Google Shape;99;p7"/>
            <p:cNvSpPr/>
            <p:nvPr/>
          </p:nvSpPr>
          <p:spPr>
            <a:xfrm>
              <a:off x="507261" y="7820110"/>
              <a:ext cx="4330700" cy="6092190"/>
            </a:xfrm>
            <a:custGeom>
              <a:rect b="b" l="l" r="r" t="t"/>
              <a:pathLst>
                <a:path extrusionOk="0" h="6092190" w="4330700">
                  <a:moveTo>
                    <a:pt x="0" y="427753"/>
                  </a:moveTo>
                  <a:lnTo>
                    <a:pt x="2509" y="381149"/>
                  </a:lnTo>
                  <a:lnTo>
                    <a:pt x="9864" y="335997"/>
                  </a:lnTo>
                  <a:lnTo>
                    <a:pt x="21804" y="292560"/>
                  </a:lnTo>
                  <a:lnTo>
                    <a:pt x="38068" y="251096"/>
                  </a:lnTo>
                  <a:lnTo>
                    <a:pt x="58394" y="211869"/>
                  </a:lnTo>
                  <a:lnTo>
                    <a:pt x="82523" y="175138"/>
                  </a:lnTo>
                  <a:lnTo>
                    <a:pt x="110194" y="141166"/>
                  </a:lnTo>
                  <a:lnTo>
                    <a:pt x="141145" y="110212"/>
                  </a:lnTo>
                  <a:lnTo>
                    <a:pt x="175116" y="82538"/>
                  </a:lnTo>
                  <a:lnTo>
                    <a:pt x="211847" y="58406"/>
                  </a:lnTo>
                  <a:lnTo>
                    <a:pt x="251076" y="38076"/>
                  </a:lnTo>
                  <a:lnTo>
                    <a:pt x="292542" y="21809"/>
                  </a:lnTo>
                  <a:lnTo>
                    <a:pt x="335985" y="9867"/>
                  </a:lnTo>
                  <a:lnTo>
                    <a:pt x="381144" y="2510"/>
                  </a:lnTo>
                  <a:lnTo>
                    <a:pt x="427759" y="0"/>
                  </a:lnTo>
                  <a:lnTo>
                    <a:pt x="3902932" y="0"/>
                  </a:lnTo>
                  <a:lnTo>
                    <a:pt x="3949535" y="2510"/>
                  </a:lnTo>
                  <a:lnTo>
                    <a:pt x="3994685" y="9867"/>
                  </a:lnTo>
                  <a:lnTo>
                    <a:pt x="4038119" y="21809"/>
                  </a:lnTo>
                  <a:lnTo>
                    <a:pt x="4079578" y="38076"/>
                  </a:lnTo>
                  <a:lnTo>
                    <a:pt x="4118801" y="58406"/>
                  </a:lnTo>
                  <a:lnTo>
                    <a:pt x="4155526" y="82538"/>
                  </a:lnTo>
                  <a:lnTo>
                    <a:pt x="4189492" y="110212"/>
                  </a:lnTo>
                  <a:lnTo>
                    <a:pt x="4220440" y="141166"/>
                  </a:lnTo>
                  <a:lnTo>
                    <a:pt x="4248108" y="175138"/>
                  </a:lnTo>
                  <a:lnTo>
                    <a:pt x="4272235" y="211869"/>
                  </a:lnTo>
                  <a:lnTo>
                    <a:pt x="4292560" y="251096"/>
                  </a:lnTo>
                  <a:lnTo>
                    <a:pt x="4308822" y="292560"/>
                  </a:lnTo>
                  <a:lnTo>
                    <a:pt x="4320761" y="335997"/>
                  </a:lnTo>
                  <a:lnTo>
                    <a:pt x="4328116" y="381149"/>
                  </a:lnTo>
                  <a:lnTo>
                    <a:pt x="4330626" y="427753"/>
                  </a:lnTo>
                  <a:lnTo>
                    <a:pt x="4330626" y="5664224"/>
                  </a:lnTo>
                  <a:lnTo>
                    <a:pt x="4328116" y="5710828"/>
                  </a:lnTo>
                  <a:lnTo>
                    <a:pt x="4320761" y="5755980"/>
                  </a:lnTo>
                  <a:lnTo>
                    <a:pt x="4308822" y="5799417"/>
                  </a:lnTo>
                  <a:lnTo>
                    <a:pt x="4292560" y="5840880"/>
                  </a:lnTo>
                  <a:lnTo>
                    <a:pt x="4272235" y="5880108"/>
                  </a:lnTo>
                  <a:lnTo>
                    <a:pt x="4248108" y="5916838"/>
                  </a:lnTo>
                  <a:lnTo>
                    <a:pt x="4220440" y="5950811"/>
                  </a:lnTo>
                  <a:lnTo>
                    <a:pt x="4189492" y="5981765"/>
                  </a:lnTo>
                  <a:lnTo>
                    <a:pt x="4155526" y="6009438"/>
                  </a:lnTo>
                  <a:lnTo>
                    <a:pt x="4118801" y="6033571"/>
                  </a:lnTo>
                  <a:lnTo>
                    <a:pt x="4079578" y="6053901"/>
                  </a:lnTo>
                  <a:lnTo>
                    <a:pt x="4038119" y="6070168"/>
                  </a:lnTo>
                  <a:lnTo>
                    <a:pt x="3994685" y="6082110"/>
                  </a:lnTo>
                  <a:lnTo>
                    <a:pt x="3949535" y="6089467"/>
                  </a:lnTo>
                  <a:lnTo>
                    <a:pt x="3902932" y="6091977"/>
                  </a:lnTo>
                  <a:lnTo>
                    <a:pt x="427759" y="6091977"/>
                  </a:lnTo>
                  <a:lnTo>
                    <a:pt x="381144" y="6089467"/>
                  </a:lnTo>
                  <a:lnTo>
                    <a:pt x="335985" y="6082110"/>
                  </a:lnTo>
                  <a:lnTo>
                    <a:pt x="292542" y="6070168"/>
                  </a:lnTo>
                  <a:lnTo>
                    <a:pt x="251076" y="6053901"/>
                  </a:lnTo>
                  <a:lnTo>
                    <a:pt x="211847" y="6033571"/>
                  </a:lnTo>
                  <a:lnTo>
                    <a:pt x="175116" y="6009438"/>
                  </a:lnTo>
                  <a:lnTo>
                    <a:pt x="141145" y="5981765"/>
                  </a:lnTo>
                  <a:lnTo>
                    <a:pt x="110194" y="5950811"/>
                  </a:lnTo>
                  <a:lnTo>
                    <a:pt x="82523" y="5916838"/>
                  </a:lnTo>
                  <a:lnTo>
                    <a:pt x="58394" y="5880108"/>
                  </a:lnTo>
                  <a:lnTo>
                    <a:pt x="38068" y="5840880"/>
                  </a:lnTo>
                  <a:lnTo>
                    <a:pt x="21804" y="5799417"/>
                  </a:lnTo>
                  <a:lnTo>
                    <a:pt x="9864" y="5755980"/>
                  </a:lnTo>
                  <a:lnTo>
                    <a:pt x="2509" y="5710828"/>
                  </a:lnTo>
                  <a:lnTo>
                    <a:pt x="0" y="5664224"/>
                  </a:lnTo>
                  <a:lnTo>
                    <a:pt x="0" y="427753"/>
                  </a:lnTo>
                  <a:close/>
                </a:path>
              </a:pathLst>
            </a:custGeom>
            <a:noFill/>
            <a:ln cap="flat" cmpd="sng" w="9525">
              <a:solidFill>
                <a:srgbClr val="10253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llage of a machine  Description automatically generated" id="100" name="Google Shape;100;p7"/>
            <p:cNvPicPr preferRelativeResize="0"/>
            <p:nvPr/>
          </p:nvPicPr>
          <p:blipFill rotWithShape="1">
            <a:blip r:embed="rId7">
              <a:alphaModFix/>
            </a:blip>
            <a:srcRect b="0" l="0" r="0" t="0"/>
            <a:stretch/>
          </p:blipFill>
          <p:spPr>
            <a:xfrm>
              <a:off x="629669" y="8907538"/>
              <a:ext cx="4085874" cy="2427950"/>
            </a:xfrm>
            <a:prstGeom prst="rect">
              <a:avLst/>
            </a:prstGeom>
            <a:noFill/>
            <a:ln cap="flat" cmpd="sng" w="9525">
              <a:solidFill>
                <a:srgbClr val="10253F"/>
              </a:solidFill>
              <a:prstDash val="solid"/>
              <a:round/>
              <a:headEnd len="sm" w="sm" type="none"/>
              <a:tailEnd len="sm" w="sm" type="none"/>
            </a:ln>
          </p:spPr>
        </p:pic>
      </p:grpSp>
      <p:sp>
        <p:nvSpPr>
          <p:cNvPr id="101" name="Google Shape;101;p7"/>
          <p:cNvSpPr txBox="1"/>
          <p:nvPr/>
        </p:nvSpPr>
        <p:spPr>
          <a:xfrm>
            <a:off x="660037" y="11441612"/>
            <a:ext cx="4025265" cy="71310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100" u="sng">
                <a:solidFill>
                  <a:srgbClr val="2E4D5D"/>
                </a:solidFill>
                <a:latin typeface="Arial"/>
                <a:ea typeface="Arial"/>
                <a:cs typeface="Arial"/>
                <a:sym typeface="Arial"/>
              </a:rPr>
              <a:t>Objectives</a:t>
            </a:r>
            <a:r>
              <a:rPr lang="en-US" sz="1100" u="none">
                <a:solidFill>
                  <a:srgbClr val="2E4D5D"/>
                </a:solidFill>
                <a:latin typeface="Arial"/>
                <a:ea typeface="Arial"/>
                <a:cs typeface="Arial"/>
                <a:sym typeface="Arial"/>
              </a:rPr>
              <a:t>:</a:t>
            </a:r>
            <a:endParaRPr sz="1100">
              <a:latin typeface="Arial"/>
              <a:ea typeface="Arial"/>
              <a:cs typeface="Arial"/>
              <a:sym typeface="Arial"/>
            </a:endParaRPr>
          </a:p>
          <a:p>
            <a:pPr indent="-81280" lvl="0" marL="93345" marR="5080" rtl="0" algn="l">
              <a:lnSpc>
                <a:spcPct val="102499"/>
              </a:lnSpc>
              <a:spcBef>
                <a:spcPts val="0"/>
              </a:spcBef>
              <a:spcAft>
                <a:spcPts val="0"/>
              </a:spcAft>
              <a:buClr>
                <a:srgbClr val="2E4D5D"/>
              </a:buClr>
              <a:buSzPts val="1000"/>
              <a:buFont typeface="Arial"/>
              <a:buAutoNum type="arabicPeriod"/>
            </a:pPr>
            <a:r>
              <a:rPr lang="en-US" sz="1100">
                <a:solidFill>
                  <a:srgbClr val="2E4D5D"/>
                </a:solidFill>
                <a:latin typeface="Arial"/>
                <a:ea typeface="Arial"/>
                <a:cs typeface="Arial"/>
                <a:sym typeface="Arial"/>
              </a:rPr>
              <a:t>	Minimize the </a:t>
            </a:r>
            <a:r>
              <a:rPr b="1" lang="en-US" sz="1100">
                <a:solidFill>
                  <a:srgbClr val="2E4D5D"/>
                </a:solidFill>
                <a:latin typeface="Arial"/>
                <a:ea typeface="Arial"/>
                <a:cs typeface="Arial"/>
                <a:sym typeface="Arial"/>
              </a:rPr>
              <a:t>profile error </a:t>
            </a:r>
            <a:r>
              <a:rPr lang="en-US" sz="1100">
                <a:solidFill>
                  <a:srgbClr val="2E4D5D"/>
                </a:solidFill>
                <a:latin typeface="Arial"/>
                <a:ea typeface="Arial"/>
                <a:cs typeface="Arial"/>
                <a:sym typeface="Arial"/>
              </a:rPr>
              <a:t>(RMSE between measured and desired profiles).</a:t>
            </a:r>
            <a:endParaRPr sz="1100">
              <a:latin typeface="Arial"/>
              <a:ea typeface="Arial"/>
              <a:cs typeface="Arial"/>
              <a:sym typeface="Arial"/>
            </a:endParaRPr>
          </a:p>
          <a:p>
            <a:pPr indent="-118745" lvl="0" marL="131445" rtl="0" algn="l">
              <a:lnSpc>
                <a:spcPct val="100000"/>
              </a:lnSpc>
              <a:spcBef>
                <a:spcPts val="35"/>
              </a:spcBef>
              <a:spcAft>
                <a:spcPts val="0"/>
              </a:spcAft>
              <a:buClr>
                <a:srgbClr val="2E4D5D"/>
              </a:buClr>
              <a:buSzPts val="1000"/>
              <a:buFont typeface="Arial"/>
              <a:buAutoNum type="arabicPeriod"/>
            </a:pPr>
            <a:r>
              <a:rPr lang="en-US" sz="1100">
                <a:solidFill>
                  <a:srgbClr val="2E4D5D"/>
                </a:solidFill>
                <a:latin typeface="Arial"/>
                <a:ea typeface="Arial"/>
                <a:cs typeface="Arial"/>
                <a:sym typeface="Arial"/>
              </a:rPr>
              <a:t>Obtain a smooth </a:t>
            </a:r>
            <a:r>
              <a:rPr b="1" lang="en-US" sz="1100">
                <a:solidFill>
                  <a:srgbClr val="2E4D5D"/>
                </a:solidFill>
                <a:latin typeface="Arial"/>
                <a:ea typeface="Arial"/>
                <a:cs typeface="Arial"/>
                <a:sym typeface="Arial"/>
              </a:rPr>
              <a:t>surface finish</a:t>
            </a:r>
            <a:r>
              <a:rPr lang="en-US" sz="1100">
                <a:solidFill>
                  <a:srgbClr val="2E4D5D"/>
                </a:solidFill>
                <a:latin typeface="Arial"/>
                <a:ea typeface="Arial"/>
                <a:cs typeface="Arial"/>
                <a:sym typeface="Arial"/>
              </a:rPr>
              <a:t>.</a:t>
            </a:r>
            <a:endParaRPr sz="1100">
              <a:latin typeface="Arial"/>
              <a:ea typeface="Arial"/>
              <a:cs typeface="Arial"/>
              <a:sym typeface="Arial"/>
            </a:endParaRPr>
          </a:p>
        </p:txBody>
      </p:sp>
      <p:sp>
        <p:nvSpPr>
          <p:cNvPr id="102" name="Google Shape;102;p7"/>
          <p:cNvSpPr txBox="1"/>
          <p:nvPr/>
        </p:nvSpPr>
        <p:spPr>
          <a:xfrm>
            <a:off x="621937" y="12300577"/>
            <a:ext cx="3848735" cy="1400175"/>
          </a:xfrm>
          <a:prstGeom prst="rect">
            <a:avLst/>
          </a:prstGeom>
          <a:noFill/>
          <a:ln>
            <a:noFill/>
          </a:ln>
        </p:spPr>
        <p:txBody>
          <a:bodyPr anchorCtr="0" anchor="t" bIns="0" lIns="0" spcFirstLastPara="1" rIns="0" wrap="square" tIns="15875">
            <a:spAutoFit/>
          </a:bodyPr>
          <a:lstStyle/>
          <a:p>
            <a:pPr indent="0" lvl="0" marL="50800" rtl="0" algn="l">
              <a:lnSpc>
                <a:spcPct val="100000"/>
              </a:lnSpc>
              <a:spcBef>
                <a:spcPts val="0"/>
              </a:spcBef>
              <a:spcAft>
                <a:spcPts val="0"/>
              </a:spcAft>
              <a:buNone/>
            </a:pPr>
            <a:r>
              <a:rPr b="1" lang="en-US" sz="1100" u="sng">
                <a:solidFill>
                  <a:srgbClr val="2E4D5D"/>
                </a:solidFill>
                <a:latin typeface="Arial"/>
                <a:ea typeface="Arial"/>
                <a:cs typeface="Arial"/>
                <a:sym typeface="Arial"/>
              </a:rPr>
              <a:t>Constraints</a:t>
            </a:r>
            <a:r>
              <a:rPr lang="en-US" sz="1100" u="sng">
                <a:solidFill>
                  <a:srgbClr val="2E4D5D"/>
                </a:solidFill>
                <a:latin typeface="Arial"/>
                <a:ea typeface="Arial"/>
                <a:cs typeface="Arial"/>
                <a:sym typeface="Arial"/>
              </a:rPr>
              <a:t>:</a:t>
            </a:r>
            <a:endParaRPr sz="1100">
              <a:latin typeface="Arial"/>
              <a:ea typeface="Arial"/>
              <a:cs typeface="Arial"/>
              <a:sym typeface="Arial"/>
            </a:endParaRPr>
          </a:p>
          <a:p>
            <a:pPr indent="-118745" lvl="0" marL="169545" rtl="0" algn="l">
              <a:lnSpc>
                <a:spcPct val="100000"/>
              </a:lnSpc>
              <a:spcBef>
                <a:spcPts val="35"/>
              </a:spcBef>
              <a:spcAft>
                <a:spcPts val="0"/>
              </a:spcAft>
              <a:buClr>
                <a:srgbClr val="2E4D5D"/>
              </a:buClr>
              <a:buSzPts val="1000"/>
              <a:buFont typeface="Arial"/>
              <a:buAutoNum type="arabicPeriod"/>
            </a:pPr>
            <a:r>
              <a:rPr lang="en-US" sz="1100">
                <a:solidFill>
                  <a:srgbClr val="2E4D5D"/>
                </a:solidFill>
                <a:latin typeface="Arial"/>
                <a:ea typeface="Arial"/>
                <a:cs typeface="Arial"/>
                <a:sym typeface="Arial"/>
              </a:rPr>
              <a:t>Respect the dynamical limits of the robot.</a:t>
            </a:r>
            <a:endParaRPr sz="1100">
              <a:latin typeface="Arial"/>
              <a:ea typeface="Arial"/>
              <a:cs typeface="Arial"/>
              <a:sym typeface="Arial"/>
            </a:endParaRPr>
          </a:p>
          <a:p>
            <a:pPr indent="-118745" lvl="0" marL="169545" rtl="0" algn="l">
              <a:lnSpc>
                <a:spcPct val="100000"/>
              </a:lnSpc>
              <a:spcBef>
                <a:spcPts val="30"/>
              </a:spcBef>
              <a:spcAft>
                <a:spcPts val="0"/>
              </a:spcAft>
              <a:buClr>
                <a:srgbClr val="2E4D5D"/>
              </a:buClr>
              <a:buSzPts val="1000"/>
              <a:buFont typeface="Arial"/>
              <a:buAutoNum type="arabicPeriod"/>
            </a:pPr>
            <a:r>
              <a:rPr lang="en-US" sz="1100">
                <a:solidFill>
                  <a:srgbClr val="2E4D5D"/>
                </a:solidFill>
                <a:latin typeface="Arial"/>
                <a:ea typeface="Arial"/>
                <a:cs typeface="Arial"/>
                <a:sym typeface="Arial"/>
              </a:rPr>
              <a:t>Avoid undercuts (i.e. grading deeper than desired profile).</a:t>
            </a:r>
            <a:endParaRPr sz="1100">
              <a:latin typeface="Arial"/>
              <a:ea typeface="Arial"/>
              <a:cs typeface="Arial"/>
              <a:sym typeface="Arial"/>
            </a:endParaRPr>
          </a:p>
          <a:p>
            <a:pPr indent="0" lvl="0" marL="0" rtl="0" algn="l">
              <a:lnSpc>
                <a:spcPct val="100000"/>
              </a:lnSpc>
              <a:spcBef>
                <a:spcPts val="120"/>
              </a:spcBef>
              <a:spcAft>
                <a:spcPts val="0"/>
              </a:spcAft>
              <a:buClr>
                <a:srgbClr val="2E4D5D"/>
              </a:buClr>
              <a:buSzPts val="1100"/>
              <a:buFont typeface="Arial"/>
              <a:buNone/>
            </a:pPr>
            <a:r>
              <a:t/>
            </a:r>
            <a:endParaRPr sz="1100">
              <a:latin typeface="Arial"/>
              <a:ea typeface="Arial"/>
              <a:cs typeface="Arial"/>
              <a:sym typeface="Arial"/>
            </a:endParaRPr>
          </a:p>
          <a:p>
            <a:pPr indent="0" lvl="0" marL="50800" rtl="0" algn="l">
              <a:lnSpc>
                <a:spcPct val="100000"/>
              </a:lnSpc>
              <a:spcBef>
                <a:spcPts val="0"/>
              </a:spcBef>
              <a:spcAft>
                <a:spcPts val="0"/>
              </a:spcAft>
              <a:buNone/>
            </a:pPr>
            <a:r>
              <a:rPr b="1" lang="en-US" sz="1100" u="sng">
                <a:solidFill>
                  <a:srgbClr val="2E4D5D"/>
                </a:solidFill>
                <a:latin typeface="Arial"/>
                <a:ea typeface="Arial"/>
                <a:cs typeface="Arial"/>
                <a:sym typeface="Arial"/>
              </a:rPr>
              <a:t>Simplification assumptions</a:t>
            </a:r>
            <a:r>
              <a:rPr lang="en-US" sz="1100" u="none">
                <a:solidFill>
                  <a:srgbClr val="2E4D5D"/>
                </a:solidFill>
                <a:latin typeface="Arial"/>
                <a:ea typeface="Arial"/>
                <a:cs typeface="Arial"/>
                <a:sym typeface="Arial"/>
              </a:rPr>
              <a:t>:</a:t>
            </a:r>
            <a:endParaRPr sz="1100">
              <a:latin typeface="Arial"/>
              <a:ea typeface="Arial"/>
              <a:cs typeface="Arial"/>
              <a:sym typeface="Arial"/>
            </a:endParaRPr>
          </a:p>
          <a:p>
            <a:pPr indent="-157480" lvl="1" marL="208279" rtl="0" algn="l">
              <a:lnSpc>
                <a:spcPct val="100000"/>
              </a:lnSpc>
              <a:spcBef>
                <a:spcPts val="35"/>
              </a:spcBef>
              <a:spcAft>
                <a:spcPts val="0"/>
              </a:spcAft>
              <a:buClr>
                <a:srgbClr val="2E4D5D"/>
              </a:buClr>
              <a:buSzPts val="1100"/>
              <a:buFont typeface="Arial"/>
              <a:buAutoNum type="arabicPeriod"/>
            </a:pPr>
            <a:r>
              <a:rPr lang="en-US" sz="1100">
                <a:solidFill>
                  <a:srgbClr val="2E4D5D"/>
                </a:solidFill>
                <a:latin typeface="Cambria Math"/>
                <a:ea typeface="Cambria Math"/>
                <a:cs typeface="Cambria Math"/>
                <a:sym typeface="Cambria Math"/>
              </a:rPr>
              <a:t>𝑃</a:t>
            </a:r>
            <a:r>
              <a:rPr baseline="-25000" lang="en-US" sz="1200">
                <a:solidFill>
                  <a:srgbClr val="2E4D5D"/>
                </a:solidFill>
                <a:latin typeface="Cambria Math"/>
                <a:ea typeface="Cambria Math"/>
                <a:cs typeface="Cambria Math"/>
                <a:sym typeface="Cambria Math"/>
              </a:rPr>
              <a:t>init </a:t>
            </a:r>
            <a:r>
              <a:rPr lang="en-US" sz="1100">
                <a:solidFill>
                  <a:srgbClr val="2E4D5D"/>
                </a:solidFill>
                <a:latin typeface="Arial"/>
                <a:ea typeface="Arial"/>
                <a:cs typeface="Arial"/>
                <a:sym typeface="Arial"/>
              </a:rPr>
              <a:t>is higher than </a:t>
            </a:r>
            <a:r>
              <a:rPr lang="en-US" sz="1100">
                <a:solidFill>
                  <a:srgbClr val="2E4D5D"/>
                </a:solidFill>
                <a:latin typeface="Cambria Math"/>
                <a:ea typeface="Cambria Math"/>
                <a:cs typeface="Cambria Math"/>
                <a:sym typeface="Cambria Math"/>
              </a:rPr>
              <a:t>𝑃</a:t>
            </a:r>
            <a:r>
              <a:rPr baseline="-25000" lang="en-US" sz="1200">
                <a:solidFill>
                  <a:srgbClr val="2E4D5D"/>
                </a:solidFill>
                <a:latin typeface="Cambria Math"/>
                <a:ea typeface="Cambria Math"/>
                <a:cs typeface="Cambria Math"/>
                <a:sym typeface="Cambria Math"/>
              </a:rPr>
              <a:t>des </a:t>
            </a:r>
            <a:r>
              <a:rPr lang="en-US" sz="1100">
                <a:solidFill>
                  <a:srgbClr val="2E4D5D"/>
                </a:solidFill>
                <a:latin typeface="Arial"/>
                <a:ea typeface="Arial"/>
                <a:cs typeface="Arial"/>
                <a:sym typeface="Arial"/>
              </a:rPr>
              <a:t>everywhere</a:t>
            </a:r>
            <a:endParaRPr sz="1100">
              <a:latin typeface="Arial"/>
              <a:ea typeface="Arial"/>
              <a:cs typeface="Arial"/>
              <a:sym typeface="Arial"/>
            </a:endParaRPr>
          </a:p>
          <a:p>
            <a:pPr indent="0" lvl="0" marL="1035685" rtl="0" algn="l">
              <a:lnSpc>
                <a:spcPct val="100000"/>
              </a:lnSpc>
              <a:spcBef>
                <a:spcPts val="30"/>
              </a:spcBef>
              <a:spcAft>
                <a:spcPts val="0"/>
              </a:spcAft>
              <a:buNone/>
            </a:pPr>
            <a:r>
              <a:rPr b="1" lang="en-US" sz="1100">
                <a:solidFill>
                  <a:srgbClr val="2E4D5D"/>
                </a:solidFill>
                <a:latin typeface="Arial"/>
                <a:ea typeface="Arial"/>
                <a:cs typeface="Arial"/>
                <a:sym typeface="Arial"/>
              </a:rPr>
              <a:t>→ Subtractive grading.</a:t>
            </a:r>
            <a:endParaRPr sz="1100">
              <a:latin typeface="Arial"/>
              <a:ea typeface="Arial"/>
              <a:cs typeface="Arial"/>
              <a:sym typeface="Arial"/>
            </a:endParaRPr>
          </a:p>
          <a:p>
            <a:pPr indent="-128905" lvl="1" marL="169545" rtl="0" algn="l">
              <a:lnSpc>
                <a:spcPct val="100000"/>
              </a:lnSpc>
              <a:spcBef>
                <a:spcPts val="35"/>
              </a:spcBef>
              <a:spcAft>
                <a:spcPts val="0"/>
              </a:spcAft>
              <a:buClr>
                <a:srgbClr val="2E4D5D"/>
              </a:buClr>
              <a:buSzPts val="1100"/>
              <a:buFont typeface="Arial"/>
              <a:buAutoNum type="arabicPeriod"/>
            </a:pPr>
            <a:r>
              <a:rPr lang="en-US" sz="1100">
                <a:solidFill>
                  <a:srgbClr val="2E4D5D"/>
                </a:solidFill>
                <a:latin typeface="Arial"/>
                <a:ea typeface="Arial"/>
                <a:cs typeface="Arial"/>
                <a:sym typeface="Arial"/>
              </a:rPr>
              <a:t>Material is graded along a 1D straight line trajectory.</a:t>
            </a:r>
            <a:endParaRPr sz="1100">
              <a:latin typeface="Arial"/>
              <a:ea typeface="Arial"/>
              <a:cs typeface="Arial"/>
              <a:sym typeface="Arial"/>
            </a:endParaRPr>
          </a:p>
        </p:txBody>
      </p:sp>
      <p:sp>
        <p:nvSpPr>
          <p:cNvPr id="103" name="Google Shape;103;p7"/>
          <p:cNvSpPr txBox="1"/>
          <p:nvPr/>
        </p:nvSpPr>
        <p:spPr>
          <a:xfrm>
            <a:off x="852708" y="7947624"/>
            <a:ext cx="3640454" cy="884555"/>
          </a:xfrm>
          <a:prstGeom prst="rect">
            <a:avLst/>
          </a:prstGeom>
          <a:noFill/>
          <a:ln>
            <a:noFill/>
          </a:ln>
        </p:spPr>
        <p:txBody>
          <a:bodyPr anchorCtr="0" anchor="t" bIns="0" lIns="0" spcFirstLastPara="1" rIns="0" wrap="square" tIns="11425">
            <a:spAutoFit/>
          </a:bodyPr>
          <a:lstStyle/>
          <a:p>
            <a:pPr indent="0" lvl="0" marL="12700" marR="5080" rtl="0" algn="ctr">
              <a:lnSpc>
                <a:spcPct val="101600"/>
              </a:lnSpc>
              <a:spcBef>
                <a:spcPts val="0"/>
              </a:spcBef>
              <a:spcAft>
                <a:spcPts val="0"/>
              </a:spcAft>
              <a:buNone/>
            </a:pPr>
            <a:r>
              <a:rPr lang="en-US" sz="1850">
                <a:solidFill>
                  <a:srgbClr val="2E4D5D"/>
                </a:solidFill>
                <a:latin typeface="Arial"/>
                <a:ea typeface="Arial"/>
                <a:cs typeface="Arial"/>
                <a:sym typeface="Arial"/>
              </a:rPr>
              <a:t>We study </a:t>
            </a:r>
            <a:r>
              <a:rPr b="1" lang="en-US" sz="1850">
                <a:solidFill>
                  <a:srgbClr val="2E4D5D"/>
                </a:solidFill>
                <a:latin typeface="Arial"/>
                <a:ea typeface="Arial"/>
                <a:cs typeface="Arial"/>
                <a:sym typeface="Arial"/>
              </a:rPr>
              <a:t>sand profile grading</a:t>
            </a:r>
            <a:r>
              <a:rPr lang="en-US" sz="1850">
                <a:solidFill>
                  <a:srgbClr val="2E4D5D"/>
                </a:solidFill>
                <a:latin typeface="Arial"/>
                <a:ea typeface="Arial"/>
                <a:cs typeface="Arial"/>
                <a:sym typeface="Arial"/>
              </a:rPr>
              <a:t>, a task to obtain a desired geometric curve in sand.</a:t>
            </a:r>
            <a:endParaRPr sz="1850">
              <a:latin typeface="Arial"/>
              <a:ea typeface="Arial"/>
              <a:cs typeface="Arial"/>
              <a:sym typeface="Arial"/>
            </a:endParaRPr>
          </a:p>
        </p:txBody>
      </p:sp>
      <p:grpSp>
        <p:nvGrpSpPr>
          <p:cNvPr id="104" name="Google Shape;104;p7"/>
          <p:cNvGrpSpPr/>
          <p:nvPr/>
        </p:nvGrpSpPr>
        <p:grpSpPr>
          <a:xfrm>
            <a:off x="507250" y="4595204"/>
            <a:ext cx="4330700" cy="3055506"/>
            <a:chOff x="507261" y="5174495"/>
            <a:chExt cx="4330700" cy="2476500"/>
          </a:xfrm>
        </p:grpSpPr>
        <p:sp>
          <p:nvSpPr>
            <p:cNvPr id="105" name="Google Shape;105;p7"/>
            <p:cNvSpPr/>
            <p:nvPr/>
          </p:nvSpPr>
          <p:spPr>
            <a:xfrm>
              <a:off x="507261" y="5174495"/>
              <a:ext cx="4330700" cy="2476500"/>
            </a:xfrm>
            <a:custGeom>
              <a:rect b="b" l="l" r="r" t="t"/>
              <a:pathLst>
                <a:path extrusionOk="0" h="2476500" w="4330700">
                  <a:moveTo>
                    <a:pt x="4086119" y="0"/>
                  </a:moveTo>
                  <a:lnTo>
                    <a:pt x="244572" y="0"/>
                  </a:lnTo>
                  <a:lnTo>
                    <a:pt x="195272" y="4969"/>
                  </a:lnTo>
                  <a:lnTo>
                    <a:pt x="149359" y="19222"/>
                  </a:lnTo>
                  <a:lnTo>
                    <a:pt x="107814" y="41773"/>
                  </a:lnTo>
                  <a:lnTo>
                    <a:pt x="71620" y="71640"/>
                  </a:lnTo>
                  <a:lnTo>
                    <a:pt x="41760" y="107836"/>
                  </a:lnTo>
                  <a:lnTo>
                    <a:pt x="19214" y="149379"/>
                  </a:lnTo>
                  <a:lnTo>
                    <a:pt x="4967" y="195284"/>
                  </a:lnTo>
                  <a:lnTo>
                    <a:pt x="0" y="244566"/>
                  </a:lnTo>
                  <a:lnTo>
                    <a:pt x="0" y="2231402"/>
                  </a:lnTo>
                  <a:lnTo>
                    <a:pt x="4967" y="2280685"/>
                  </a:lnTo>
                  <a:lnTo>
                    <a:pt x="19214" y="2326589"/>
                  </a:lnTo>
                  <a:lnTo>
                    <a:pt x="41760" y="2368132"/>
                  </a:lnTo>
                  <a:lnTo>
                    <a:pt x="71620" y="2404329"/>
                  </a:lnTo>
                  <a:lnTo>
                    <a:pt x="107814" y="2434195"/>
                  </a:lnTo>
                  <a:lnTo>
                    <a:pt x="149359" y="2456747"/>
                  </a:lnTo>
                  <a:lnTo>
                    <a:pt x="195272" y="2470999"/>
                  </a:lnTo>
                  <a:lnTo>
                    <a:pt x="244572" y="2475969"/>
                  </a:lnTo>
                  <a:lnTo>
                    <a:pt x="4086119" y="2475969"/>
                  </a:lnTo>
                  <a:lnTo>
                    <a:pt x="4135399" y="2470999"/>
                  </a:lnTo>
                  <a:lnTo>
                    <a:pt x="4181297" y="2456747"/>
                  </a:lnTo>
                  <a:lnTo>
                    <a:pt x="4222830" y="2434195"/>
                  </a:lnTo>
                  <a:lnTo>
                    <a:pt x="4259015" y="2404329"/>
                  </a:lnTo>
                  <a:lnTo>
                    <a:pt x="4288871" y="2368132"/>
                  </a:lnTo>
                  <a:lnTo>
                    <a:pt x="4311413" y="2326589"/>
                  </a:lnTo>
                  <a:lnTo>
                    <a:pt x="4325659" y="2280685"/>
                  </a:lnTo>
                  <a:lnTo>
                    <a:pt x="4330626" y="2231402"/>
                  </a:lnTo>
                  <a:lnTo>
                    <a:pt x="4330626" y="244566"/>
                  </a:lnTo>
                  <a:lnTo>
                    <a:pt x="4325659" y="195284"/>
                  </a:lnTo>
                  <a:lnTo>
                    <a:pt x="4311413" y="149379"/>
                  </a:lnTo>
                  <a:lnTo>
                    <a:pt x="4288871" y="107836"/>
                  </a:lnTo>
                  <a:lnTo>
                    <a:pt x="4259015" y="71640"/>
                  </a:lnTo>
                  <a:lnTo>
                    <a:pt x="4222830" y="41773"/>
                  </a:lnTo>
                  <a:lnTo>
                    <a:pt x="4181297" y="19222"/>
                  </a:lnTo>
                  <a:lnTo>
                    <a:pt x="4135399" y="4969"/>
                  </a:lnTo>
                  <a:lnTo>
                    <a:pt x="4086119" y="0"/>
                  </a:lnTo>
                  <a:close/>
                </a:path>
              </a:pathLst>
            </a:custGeom>
            <a:solidFill>
              <a:srgbClr val="E4EC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6" name="Google Shape;106;p7"/>
            <p:cNvSpPr/>
            <p:nvPr/>
          </p:nvSpPr>
          <p:spPr>
            <a:xfrm>
              <a:off x="507261" y="5174495"/>
              <a:ext cx="4330700" cy="2476500"/>
            </a:xfrm>
            <a:custGeom>
              <a:rect b="b" l="l" r="r" t="t"/>
              <a:pathLst>
                <a:path extrusionOk="0" h="2476500" w="4330700">
                  <a:moveTo>
                    <a:pt x="0" y="244566"/>
                  </a:moveTo>
                  <a:lnTo>
                    <a:pt x="4967" y="195284"/>
                  </a:lnTo>
                  <a:lnTo>
                    <a:pt x="19214" y="149379"/>
                  </a:lnTo>
                  <a:lnTo>
                    <a:pt x="41760" y="107836"/>
                  </a:lnTo>
                  <a:lnTo>
                    <a:pt x="71620" y="71640"/>
                  </a:lnTo>
                  <a:lnTo>
                    <a:pt x="107814" y="41773"/>
                  </a:lnTo>
                  <a:lnTo>
                    <a:pt x="149359" y="19222"/>
                  </a:lnTo>
                  <a:lnTo>
                    <a:pt x="195272" y="4969"/>
                  </a:lnTo>
                  <a:lnTo>
                    <a:pt x="244572" y="0"/>
                  </a:lnTo>
                  <a:lnTo>
                    <a:pt x="4086119" y="0"/>
                  </a:lnTo>
                  <a:lnTo>
                    <a:pt x="4135399" y="4969"/>
                  </a:lnTo>
                  <a:lnTo>
                    <a:pt x="4181297" y="19222"/>
                  </a:lnTo>
                  <a:lnTo>
                    <a:pt x="4222830" y="41773"/>
                  </a:lnTo>
                  <a:lnTo>
                    <a:pt x="4259015" y="71640"/>
                  </a:lnTo>
                  <a:lnTo>
                    <a:pt x="4288871" y="107836"/>
                  </a:lnTo>
                  <a:lnTo>
                    <a:pt x="4311413" y="149379"/>
                  </a:lnTo>
                  <a:lnTo>
                    <a:pt x="4325659" y="195284"/>
                  </a:lnTo>
                  <a:lnTo>
                    <a:pt x="4330626" y="244566"/>
                  </a:lnTo>
                  <a:lnTo>
                    <a:pt x="4330626" y="2231402"/>
                  </a:lnTo>
                  <a:lnTo>
                    <a:pt x="4325659" y="2280685"/>
                  </a:lnTo>
                  <a:lnTo>
                    <a:pt x="4311413" y="2326589"/>
                  </a:lnTo>
                  <a:lnTo>
                    <a:pt x="4288871" y="2368132"/>
                  </a:lnTo>
                  <a:lnTo>
                    <a:pt x="4259015" y="2404329"/>
                  </a:lnTo>
                  <a:lnTo>
                    <a:pt x="4222830" y="2434195"/>
                  </a:lnTo>
                  <a:lnTo>
                    <a:pt x="4181297" y="2456747"/>
                  </a:lnTo>
                  <a:lnTo>
                    <a:pt x="4135399" y="2470999"/>
                  </a:lnTo>
                  <a:lnTo>
                    <a:pt x="4086119" y="2475969"/>
                  </a:lnTo>
                  <a:lnTo>
                    <a:pt x="244572" y="2475969"/>
                  </a:lnTo>
                  <a:lnTo>
                    <a:pt x="195272" y="2470999"/>
                  </a:lnTo>
                  <a:lnTo>
                    <a:pt x="149359" y="2456747"/>
                  </a:lnTo>
                  <a:lnTo>
                    <a:pt x="107814" y="2434195"/>
                  </a:lnTo>
                  <a:lnTo>
                    <a:pt x="71620" y="2404329"/>
                  </a:lnTo>
                  <a:lnTo>
                    <a:pt x="41760" y="2368132"/>
                  </a:lnTo>
                  <a:lnTo>
                    <a:pt x="19214" y="2326589"/>
                  </a:lnTo>
                  <a:lnTo>
                    <a:pt x="4967" y="2280685"/>
                  </a:lnTo>
                  <a:lnTo>
                    <a:pt x="0" y="2231402"/>
                  </a:lnTo>
                  <a:lnTo>
                    <a:pt x="0" y="244566"/>
                  </a:lnTo>
                  <a:close/>
                </a:path>
              </a:pathLst>
            </a:custGeom>
            <a:noFill/>
            <a:ln cap="flat" cmpd="sng" w="9525">
              <a:solidFill>
                <a:srgbClr val="1D8DA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7" name="Google Shape;107;p7"/>
          <p:cNvSpPr txBox="1"/>
          <p:nvPr/>
        </p:nvSpPr>
        <p:spPr>
          <a:xfrm>
            <a:off x="671181" y="4724501"/>
            <a:ext cx="3977100" cy="354900"/>
          </a:xfrm>
          <a:prstGeom prst="rect">
            <a:avLst/>
          </a:prstGeom>
          <a:noFill/>
          <a:ln>
            <a:noFill/>
          </a:ln>
        </p:spPr>
        <p:txBody>
          <a:bodyPr anchorCtr="0" anchor="t" bIns="0" lIns="0" spcFirstLastPara="1" rIns="0" wrap="square" tIns="12050">
            <a:spAutoFit/>
          </a:bodyPr>
          <a:lstStyle/>
          <a:p>
            <a:pPr indent="0" lvl="0" marL="12700" marR="5080" rtl="0" algn="l">
              <a:lnSpc>
                <a:spcPct val="102499"/>
              </a:lnSpc>
              <a:spcBef>
                <a:spcPts val="0"/>
              </a:spcBef>
              <a:spcAft>
                <a:spcPts val="0"/>
              </a:spcAft>
              <a:buNone/>
            </a:pPr>
            <a:r>
              <a:rPr b="1" lang="en-US" sz="1100">
                <a:solidFill>
                  <a:srgbClr val="2E4D5D"/>
                </a:solidFill>
                <a:latin typeface="Arial"/>
                <a:ea typeface="Arial"/>
                <a:cs typeface="Arial"/>
                <a:sym typeface="Arial"/>
              </a:rPr>
              <a:t>Amorphous materials </a:t>
            </a:r>
            <a:r>
              <a:rPr lang="en-US" sz="1100">
                <a:solidFill>
                  <a:srgbClr val="2E4D5D"/>
                </a:solidFill>
                <a:latin typeface="Arial"/>
                <a:ea typeface="Arial"/>
                <a:cs typeface="Arial"/>
                <a:sym typeface="Arial"/>
              </a:rPr>
              <a:t>are involved in many </a:t>
            </a:r>
            <a:r>
              <a:rPr b="1" lang="en-US" sz="1100">
                <a:solidFill>
                  <a:srgbClr val="2E4D5D"/>
                </a:solidFill>
                <a:latin typeface="Arial"/>
                <a:ea typeface="Arial"/>
                <a:cs typeface="Arial"/>
                <a:sym typeface="Arial"/>
              </a:rPr>
              <a:t>construction applications</a:t>
            </a:r>
            <a:r>
              <a:rPr lang="en-US" sz="1100">
                <a:solidFill>
                  <a:srgbClr val="2E4D5D"/>
                </a:solidFill>
                <a:latin typeface="Arial"/>
                <a:ea typeface="Arial"/>
                <a:cs typeface="Arial"/>
                <a:sym typeface="Arial"/>
              </a:rPr>
              <a:t>: excavation, shotcreting, plastering …</a:t>
            </a:r>
            <a:endParaRPr sz="1100">
              <a:latin typeface="Arial"/>
              <a:ea typeface="Arial"/>
              <a:cs typeface="Arial"/>
              <a:sym typeface="Arial"/>
            </a:endParaRPr>
          </a:p>
        </p:txBody>
      </p:sp>
      <p:sp>
        <p:nvSpPr>
          <p:cNvPr id="108" name="Google Shape;108;p7"/>
          <p:cNvSpPr txBox="1"/>
          <p:nvPr/>
        </p:nvSpPr>
        <p:spPr>
          <a:xfrm>
            <a:off x="671181" y="5360395"/>
            <a:ext cx="3975600" cy="701700"/>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US" sz="1100" u="sng">
                <a:solidFill>
                  <a:srgbClr val="2E4D5D"/>
                </a:solidFill>
                <a:latin typeface="Arial"/>
                <a:ea typeface="Arial"/>
                <a:cs typeface="Arial"/>
                <a:sym typeface="Arial"/>
              </a:rPr>
              <a:t>Challenges:</a:t>
            </a:r>
            <a:endParaRPr sz="1100">
              <a:latin typeface="Arial"/>
              <a:ea typeface="Arial"/>
              <a:cs typeface="Arial"/>
              <a:sym typeface="Arial"/>
            </a:endParaRPr>
          </a:p>
          <a:p>
            <a:pPr indent="0" lvl="0" marL="12700" marR="5080" rtl="0" algn="just">
              <a:lnSpc>
                <a:spcPct val="102499"/>
              </a:lnSpc>
              <a:spcBef>
                <a:spcPts val="0"/>
              </a:spcBef>
              <a:spcAft>
                <a:spcPts val="0"/>
              </a:spcAft>
              <a:buNone/>
            </a:pPr>
            <a:r>
              <a:rPr lang="en-US" sz="1100">
                <a:solidFill>
                  <a:srgbClr val="2E4D5D"/>
                </a:solidFill>
                <a:latin typeface="Arial"/>
                <a:ea typeface="Arial"/>
                <a:cs typeface="Arial"/>
                <a:sym typeface="Arial"/>
              </a:rPr>
              <a:t>Sand properties, like for other </a:t>
            </a:r>
            <a:r>
              <a:rPr b="1" lang="en-US" sz="1100">
                <a:solidFill>
                  <a:srgbClr val="2E4D5D"/>
                </a:solidFill>
                <a:latin typeface="Arial"/>
                <a:ea typeface="Arial"/>
                <a:cs typeface="Arial"/>
                <a:sym typeface="Arial"/>
              </a:rPr>
              <a:t>amorphous materials, </a:t>
            </a:r>
            <a:r>
              <a:rPr lang="en-US" sz="1100">
                <a:solidFill>
                  <a:srgbClr val="2E4D5D"/>
                </a:solidFill>
                <a:latin typeface="Arial"/>
                <a:ea typeface="Arial"/>
                <a:cs typeface="Arial"/>
                <a:sym typeface="Arial"/>
              </a:rPr>
              <a:t>are difficult to estimate and </a:t>
            </a:r>
            <a:r>
              <a:rPr b="1" lang="en-US" sz="1100">
                <a:solidFill>
                  <a:srgbClr val="2E4D5D"/>
                </a:solidFill>
                <a:latin typeface="Arial"/>
                <a:ea typeface="Arial"/>
                <a:cs typeface="Arial"/>
                <a:sym typeface="Arial"/>
              </a:rPr>
              <a:t>emergent effects </a:t>
            </a:r>
            <a:r>
              <a:rPr lang="en-US" sz="1100">
                <a:solidFill>
                  <a:srgbClr val="2E4D5D"/>
                </a:solidFill>
                <a:latin typeface="Arial"/>
                <a:ea typeface="Arial"/>
                <a:cs typeface="Arial"/>
                <a:sym typeface="Arial"/>
              </a:rPr>
              <a:t>such as collapses may occur which both influence the manipulation outcome.</a:t>
            </a:r>
            <a:endParaRPr sz="1100">
              <a:latin typeface="Arial"/>
              <a:ea typeface="Arial"/>
              <a:cs typeface="Arial"/>
              <a:sym typeface="Arial"/>
            </a:endParaRPr>
          </a:p>
        </p:txBody>
      </p:sp>
      <p:sp>
        <p:nvSpPr>
          <p:cNvPr id="109" name="Google Shape;109;p7"/>
          <p:cNvSpPr txBox="1"/>
          <p:nvPr/>
        </p:nvSpPr>
        <p:spPr>
          <a:xfrm>
            <a:off x="671181" y="6417718"/>
            <a:ext cx="3976500" cy="936900"/>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None/>
            </a:pPr>
            <a:r>
              <a:rPr b="1" lang="en-US" sz="1500">
                <a:solidFill>
                  <a:srgbClr val="2E4D5D"/>
                </a:solidFill>
                <a:latin typeface="Arial"/>
                <a:ea typeface="Arial"/>
                <a:cs typeface="Arial"/>
                <a:sym typeface="Arial"/>
              </a:rPr>
              <a:t>→ As humans typically work, we propose an approach where we iterate and adapt the manipulation actions to the observed and desired material states.</a:t>
            </a:r>
            <a:endParaRPr sz="1500">
              <a:latin typeface="Arial"/>
              <a:ea typeface="Arial"/>
              <a:cs typeface="Arial"/>
              <a:sym typeface="Arial"/>
            </a:endParaRPr>
          </a:p>
        </p:txBody>
      </p:sp>
      <p:grpSp>
        <p:nvGrpSpPr>
          <p:cNvPr id="110" name="Google Shape;110;p7"/>
          <p:cNvGrpSpPr/>
          <p:nvPr/>
        </p:nvGrpSpPr>
        <p:grpSpPr>
          <a:xfrm>
            <a:off x="507261" y="14081793"/>
            <a:ext cx="4330700" cy="4583430"/>
            <a:chOff x="507261" y="14081793"/>
            <a:chExt cx="4330700" cy="4583430"/>
          </a:xfrm>
        </p:grpSpPr>
        <p:sp>
          <p:nvSpPr>
            <p:cNvPr id="111" name="Google Shape;111;p7"/>
            <p:cNvSpPr/>
            <p:nvPr/>
          </p:nvSpPr>
          <p:spPr>
            <a:xfrm>
              <a:off x="507261" y="14081793"/>
              <a:ext cx="4330700" cy="4583430"/>
            </a:xfrm>
            <a:custGeom>
              <a:rect b="b" l="l" r="r" t="t"/>
              <a:pathLst>
                <a:path extrusionOk="0" h="4583430" w="4330700">
                  <a:moveTo>
                    <a:pt x="3902932" y="0"/>
                  </a:moveTo>
                  <a:lnTo>
                    <a:pt x="427759" y="0"/>
                  </a:lnTo>
                  <a:lnTo>
                    <a:pt x="381144" y="2509"/>
                  </a:lnTo>
                  <a:lnTo>
                    <a:pt x="335985" y="9864"/>
                  </a:lnTo>
                  <a:lnTo>
                    <a:pt x="292542" y="21803"/>
                  </a:lnTo>
                  <a:lnTo>
                    <a:pt x="251076" y="38065"/>
                  </a:lnTo>
                  <a:lnTo>
                    <a:pt x="211847" y="58391"/>
                  </a:lnTo>
                  <a:lnTo>
                    <a:pt x="175116" y="82518"/>
                  </a:lnTo>
                  <a:lnTo>
                    <a:pt x="141145" y="110185"/>
                  </a:lnTo>
                  <a:lnTo>
                    <a:pt x="110194" y="141133"/>
                  </a:lnTo>
                  <a:lnTo>
                    <a:pt x="82523" y="175100"/>
                  </a:lnTo>
                  <a:lnTo>
                    <a:pt x="58394" y="211825"/>
                  </a:lnTo>
                  <a:lnTo>
                    <a:pt x="38068" y="251047"/>
                  </a:lnTo>
                  <a:lnTo>
                    <a:pt x="21804" y="292506"/>
                  </a:lnTo>
                  <a:lnTo>
                    <a:pt x="9864" y="335941"/>
                  </a:lnTo>
                  <a:lnTo>
                    <a:pt x="2509" y="381090"/>
                  </a:lnTo>
                  <a:lnTo>
                    <a:pt x="0" y="427693"/>
                  </a:lnTo>
                  <a:lnTo>
                    <a:pt x="0" y="4155546"/>
                  </a:lnTo>
                  <a:lnTo>
                    <a:pt x="2509" y="4202160"/>
                  </a:lnTo>
                  <a:lnTo>
                    <a:pt x="9864" y="4247319"/>
                  </a:lnTo>
                  <a:lnTo>
                    <a:pt x="21804" y="4290762"/>
                  </a:lnTo>
                  <a:lnTo>
                    <a:pt x="38068" y="4332228"/>
                  </a:lnTo>
                  <a:lnTo>
                    <a:pt x="58394" y="4371456"/>
                  </a:lnTo>
                  <a:lnTo>
                    <a:pt x="82523" y="4408186"/>
                  </a:lnTo>
                  <a:lnTo>
                    <a:pt x="110194" y="4442157"/>
                  </a:lnTo>
                  <a:lnTo>
                    <a:pt x="141145" y="4473107"/>
                  </a:lnTo>
                  <a:lnTo>
                    <a:pt x="175116" y="4500777"/>
                  </a:lnTo>
                  <a:lnTo>
                    <a:pt x="211847" y="4524906"/>
                  </a:lnTo>
                  <a:lnTo>
                    <a:pt x="251076" y="4545232"/>
                  </a:lnTo>
                  <a:lnTo>
                    <a:pt x="292542" y="4561495"/>
                  </a:lnTo>
                  <a:lnTo>
                    <a:pt x="335985" y="4573435"/>
                  </a:lnTo>
                  <a:lnTo>
                    <a:pt x="381144" y="4580789"/>
                  </a:lnTo>
                  <a:lnTo>
                    <a:pt x="427759" y="4583299"/>
                  </a:lnTo>
                  <a:lnTo>
                    <a:pt x="3902932" y="4583299"/>
                  </a:lnTo>
                  <a:lnTo>
                    <a:pt x="3949535" y="4580789"/>
                  </a:lnTo>
                  <a:lnTo>
                    <a:pt x="3994685" y="4573435"/>
                  </a:lnTo>
                  <a:lnTo>
                    <a:pt x="4038119" y="4561495"/>
                  </a:lnTo>
                  <a:lnTo>
                    <a:pt x="4079578" y="4545232"/>
                  </a:lnTo>
                  <a:lnTo>
                    <a:pt x="4118801" y="4524906"/>
                  </a:lnTo>
                  <a:lnTo>
                    <a:pt x="4155526" y="4500777"/>
                  </a:lnTo>
                  <a:lnTo>
                    <a:pt x="4189492" y="4473107"/>
                  </a:lnTo>
                  <a:lnTo>
                    <a:pt x="4220440" y="4442157"/>
                  </a:lnTo>
                  <a:lnTo>
                    <a:pt x="4248108" y="4408186"/>
                  </a:lnTo>
                  <a:lnTo>
                    <a:pt x="4272235" y="4371456"/>
                  </a:lnTo>
                  <a:lnTo>
                    <a:pt x="4292560" y="4332228"/>
                  </a:lnTo>
                  <a:lnTo>
                    <a:pt x="4308822" y="4290762"/>
                  </a:lnTo>
                  <a:lnTo>
                    <a:pt x="4320761" y="4247319"/>
                  </a:lnTo>
                  <a:lnTo>
                    <a:pt x="4328116" y="4202160"/>
                  </a:lnTo>
                  <a:lnTo>
                    <a:pt x="4330626" y="4155546"/>
                  </a:lnTo>
                  <a:lnTo>
                    <a:pt x="4330626" y="427693"/>
                  </a:lnTo>
                  <a:lnTo>
                    <a:pt x="4328116" y="381090"/>
                  </a:lnTo>
                  <a:lnTo>
                    <a:pt x="4320761" y="335941"/>
                  </a:lnTo>
                  <a:lnTo>
                    <a:pt x="4308822" y="292506"/>
                  </a:lnTo>
                  <a:lnTo>
                    <a:pt x="4292560" y="251047"/>
                  </a:lnTo>
                  <a:lnTo>
                    <a:pt x="4272235" y="211825"/>
                  </a:lnTo>
                  <a:lnTo>
                    <a:pt x="4248108" y="175100"/>
                  </a:lnTo>
                  <a:lnTo>
                    <a:pt x="4220440" y="141133"/>
                  </a:lnTo>
                  <a:lnTo>
                    <a:pt x="4189492" y="110185"/>
                  </a:lnTo>
                  <a:lnTo>
                    <a:pt x="4155526" y="82518"/>
                  </a:lnTo>
                  <a:lnTo>
                    <a:pt x="4118801" y="58391"/>
                  </a:lnTo>
                  <a:lnTo>
                    <a:pt x="4079578" y="38065"/>
                  </a:lnTo>
                  <a:lnTo>
                    <a:pt x="4038119" y="21803"/>
                  </a:lnTo>
                  <a:lnTo>
                    <a:pt x="3994685" y="9864"/>
                  </a:lnTo>
                  <a:lnTo>
                    <a:pt x="3949535" y="2509"/>
                  </a:lnTo>
                  <a:lnTo>
                    <a:pt x="3902932" y="0"/>
                  </a:lnTo>
                  <a:close/>
                </a:path>
              </a:pathLst>
            </a:custGeom>
            <a:solidFill>
              <a:srgbClr val="E4EC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2" name="Google Shape;112;p7"/>
            <p:cNvSpPr/>
            <p:nvPr/>
          </p:nvSpPr>
          <p:spPr>
            <a:xfrm>
              <a:off x="507261" y="14081793"/>
              <a:ext cx="4330700" cy="4583430"/>
            </a:xfrm>
            <a:custGeom>
              <a:rect b="b" l="l" r="r" t="t"/>
              <a:pathLst>
                <a:path extrusionOk="0" h="4583430" w="4330700">
                  <a:moveTo>
                    <a:pt x="0" y="427693"/>
                  </a:moveTo>
                  <a:lnTo>
                    <a:pt x="2509" y="381090"/>
                  </a:lnTo>
                  <a:lnTo>
                    <a:pt x="9864" y="335941"/>
                  </a:lnTo>
                  <a:lnTo>
                    <a:pt x="21804" y="292506"/>
                  </a:lnTo>
                  <a:lnTo>
                    <a:pt x="38068" y="251047"/>
                  </a:lnTo>
                  <a:lnTo>
                    <a:pt x="58394" y="211825"/>
                  </a:lnTo>
                  <a:lnTo>
                    <a:pt x="82523" y="175100"/>
                  </a:lnTo>
                  <a:lnTo>
                    <a:pt x="110194" y="141133"/>
                  </a:lnTo>
                  <a:lnTo>
                    <a:pt x="141145" y="110185"/>
                  </a:lnTo>
                  <a:lnTo>
                    <a:pt x="175116" y="82518"/>
                  </a:lnTo>
                  <a:lnTo>
                    <a:pt x="211847" y="58391"/>
                  </a:lnTo>
                  <a:lnTo>
                    <a:pt x="251076" y="38065"/>
                  </a:lnTo>
                  <a:lnTo>
                    <a:pt x="292542" y="21803"/>
                  </a:lnTo>
                  <a:lnTo>
                    <a:pt x="335985" y="9864"/>
                  </a:lnTo>
                  <a:lnTo>
                    <a:pt x="381144" y="2509"/>
                  </a:lnTo>
                  <a:lnTo>
                    <a:pt x="427759" y="0"/>
                  </a:lnTo>
                  <a:lnTo>
                    <a:pt x="3902932" y="0"/>
                  </a:lnTo>
                  <a:lnTo>
                    <a:pt x="3949535" y="2509"/>
                  </a:lnTo>
                  <a:lnTo>
                    <a:pt x="3994685" y="9864"/>
                  </a:lnTo>
                  <a:lnTo>
                    <a:pt x="4038119" y="21803"/>
                  </a:lnTo>
                  <a:lnTo>
                    <a:pt x="4079578" y="38065"/>
                  </a:lnTo>
                  <a:lnTo>
                    <a:pt x="4118801" y="58391"/>
                  </a:lnTo>
                  <a:lnTo>
                    <a:pt x="4155526" y="82518"/>
                  </a:lnTo>
                  <a:lnTo>
                    <a:pt x="4189492" y="110185"/>
                  </a:lnTo>
                  <a:lnTo>
                    <a:pt x="4220440" y="141133"/>
                  </a:lnTo>
                  <a:lnTo>
                    <a:pt x="4248108" y="175100"/>
                  </a:lnTo>
                  <a:lnTo>
                    <a:pt x="4272235" y="211825"/>
                  </a:lnTo>
                  <a:lnTo>
                    <a:pt x="4292560" y="251047"/>
                  </a:lnTo>
                  <a:lnTo>
                    <a:pt x="4308822" y="292506"/>
                  </a:lnTo>
                  <a:lnTo>
                    <a:pt x="4320761" y="335941"/>
                  </a:lnTo>
                  <a:lnTo>
                    <a:pt x="4328116" y="381090"/>
                  </a:lnTo>
                  <a:lnTo>
                    <a:pt x="4330626" y="427693"/>
                  </a:lnTo>
                  <a:lnTo>
                    <a:pt x="4330626" y="4155546"/>
                  </a:lnTo>
                  <a:lnTo>
                    <a:pt x="4328116" y="4202160"/>
                  </a:lnTo>
                  <a:lnTo>
                    <a:pt x="4320761" y="4247319"/>
                  </a:lnTo>
                  <a:lnTo>
                    <a:pt x="4308822" y="4290762"/>
                  </a:lnTo>
                  <a:lnTo>
                    <a:pt x="4292560" y="4332228"/>
                  </a:lnTo>
                  <a:lnTo>
                    <a:pt x="4272235" y="4371456"/>
                  </a:lnTo>
                  <a:lnTo>
                    <a:pt x="4248108" y="4408186"/>
                  </a:lnTo>
                  <a:lnTo>
                    <a:pt x="4220440" y="4442157"/>
                  </a:lnTo>
                  <a:lnTo>
                    <a:pt x="4189492" y="4473107"/>
                  </a:lnTo>
                  <a:lnTo>
                    <a:pt x="4155526" y="4500777"/>
                  </a:lnTo>
                  <a:lnTo>
                    <a:pt x="4118801" y="4524906"/>
                  </a:lnTo>
                  <a:lnTo>
                    <a:pt x="4079578" y="4545232"/>
                  </a:lnTo>
                  <a:lnTo>
                    <a:pt x="4038119" y="4561495"/>
                  </a:lnTo>
                  <a:lnTo>
                    <a:pt x="3994685" y="4573435"/>
                  </a:lnTo>
                  <a:lnTo>
                    <a:pt x="3949535" y="4580789"/>
                  </a:lnTo>
                  <a:lnTo>
                    <a:pt x="3902932" y="4583299"/>
                  </a:lnTo>
                  <a:lnTo>
                    <a:pt x="427759" y="4583299"/>
                  </a:lnTo>
                  <a:lnTo>
                    <a:pt x="381144" y="4580789"/>
                  </a:lnTo>
                  <a:lnTo>
                    <a:pt x="335985" y="4573435"/>
                  </a:lnTo>
                  <a:lnTo>
                    <a:pt x="292542" y="4561495"/>
                  </a:lnTo>
                  <a:lnTo>
                    <a:pt x="251076" y="4545232"/>
                  </a:lnTo>
                  <a:lnTo>
                    <a:pt x="211847" y="4524906"/>
                  </a:lnTo>
                  <a:lnTo>
                    <a:pt x="175116" y="4500777"/>
                  </a:lnTo>
                  <a:lnTo>
                    <a:pt x="141145" y="4473107"/>
                  </a:lnTo>
                  <a:lnTo>
                    <a:pt x="110194" y="4442157"/>
                  </a:lnTo>
                  <a:lnTo>
                    <a:pt x="82523" y="4408186"/>
                  </a:lnTo>
                  <a:lnTo>
                    <a:pt x="58394" y="4371456"/>
                  </a:lnTo>
                  <a:lnTo>
                    <a:pt x="38068" y="4332228"/>
                  </a:lnTo>
                  <a:lnTo>
                    <a:pt x="21804" y="4290762"/>
                  </a:lnTo>
                  <a:lnTo>
                    <a:pt x="9864" y="4247319"/>
                  </a:lnTo>
                  <a:lnTo>
                    <a:pt x="2509" y="4202160"/>
                  </a:lnTo>
                  <a:lnTo>
                    <a:pt x="0" y="4155546"/>
                  </a:lnTo>
                  <a:lnTo>
                    <a:pt x="0" y="427693"/>
                  </a:lnTo>
                  <a:close/>
                </a:path>
              </a:pathLst>
            </a:custGeom>
            <a:noFill/>
            <a:ln cap="flat" cmpd="sng" w="9525">
              <a:solidFill>
                <a:srgbClr val="1D8DA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3" name="Google Shape;113;p7"/>
          <p:cNvSpPr txBox="1"/>
          <p:nvPr/>
        </p:nvSpPr>
        <p:spPr>
          <a:xfrm>
            <a:off x="815188" y="14186163"/>
            <a:ext cx="3714750" cy="884555"/>
          </a:xfrm>
          <a:prstGeom prst="rect">
            <a:avLst/>
          </a:prstGeom>
          <a:noFill/>
          <a:ln>
            <a:noFill/>
          </a:ln>
        </p:spPr>
        <p:txBody>
          <a:bodyPr anchorCtr="0" anchor="t" bIns="0" lIns="0" spcFirstLastPara="1" rIns="0" wrap="square" tIns="11425">
            <a:spAutoFit/>
          </a:bodyPr>
          <a:lstStyle/>
          <a:p>
            <a:pPr indent="0" lvl="0" marL="12065" marR="5080" rtl="0" algn="ctr">
              <a:lnSpc>
                <a:spcPct val="101600"/>
              </a:lnSpc>
              <a:spcBef>
                <a:spcPts val="0"/>
              </a:spcBef>
              <a:spcAft>
                <a:spcPts val="0"/>
              </a:spcAft>
              <a:buNone/>
            </a:pPr>
            <a:r>
              <a:rPr lang="en-US" sz="1850">
                <a:solidFill>
                  <a:srgbClr val="2E4D5D"/>
                </a:solidFill>
                <a:latin typeface="Arial"/>
                <a:ea typeface="Arial"/>
                <a:cs typeface="Arial"/>
                <a:sym typeface="Arial"/>
              </a:rPr>
              <a:t>Our </a:t>
            </a:r>
            <a:r>
              <a:rPr b="1" lang="en-US" sz="1850">
                <a:solidFill>
                  <a:srgbClr val="2E4D5D"/>
                </a:solidFill>
                <a:latin typeface="Arial"/>
                <a:ea typeface="Arial"/>
                <a:cs typeface="Arial"/>
                <a:sym typeface="Arial"/>
              </a:rPr>
              <a:t>layered framework </a:t>
            </a:r>
            <a:r>
              <a:rPr lang="en-US" sz="1850">
                <a:solidFill>
                  <a:srgbClr val="2E4D5D"/>
                </a:solidFill>
                <a:latin typeface="Arial"/>
                <a:ea typeface="Arial"/>
                <a:cs typeface="Arial"/>
                <a:sym typeface="Arial"/>
              </a:rPr>
              <a:t>separates the manipulation problem into different abstraction levels..</a:t>
            </a:r>
            <a:endParaRPr sz="1850">
              <a:latin typeface="Arial"/>
              <a:ea typeface="Arial"/>
              <a:cs typeface="Arial"/>
              <a:sym typeface="Arial"/>
            </a:endParaRPr>
          </a:p>
        </p:txBody>
      </p:sp>
      <p:sp>
        <p:nvSpPr>
          <p:cNvPr id="114" name="Google Shape;114;p7"/>
          <p:cNvSpPr txBox="1"/>
          <p:nvPr/>
        </p:nvSpPr>
        <p:spPr>
          <a:xfrm>
            <a:off x="659440" y="16940843"/>
            <a:ext cx="3439795" cy="19748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1100">
                <a:solidFill>
                  <a:srgbClr val="2E4D5D"/>
                </a:solidFill>
                <a:latin typeface="Arial"/>
                <a:ea typeface="Arial"/>
                <a:cs typeface="Arial"/>
                <a:sym typeface="Arial"/>
              </a:rPr>
              <a:t>The </a:t>
            </a:r>
            <a:r>
              <a:rPr b="1" lang="en-US" sz="1100">
                <a:solidFill>
                  <a:srgbClr val="2E4D5D"/>
                </a:solidFill>
                <a:latin typeface="Arial"/>
                <a:ea typeface="Arial"/>
                <a:cs typeface="Arial"/>
                <a:sym typeface="Arial"/>
              </a:rPr>
              <a:t>iterative </a:t>
            </a:r>
            <a:r>
              <a:rPr lang="en-US" sz="1100">
                <a:solidFill>
                  <a:srgbClr val="2E4D5D"/>
                </a:solidFill>
                <a:latin typeface="Arial"/>
                <a:ea typeface="Arial"/>
                <a:cs typeface="Arial"/>
                <a:sym typeface="Arial"/>
              </a:rPr>
              <a:t>grading process uses two control levels:</a:t>
            </a:r>
            <a:endParaRPr sz="1100">
              <a:latin typeface="Arial"/>
              <a:ea typeface="Arial"/>
              <a:cs typeface="Arial"/>
              <a:sym typeface="Arial"/>
            </a:endParaRPr>
          </a:p>
        </p:txBody>
      </p:sp>
      <p:sp>
        <p:nvSpPr>
          <p:cNvPr id="115" name="Google Shape;115;p7"/>
          <p:cNvSpPr txBox="1"/>
          <p:nvPr/>
        </p:nvSpPr>
        <p:spPr>
          <a:xfrm>
            <a:off x="659440" y="17284430"/>
            <a:ext cx="3921125" cy="1228090"/>
          </a:xfrm>
          <a:prstGeom prst="rect">
            <a:avLst/>
          </a:prstGeom>
          <a:noFill/>
          <a:ln>
            <a:noFill/>
          </a:ln>
        </p:spPr>
        <p:txBody>
          <a:bodyPr anchorCtr="0" anchor="t" bIns="0" lIns="0" spcFirstLastPara="1" rIns="0" wrap="square" tIns="12050">
            <a:spAutoFit/>
          </a:bodyPr>
          <a:lstStyle/>
          <a:p>
            <a:pPr indent="-158115" lvl="0" marL="170180" marR="5080" rtl="0" algn="l">
              <a:lnSpc>
                <a:spcPct val="102499"/>
              </a:lnSpc>
              <a:spcBef>
                <a:spcPts val="0"/>
              </a:spcBef>
              <a:spcAft>
                <a:spcPts val="0"/>
              </a:spcAft>
              <a:buClr>
                <a:srgbClr val="2E4D5D"/>
              </a:buClr>
              <a:buSzPts val="1100"/>
              <a:buFont typeface="Arial"/>
              <a:buChar char="•"/>
            </a:pPr>
            <a:r>
              <a:rPr lang="en-US" sz="1100">
                <a:solidFill>
                  <a:srgbClr val="2E4D5D"/>
                </a:solidFill>
                <a:latin typeface="Arial"/>
                <a:ea typeface="Arial"/>
                <a:cs typeface="Arial"/>
                <a:sym typeface="Arial"/>
              </a:rPr>
              <a:t>The </a:t>
            </a:r>
            <a:r>
              <a:rPr b="1" lang="en-US" sz="1100">
                <a:solidFill>
                  <a:srgbClr val="2E4D5D"/>
                </a:solidFill>
                <a:latin typeface="Arial"/>
                <a:ea typeface="Arial"/>
                <a:cs typeface="Arial"/>
                <a:sym typeface="Arial"/>
              </a:rPr>
              <a:t>Grading Iteration Control: </a:t>
            </a:r>
            <a:r>
              <a:rPr lang="en-US" sz="1100">
                <a:solidFill>
                  <a:srgbClr val="2E4D5D"/>
                </a:solidFill>
                <a:latin typeface="Arial"/>
                <a:ea typeface="Arial"/>
                <a:cs typeface="Arial"/>
                <a:sym typeface="Arial"/>
              </a:rPr>
              <a:t>adapts the robot’s motion 	during one grading iteration to account for material 	properties and achieve the task objectives while respecting 	constraints.</a:t>
            </a:r>
            <a:endParaRPr sz="1100">
              <a:latin typeface="Arial"/>
              <a:ea typeface="Arial"/>
              <a:cs typeface="Arial"/>
              <a:sym typeface="Arial"/>
            </a:endParaRPr>
          </a:p>
          <a:p>
            <a:pPr indent="-158115" lvl="0" marL="170180" marR="123825" rtl="0" algn="l">
              <a:lnSpc>
                <a:spcPct val="102499"/>
              </a:lnSpc>
              <a:spcBef>
                <a:spcPts val="0"/>
              </a:spcBef>
              <a:spcAft>
                <a:spcPts val="0"/>
              </a:spcAft>
              <a:buClr>
                <a:srgbClr val="2E4D5D"/>
              </a:buClr>
              <a:buSzPts val="1100"/>
              <a:buFont typeface="Arial"/>
              <a:buChar char="•"/>
            </a:pPr>
            <a:r>
              <a:rPr lang="en-US" sz="1100">
                <a:solidFill>
                  <a:srgbClr val="2E4D5D"/>
                </a:solidFill>
                <a:latin typeface="Arial"/>
                <a:ea typeface="Arial"/>
                <a:cs typeface="Arial"/>
                <a:sym typeface="Arial"/>
              </a:rPr>
              <a:t>The </a:t>
            </a:r>
            <a:r>
              <a:rPr b="1" lang="en-US" sz="1100">
                <a:solidFill>
                  <a:srgbClr val="2E4D5D"/>
                </a:solidFill>
                <a:latin typeface="Arial"/>
                <a:ea typeface="Arial"/>
                <a:cs typeface="Arial"/>
                <a:sym typeface="Arial"/>
              </a:rPr>
              <a:t>Grading Quality Assessment </a:t>
            </a:r>
            <a:r>
              <a:rPr lang="en-US" sz="1100">
                <a:solidFill>
                  <a:srgbClr val="2E4D5D"/>
                </a:solidFill>
                <a:latin typeface="Arial"/>
                <a:ea typeface="Arial"/>
                <a:cs typeface="Arial"/>
                <a:sym typeface="Arial"/>
              </a:rPr>
              <a:t>evaluates the task 	objectives in between iterations to determine whether the 	task is finished, or another iteration is necessary.</a:t>
            </a:r>
            <a:endParaRPr sz="1100">
              <a:latin typeface="Arial"/>
              <a:ea typeface="Arial"/>
              <a:cs typeface="Arial"/>
              <a:sym typeface="Arial"/>
            </a:endParaRPr>
          </a:p>
        </p:txBody>
      </p:sp>
      <p:pic>
        <p:nvPicPr>
          <p:cNvPr descr="A black background with a black square  AI-generated content may be incorrect." id="116" name="Google Shape;116;p7"/>
          <p:cNvPicPr preferRelativeResize="0"/>
          <p:nvPr/>
        </p:nvPicPr>
        <p:blipFill rotWithShape="1">
          <a:blip r:embed="rId8">
            <a:alphaModFix/>
          </a:blip>
          <a:srcRect b="0" l="0" r="0" t="0"/>
          <a:stretch/>
        </p:blipFill>
        <p:spPr>
          <a:xfrm>
            <a:off x="628118" y="15292756"/>
            <a:ext cx="4086829" cy="1480881"/>
          </a:xfrm>
          <a:prstGeom prst="rect">
            <a:avLst/>
          </a:prstGeom>
          <a:noFill/>
          <a:ln>
            <a:noFill/>
          </a:ln>
        </p:spPr>
      </p:pic>
      <p:grpSp>
        <p:nvGrpSpPr>
          <p:cNvPr id="117" name="Google Shape;117;p7"/>
          <p:cNvGrpSpPr/>
          <p:nvPr/>
        </p:nvGrpSpPr>
        <p:grpSpPr>
          <a:xfrm>
            <a:off x="5409652" y="9683919"/>
            <a:ext cx="3726779" cy="3573147"/>
            <a:chOff x="5409636" y="10066963"/>
            <a:chExt cx="3726779" cy="3208356"/>
          </a:xfrm>
        </p:grpSpPr>
        <p:pic>
          <p:nvPicPr>
            <p:cNvPr descr="A screenshot of a computer screen  AI-generated content may be incorrect." id="118" name="Google Shape;118;p7"/>
            <p:cNvPicPr preferRelativeResize="0"/>
            <p:nvPr/>
          </p:nvPicPr>
          <p:blipFill rotWithShape="1">
            <a:blip r:embed="rId9">
              <a:alphaModFix/>
            </a:blip>
            <a:srcRect b="0" l="0" r="0" t="0"/>
            <a:stretch/>
          </p:blipFill>
          <p:spPr>
            <a:xfrm>
              <a:off x="7634716" y="10066963"/>
              <a:ext cx="1501699" cy="979937"/>
            </a:xfrm>
            <a:prstGeom prst="rect">
              <a:avLst/>
            </a:prstGeom>
            <a:noFill/>
            <a:ln>
              <a:noFill/>
            </a:ln>
          </p:spPr>
        </p:pic>
        <p:pic>
          <p:nvPicPr>
            <p:cNvPr descr="A screenshot of a computer screen  AI-generated content may be incorrect." id="119" name="Google Shape;119;p7"/>
            <p:cNvPicPr preferRelativeResize="0"/>
            <p:nvPr/>
          </p:nvPicPr>
          <p:blipFill rotWithShape="1">
            <a:blip r:embed="rId10">
              <a:alphaModFix/>
            </a:blip>
            <a:srcRect b="0" l="0" r="0" t="0"/>
            <a:stretch/>
          </p:blipFill>
          <p:spPr>
            <a:xfrm>
              <a:off x="7606323" y="11013674"/>
              <a:ext cx="1495914" cy="974150"/>
            </a:xfrm>
            <a:prstGeom prst="rect">
              <a:avLst/>
            </a:prstGeom>
            <a:noFill/>
            <a:ln>
              <a:noFill/>
            </a:ln>
          </p:spPr>
        </p:pic>
        <p:sp>
          <p:nvSpPr>
            <p:cNvPr id="120" name="Google Shape;120;p7"/>
            <p:cNvSpPr/>
            <p:nvPr/>
          </p:nvSpPr>
          <p:spPr>
            <a:xfrm>
              <a:off x="5409636" y="12048138"/>
              <a:ext cx="196850" cy="209550"/>
            </a:xfrm>
            <a:custGeom>
              <a:rect b="b" l="l" r="r" t="t"/>
              <a:pathLst>
                <a:path extrusionOk="0" h="209550" w="196850">
                  <a:moveTo>
                    <a:pt x="196637" y="0"/>
                  </a:moveTo>
                  <a:lnTo>
                    <a:pt x="0" y="0"/>
                  </a:lnTo>
                  <a:lnTo>
                    <a:pt x="0" y="209128"/>
                  </a:lnTo>
                  <a:lnTo>
                    <a:pt x="196637" y="209128"/>
                  </a:lnTo>
                  <a:lnTo>
                    <a:pt x="196637" y="0"/>
                  </a:lnTo>
                  <a:close/>
                </a:path>
              </a:pathLst>
            </a:custGeom>
            <a:solidFill>
              <a:srgbClr val="C4D5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1" name="Google Shape;121;p7"/>
            <p:cNvPicPr preferRelativeResize="0"/>
            <p:nvPr/>
          </p:nvPicPr>
          <p:blipFill rotWithShape="1">
            <a:blip r:embed="rId11">
              <a:alphaModFix/>
            </a:blip>
            <a:srcRect b="0" l="0" r="0" t="0"/>
            <a:stretch/>
          </p:blipFill>
          <p:spPr>
            <a:xfrm>
              <a:off x="5473641" y="12052069"/>
              <a:ext cx="3341377" cy="1223250"/>
            </a:xfrm>
            <a:prstGeom prst="rect">
              <a:avLst/>
            </a:prstGeom>
            <a:noFill/>
            <a:ln>
              <a:noFill/>
            </a:ln>
          </p:spPr>
        </p:pic>
      </p:grpSp>
      <p:pic>
        <p:nvPicPr>
          <p:cNvPr descr="SchEng_keyline.eps" id="122" name="Google Shape;122;p7"/>
          <p:cNvPicPr preferRelativeResize="0"/>
          <p:nvPr/>
        </p:nvPicPr>
        <p:blipFill rotWithShape="1">
          <a:blip r:embed="rId12">
            <a:alphaModFix/>
          </a:blip>
          <a:srcRect b="0" l="0" r="0" t="0"/>
          <a:stretch/>
        </p:blipFill>
        <p:spPr>
          <a:xfrm>
            <a:off x="397278" y="362472"/>
            <a:ext cx="4930358" cy="884550"/>
          </a:xfrm>
          <a:prstGeom prst="rect">
            <a:avLst/>
          </a:prstGeom>
          <a:noFill/>
          <a:ln>
            <a:noFill/>
          </a:ln>
        </p:spPr>
      </p:pic>
      <p:sp>
        <p:nvSpPr>
          <p:cNvPr id="123" name="Google Shape;123;p7"/>
          <p:cNvSpPr txBox="1"/>
          <p:nvPr/>
        </p:nvSpPr>
        <p:spPr>
          <a:xfrm>
            <a:off x="9912938" y="464229"/>
            <a:ext cx="4330800" cy="904500"/>
          </a:xfrm>
          <a:prstGeom prst="rect">
            <a:avLst/>
          </a:prstGeom>
          <a:solidFill>
            <a:srgbClr val="10253F"/>
          </a:solidFill>
          <a:ln>
            <a:noFill/>
          </a:ln>
        </p:spPr>
        <p:txBody>
          <a:bodyPr anchorCtr="0" anchor="t" bIns="24125" lIns="48225" spcFirstLastPara="1" rIns="48225" wrap="square" tIns="24125">
            <a:spAutoFit/>
          </a:bodyPr>
          <a:lstStyle/>
          <a:p>
            <a:pPr indent="0" lvl="0" marL="0" marR="0" rtl="0" algn="l">
              <a:lnSpc>
                <a:spcPct val="100000"/>
              </a:lnSpc>
              <a:spcBef>
                <a:spcPts val="0"/>
              </a:spcBef>
              <a:spcAft>
                <a:spcPts val="0"/>
              </a:spcAft>
              <a:buClr>
                <a:srgbClr val="FFFFFF"/>
              </a:buClr>
              <a:buSzPts val="1853"/>
              <a:buFont typeface="Arial"/>
              <a:buNone/>
            </a:pPr>
            <a:r>
              <a:rPr b="1" lang="en-US" sz="1853">
                <a:solidFill>
                  <a:srgbClr val="FFFFFF"/>
                </a:solidFill>
              </a:rPr>
              <a:t>MASIMA</a:t>
            </a:r>
            <a:r>
              <a:rPr b="1" i="0" lang="en-US" sz="1853" u="none">
                <a:solidFill>
                  <a:srgbClr val="FFFFFF"/>
                </a:solidFill>
                <a:latin typeface="Arial"/>
                <a:ea typeface="Arial"/>
                <a:cs typeface="Arial"/>
                <a:sym typeface="Arial"/>
              </a:rPr>
              <a:t>, </a:t>
            </a:r>
            <a:r>
              <a:rPr b="1" lang="en-US" sz="1853">
                <a:solidFill>
                  <a:srgbClr val="FFFFFF"/>
                </a:solidFill>
              </a:rPr>
              <a:t>BONOLO</a:t>
            </a:r>
            <a:endParaRPr sz="772">
              <a:solidFill>
                <a:srgbClr val="00213B"/>
              </a:solidFill>
            </a:endParaRPr>
          </a:p>
          <a:p>
            <a:pPr indent="0" lvl="0" marL="0" marR="0" rtl="0" algn="l">
              <a:lnSpc>
                <a:spcPct val="100000"/>
              </a:lnSpc>
              <a:spcBef>
                <a:spcPts val="0"/>
              </a:spcBef>
              <a:spcAft>
                <a:spcPts val="0"/>
              </a:spcAft>
              <a:buClr>
                <a:srgbClr val="000000"/>
              </a:buClr>
              <a:buSzPts val="1853"/>
              <a:buFont typeface="Arial"/>
              <a:buNone/>
            </a:pPr>
            <a:r>
              <a:t/>
            </a:r>
            <a:endParaRPr b="1" i="0" sz="1853" u="non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53"/>
              <a:buFont typeface="Arial"/>
              <a:buNone/>
            </a:pPr>
            <a:r>
              <a:rPr b="1" lang="en-US" sz="1853">
                <a:solidFill>
                  <a:srgbClr val="FFFFFF"/>
                </a:solidFill>
              </a:rPr>
              <a:t>3175764M</a:t>
            </a:r>
            <a:endParaRPr sz="772"/>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