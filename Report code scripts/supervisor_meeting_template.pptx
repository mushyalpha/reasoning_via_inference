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"/>
  </p:notesMasterIdLst>
  <p:sldIdLst>
    <p:sldId id="256" r:id="rId5"/>
    <p:sldId id="479" r:id="rId6"/>
    <p:sldId id="480" r:id="rId7"/>
    <p:sldId id="485" r:id="rId8"/>
    <p:sldId id="481" r:id="rId9"/>
    <p:sldId id="483" r:id="rId10"/>
    <p:sldId id="482" r:id="rId11"/>
    <p:sldId id="484" r:id="rId12"/>
    <p:sldId id="27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95AE2-43AC-144B-AE88-DCB376799F11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4E5BB-E6B0-B84A-ABCD-9A3E9C2D7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4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1053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0371B6-F427-4B79-4105-142645FAE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08C7B8-3D44-3E2D-39F0-4395C9E613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786ECE-E64F-7781-045E-2F1BC48687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6E3F61-8780-AC55-F21C-8C18292A6C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2781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A2D00-1A6C-66DB-36BB-3914F7AFB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2E2852-99EA-80D5-68DB-12A657319F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C21910-4AA0-0FED-DB69-67D8C9D53D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ABB038-32D4-924D-A975-70137AA8CD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7671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CC61B-DC15-AEEE-8A7A-337569901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C57EF5-96EE-CEE2-8DB6-FFB1255608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E447CE-B81C-F56B-09DC-91BB576609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6FB9A0-5784-E3DD-C886-888C36B66B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8989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7CE9B-C024-358C-2530-00AF29777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DF914A-59AA-9C3D-59D9-B133AFFD00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B7517B-E700-0EC9-FDE5-A5C823BD6D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9C9F8C-509D-5217-254E-82705632DA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8584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7CE9B-C024-358C-2530-00AF29777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DF914A-59AA-9C3D-59D9-B133AFFD00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B7517B-E700-0EC9-FDE5-A5C823BD6D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9C9F8C-509D-5217-254E-82705632DA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1608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94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52559E32-3873-7D45-B9C6-C4F839B30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81BC6CA5-FB54-8746-B1B1-0D09602CEAE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1699336"/>
            <a:ext cx="2452283" cy="457573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35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1DECEF87-946C-834D-8550-61FE3D91A5E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49235" y="1705343"/>
            <a:ext cx="9210963" cy="4526124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0035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>
                <a:solidFill>
                  <a:srgbClr val="0035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400" b="0">
                <a:solidFill>
                  <a:srgbClr val="0035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400">
                <a:solidFill>
                  <a:srgbClr val="0035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400">
                <a:solidFill>
                  <a:srgbClr val="0035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Body text Arial 24pt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8165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2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E31514-F8EA-5D4E-B45D-65DD78DB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12524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91D55F9-A3F2-1242-A5F3-5AAACC9DB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49408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3015529"/>
            <a:ext cx="5680364" cy="623598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184273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012830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28039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65B24-645B-1746-9651-55C209C5E2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10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02/07/2026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9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3" r:id="rId2"/>
    <p:sldLayoutId id="2147483652" r:id="rId3"/>
    <p:sldLayoutId id="2147483653" r:id="rId4"/>
    <p:sldLayoutId id="2147483649" r:id="rId5"/>
    <p:sldLayoutId id="2147483654" r:id="rId6"/>
    <p:sldLayoutId id="2147483656" r:id="rId7"/>
    <p:sldLayoutId id="2147483684" r:id="rId8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he Gilbert Scott Building">
            <a:extLst>
              <a:ext uri="{FF2B5EF4-FFF2-40B4-BE49-F238E27FC236}">
                <a16:creationId xmlns:a16="http://schemas.microsoft.com/office/drawing/2014/main" id="{DD87B83F-24FA-95CA-9C34-13BA695718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7" y="1657926"/>
            <a:ext cx="7103753" cy="789709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tx1"/>
                </a:solidFill>
              </a:rPr>
              <a:t>Bonolo Masima: Supervisor Meeting 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2576945"/>
            <a:ext cx="5680364" cy="1062182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Thurs 2 July 2026 15:30 – Rankine</a:t>
            </a:r>
          </a:p>
        </p:txBody>
      </p:sp>
    </p:spTree>
    <p:extLst>
      <p:ext uri="{BB962C8B-B14F-4D97-AF65-F5344CB8AC3E}">
        <p14:creationId xmlns:p14="http://schemas.microsoft.com/office/powerpoint/2010/main" val="424417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D6D11-8D2E-DA4D-98A2-908011AD7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8570" y="417101"/>
            <a:ext cx="9210963" cy="888786"/>
          </a:xfrm>
        </p:spPr>
        <p:txBody>
          <a:bodyPr>
            <a:normAutofit/>
          </a:bodyPr>
          <a:lstStyle/>
          <a:p>
            <a:r>
              <a:rPr lang="en-GB" dirty="0"/>
              <a:t>Causal Inference for Robotic Grasp Failure Diagnosis under Perceptual Degradation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419C521-73AB-66A0-3684-A7ADA104C9C8}"/>
              </a:ext>
            </a:extLst>
          </p:cNvPr>
          <p:cNvSpPr/>
          <p:nvPr/>
        </p:nvSpPr>
        <p:spPr>
          <a:xfrm>
            <a:off x="202319" y="2300119"/>
            <a:ext cx="2845681" cy="3158183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/>
            <a:r>
              <a:rPr lang="en-IE" sz="2400" b="1" dirty="0"/>
              <a:t>Simulation</a:t>
            </a:r>
            <a:r>
              <a:rPr lang="en-IE" sz="2800" b="1" dirty="0"/>
              <a:t> </a:t>
            </a:r>
            <a:r>
              <a:rPr lang="en-IE" sz="2400" b="1" dirty="0"/>
              <a:t>Pipeline</a:t>
            </a:r>
            <a:endParaRPr lang="en-IE" sz="2400" b="1" dirty="0">
              <a:ea typeface="Calibri"/>
              <a:cs typeface="Calibri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D41E7D-5DED-91D8-FC57-E169C5EBD739}"/>
              </a:ext>
            </a:extLst>
          </p:cNvPr>
          <p:cNvSpPr/>
          <p:nvPr/>
        </p:nvSpPr>
        <p:spPr>
          <a:xfrm>
            <a:off x="3759725" y="2300119"/>
            <a:ext cx="2637694" cy="315818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/>
            <a:r>
              <a:rPr lang="en-IE" sz="2400" b="1" dirty="0">
                <a:ea typeface="Calibri"/>
                <a:cs typeface="Calibri"/>
              </a:rPr>
              <a:t>Data Collection</a:t>
            </a:r>
            <a:endParaRPr lang="en-IE" sz="2000" b="1" dirty="0">
              <a:ea typeface="Calibri"/>
              <a:cs typeface="Calibri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D0F82D5-26E0-6EE9-896C-622F89BDC486}"/>
              </a:ext>
            </a:extLst>
          </p:cNvPr>
          <p:cNvSpPr/>
          <p:nvPr/>
        </p:nvSpPr>
        <p:spPr>
          <a:xfrm>
            <a:off x="6847729" y="2329248"/>
            <a:ext cx="2465772" cy="3184407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IE" sz="2400" b="1" dirty="0"/>
              <a:t>Structural Causal Model</a:t>
            </a:r>
            <a:endParaRPr lang="en-IE" sz="2000" b="1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5260F61E-AACE-F665-F25E-9968C3A3AF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5391" y="1835974"/>
            <a:ext cx="1544781" cy="585129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3"/>
                </a:solidFill>
              </a:rPr>
              <a:t>Phase 1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33D44E86-6924-D648-A5DC-EDF5769CBEA4}"/>
              </a:ext>
            </a:extLst>
          </p:cNvPr>
          <p:cNvSpPr txBox="1">
            <a:spLocks/>
          </p:cNvSpPr>
          <p:nvPr/>
        </p:nvSpPr>
        <p:spPr>
          <a:xfrm>
            <a:off x="352467" y="5796835"/>
            <a:ext cx="11487066" cy="137684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DFA009-3E1F-20F9-20D4-17B5F85D64EE}"/>
              </a:ext>
            </a:extLst>
          </p:cNvPr>
          <p:cNvSpPr txBox="1"/>
          <p:nvPr/>
        </p:nvSpPr>
        <p:spPr>
          <a:xfrm>
            <a:off x="243607" y="4263873"/>
            <a:ext cx="278130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 err="1">
                <a:solidFill>
                  <a:schemeClr val="bg1"/>
                </a:solidFill>
              </a:rPr>
              <a:t>MuJoCo</a:t>
            </a:r>
            <a:r>
              <a:rPr sz="1400" b="0" i="0" dirty="0">
                <a:solidFill>
                  <a:schemeClr val="bg1"/>
                </a:solidFill>
              </a:rPr>
              <a:t> scene  •  Contact-</a:t>
            </a:r>
            <a:r>
              <a:rPr sz="1400" b="0" i="0" dirty="0" err="1">
                <a:solidFill>
                  <a:schemeClr val="bg1"/>
                </a:solidFill>
              </a:rPr>
              <a:t>GraspNet</a:t>
            </a:r>
            <a:r>
              <a:rPr sz="1400" b="0" i="0" dirty="0">
                <a:solidFill>
                  <a:schemeClr val="bg1"/>
                </a:solidFill>
              </a:rPr>
              <a:t>
IK controller  •  432-trial experiment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5F1903-3EBF-8F86-8AA5-BF6B9A95C446}"/>
              </a:ext>
            </a:extLst>
          </p:cNvPr>
          <p:cNvSpPr txBox="1"/>
          <p:nvPr/>
        </p:nvSpPr>
        <p:spPr>
          <a:xfrm>
            <a:off x="635525" y="3364455"/>
            <a:ext cx="20116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  <a:highlight>
                  <a:srgbClr val="008000"/>
                </a:highlight>
              </a:rPr>
              <a:t>COMPLETE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43600BF-FED3-D29B-7C6A-3B54F8CB1323}"/>
              </a:ext>
            </a:extLst>
          </p:cNvPr>
          <p:cNvSpPr txBox="1"/>
          <p:nvPr/>
        </p:nvSpPr>
        <p:spPr>
          <a:xfrm>
            <a:off x="4105390" y="3319276"/>
            <a:ext cx="20116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  <a:highlight>
                  <a:srgbClr val="008000"/>
                </a:highlight>
              </a:rPr>
              <a:t>COMPLETE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96C48B0-B0A4-A391-7E0A-45D34C87A9FD}"/>
              </a:ext>
            </a:extLst>
          </p:cNvPr>
          <p:cNvSpPr txBox="1"/>
          <p:nvPr/>
        </p:nvSpPr>
        <p:spPr>
          <a:xfrm>
            <a:off x="3968230" y="4263873"/>
            <a:ext cx="2286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dirty="0">
                <a:solidFill>
                  <a:schemeClr val="bg1"/>
                </a:solidFill>
              </a:rPr>
              <a:t>Factorial grid (4×4×3×3×3)
432 trials  •  CSV logged</a:t>
            </a:r>
          </a:p>
          <a:p>
            <a:pPr algn="ctr"/>
            <a:endParaRPr sz="1400" b="0" i="0" dirty="0">
              <a:solidFill>
                <a:srgbClr val="444444"/>
              </a:solidFill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79DF721-F8C5-794C-22B6-C5CE311B76C5}"/>
              </a:ext>
            </a:extLst>
          </p:cNvPr>
          <p:cNvSpPr/>
          <p:nvPr/>
        </p:nvSpPr>
        <p:spPr>
          <a:xfrm>
            <a:off x="9731154" y="2329248"/>
            <a:ext cx="2342052" cy="315818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/>
            <a:r>
              <a:rPr lang="en-IE" sz="2400" b="1" dirty="0">
                <a:ea typeface="Calibri"/>
                <a:cs typeface="Calibri"/>
              </a:rPr>
              <a:t>LLM Baseline</a:t>
            </a:r>
            <a:endParaRPr lang="en-IE" sz="2000" b="1" dirty="0">
              <a:ea typeface="Calibri"/>
              <a:cs typeface="Calibri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B84DD32-4E69-2743-8B49-CD1BDA8F7D66}"/>
              </a:ext>
            </a:extLst>
          </p:cNvPr>
          <p:cNvSpPr txBox="1"/>
          <p:nvPr/>
        </p:nvSpPr>
        <p:spPr>
          <a:xfrm>
            <a:off x="6937615" y="4263873"/>
            <a:ext cx="2286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dirty="0">
                <a:solidFill>
                  <a:schemeClr val="bg1"/>
                </a:solidFill>
              </a:rPr>
              <a:t>Fit SCM on collected data
Counterfactual diagnosis</a:t>
            </a:r>
          </a:p>
          <a:p>
            <a:pPr algn="ctr"/>
            <a:endParaRPr sz="1400" b="0" i="0" dirty="0">
              <a:solidFill>
                <a:srgbClr val="444444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3B21FF8-CB65-582D-38D5-B481381F92D6}"/>
              </a:ext>
            </a:extLst>
          </p:cNvPr>
          <p:cNvSpPr txBox="1"/>
          <p:nvPr/>
        </p:nvSpPr>
        <p:spPr>
          <a:xfrm>
            <a:off x="9815106" y="4255775"/>
            <a:ext cx="2286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dirty="0">
                <a:solidFill>
                  <a:schemeClr val="bg1"/>
                </a:solidFill>
              </a:rPr>
              <a:t>Zero-shot GPT-4o prompting
Comparison with SCM accuracy</a:t>
            </a:r>
          </a:p>
          <a:p>
            <a:pPr algn="ctr"/>
            <a:endParaRPr sz="1400" b="0" i="0" dirty="0">
              <a:solidFill>
                <a:srgbClr val="444444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E42ED60-3431-BB8B-6AD8-5576C83392F7}"/>
              </a:ext>
            </a:extLst>
          </p:cNvPr>
          <p:cNvSpPr txBox="1"/>
          <p:nvPr/>
        </p:nvSpPr>
        <p:spPr>
          <a:xfrm>
            <a:off x="7109144" y="3362641"/>
            <a:ext cx="20116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b="1" dirty="0">
                <a:solidFill>
                  <a:srgbClr val="FFFFFF"/>
                </a:solidFill>
                <a:highlight>
                  <a:srgbClr val="FF0000"/>
                </a:highlight>
              </a:rPr>
              <a:t>In progress</a:t>
            </a:r>
            <a:endParaRPr sz="2000" b="1" i="0" dirty="0">
              <a:solidFill>
                <a:srgbClr val="FFFFFF"/>
              </a:solidFill>
              <a:highlight>
                <a:srgbClr val="FF0000"/>
              </a:highlight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A60A318-B5B6-729F-B164-2C66B059ECB5}"/>
              </a:ext>
            </a:extLst>
          </p:cNvPr>
          <p:cNvSpPr txBox="1"/>
          <p:nvPr/>
        </p:nvSpPr>
        <p:spPr>
          <a:xfrm>
            <a:off x="9916799" y="3382506"/>
            <a:ext cx="20116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b="1" dirty="0">
                <a:solidFill>
                  <a:srgbClr val="FFFFFF"/>
                </a:solidFill>
                <a:highlight>
                  <a:srgbClr val="000000"/>
                </a:highlight>
              </a:rPr>
              <a:t>UPCOMING</a:t>
            </a:r>
            <a:endParaRPr sz="2000" b="1" i="0" dirty="0">
              <a:solidFill>
                <a:srgbClr val="FFFFFF"/>
              </a:solidFill>
              <a:highlight>
                <a:srgbClr val="000000"/>
              </a:highlight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9DB6A75-6C68-3A01-FDD1-0B69DC411626}"/>
              </a:ext>
            </a:extLst>
          </p:cNvPr>
          <p:cNvSpPr txBox="1"/>
          <p:nvPr/>
        </p:nvSpPr>
        <p:spPr>
          <a:xfrm>
            <a:off x="4335318" y="1828806"/>
            <a:ext cx="15447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Phase 2</a:t>
            </a:r>
            <a:endParaRPr lang="en-GB" sz="24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D4A7ED5-1937-63A4-50BD-65483E46CDD1}"/>
              </a:ext>
            </a:extLst>
          </p:cNvPr>
          <p:cNvSpPr txBox="1"/>
          <p:nvPr/>
        </p:nvSpPr>
        <p:spPr>
          <a:xfrm>
            <a:off x="7368227" y="1886283"/>
            <a:ext cx="15348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6"/>
                </a:solidFill>
              </a:rPr>
              <a:t>Phase 3</a:t>
            </a:r>
            <a:endParaRPr 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4F85817-8791-956D-0D23-1A7CE1FFF52A}"/>
              </a:ext>
            </a:extLst>
          </p:cNvPr>
          <p:cNvSpPr txBox="1"/>
          <p:nvPr/>
        </p:nvSpPr>
        <p:spPr>
          <a:xfrm>
            <a:off x="10395856" y="1911035"/>
            <a:ext cx="11756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Phase 4 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0972438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A5424-B679-554A-935B-2CF2EFD17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Scene in </a:t>
            </a:r>
            <a:r>
              <a:rPr lang="en-US" dirty="0" err="1">
                <a:solidFill>
                  <a:schemeClr val="tx1"/>
                </a:solidFill>
              </a:rPr>
              <a:t>Mujoco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56416D6-CC31-69AE-3F64-DEC6D228C4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20" t="13174" b="22539"/>
          <a:stretch>
            <a:fillRect/>
          </a:stretch>
        </p:blipFill>
        <p:spPr>
          <a:xfrm>
            <a:off x="2510949" y="1422400"/>
            <a:ext cx="6419789" cy="4901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8435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94941-3289-88C4-22CA-538327594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CA7B6-6AAB-816F-738F-7730CCA19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tx1"/>
                </a:solidFill>
              </a:rPr>
              <a:t>GraspNet</a:t>
            </a:r>
            <a:r>
              <a:rPr lang="en-US" dirty="0">
                <a:solidFill>
                  <a:schemeClr val="tx1"/>
                </a:solidFill>
              </a:rPr>
              <a:t> Pipeline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F20B2D-1FEE-FBB3-3207-3D5880365C47}"/>
              </a:ext>
            </a:extLst>
          </p:cNvPr>
          <p:cNvSpPr/>
          <p:nvPr/>
        </p:nvSpPr>
        <p:spPr>
          <a:xfrm>
            <a:off x="617220" y="1554480"/>
            <a:ext cx="1920240" cy="3474720"/>
          </a:xfrm>
          <a:prstGeom prst="rect">
            <a:avLst/>
          </a:prstGeom>
          <a:solidFill>
            <a:srgbClr val="003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05A568-4E88-FAD5-97F0-3FA775C63234}"/>
              </a:ext>
            </a:extLst>
          </p:cNvPr>
          <p:cNvSpPr txBox="1"/>
          <p:nvPr/>
        </p:nvSpPr>
        <p:spPr>
          <a:xfrm>
            <a:off x="690372" y="1691640"/>
            <a:ext cx="177393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1. Render Depth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438F6A-892F-4BEC-4715-4047756220E7}"/>
              </a:ext>
            </a:extLst>
          </p:cNvPr>
          <p:cNvSpPr/>
          <p:nvPr/>
        </p:nvSpPr>
        <p:spPr>
          <a:xfrm>
            <a:off x="937260" y="2423160"/>
            <a:ext cx="1280160" cy="27432"/>
          </a:xfrm>
          <a:prstGeom prst="rect">
            <a:avLst/>
          </a:prstGeom>
          <a:solidFill>
            <a:srgbClr val="007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7B6814-FCE4-3C41-375A-271DB896AAF1}"/>
              </a:ext>
            </a:extLst>
          </p:cNvPr>
          <p:cNvSpPr txBox="1"/>
          <p:nvPr/>
        </p:nvSpPr>
        <p:spPr>
          <a:xfrm>
            <a:off x="708660" y="2560320"/>
            <a:ext cx="173736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 err="1">
                <a:solidFill>
                  <a:srgbClr val="CCEEFF"/>
                </a:solidFill>
              </a:rPr>
              <a:t>MuJoCo</a:t>
            </a:r>
            <a:r>
              <a:rPr sz="1400" b="0" i="0" dirty="0">
                <a:solidFill>
                  <a:srgbClr val="CCEEFF"/>
                </a:solidFill>
              </a:rPr>
              <a:t> camera
captures </a:t>
            </a:r>
            <a:r>
              <a:rPr lang="en-GB" sz="1400" dirty="0">
                <a:solidFill>
                  <a:srgbClr val="CCEEFF"/>
                </a:solidFill>
              </a:rPr>
              <a:t>depth</a:t>
            </a:r>
            <a:r>
              <a:rPr sz="1400" b="0" i="0" dirty="0">
                <a:solidFill>
                  <a:srgbClr val="CCEEFF"/>
                </a:solidFill>
              </a:rPr>
              <a:t>
from controlled
viewpoint (φ, θ)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512837-22F0-B139-97FF-936E86FE9F13}"/>
              </a:ext>
            </a:extLst>
          </p:cNvPr>
          <p:cNvSpPr txBox="1"/>
          <p:nvPr/>
        </p:nvSpPr>
        <p:spPr>
          <a:xfrm>
            <a:off x="2592324" y="31546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787C"/>
                </a:solidFill>
              </a:rPr>
              <a:t>→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E0BCAFB-B8C1-D218-2DB4-E0E33709A501}"/>
              </a:ext>
            </a:extLst>
          </p:cNvPr>
          <p:cNvSpPr/>
          <p:nvPr/>
        </p:nvSpPr>
        <p:spPr>
          <a:xfrm>
            <a:off x="2875788" y="1554480"/>
            <a:ext cx="1920240" cy="3474720"/>
          </a:xfrm>
          <a:prstGeom prst="rect">
            <a:avLst/>
          </a:prstGeom>
          <a:solidFill>
            <a:srgbClr val="003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E817BB7-ECAD-6F27-5F74-EE147AF7D592}"/>
              </a:ext>
            </a:extLst>
          </p:cNvPr>
          <p:cNvSpPr txBox="1"/>
          <p:nvPr/>
        </p:nvSpPr>
        <p:spPr>
          <a:xfrm>
            <a:off x="2948940" y="1691640"/>
            <a:ext cx="177393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2. Perturb
Perception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6983AB3-54AC-7792-0F98-56604DD943CD}"/>
              </a:ext>
            </a:extLst>
          </p:cNvPr>
          <p:cNvSpPr/>
          <p:nvPr/>
        </p:nvSpPr>
        <p:spPr>
          <a:xfrm>
            <a:off x="3195828" y="2423160"/>
            <a:ext cx="1280160" cy="27432"/>
          </a:xfrm>
          <a:prstGeom prst="rect">
            <a:avLst/>
          </a:prstGeom>
          <a:solidFill>
            <a:srgbClr val="007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598406C-6AC1-21B0-05D4-347AB703347D}"/>
              </a:ext>
            </a:extLst>
          </p:cNvPr>
          <p:cNvSpPr txBox="1"/>
          <p:nvPr/>
        </p:nvSpPr>
        <p:spPr>
          <a:xfrm>
            <a:off x="2967228" y="2560320"/>
            <a:ext cx="1737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EEFF"/>
                </a:solidFill>
              </a:rPr>
              <a:t>Add depth noise σ_d
Downsample to ρ%
→ degraded point
cloud C_pc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50F8939-45BF-688C-8FEA-DF939135FC3B}"/>
              </a:ext>
            </a:extLst>
          </p:cNvPr>
          <p:cNvSpPr txBox="1"/>
          <p:nvPr/>
        </p:nvSpPr>
        <p:spPr>
          <a:xfrm>
            <a:off x="4850892" y="31546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787C"/>
                </a:solidFill>
              </a:rPr>
              <a:t>→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03ACCC6-4C73-09DD-A528-3F8CC0F3CDC2}"/>
              </a:ext>
            </a:extLst>
          </p:cNvPr>
          <p:cNvSpPr/>
          <p:nvPr/>
        </p:nvSpPr>
        <p:spPr>
          <a:xfrm>
            <a:off x="5134356" y="1554480"/>
            <a:ext cx="1920240" cy="3474720"/>
          </a:xfrm>
          <a:prstGeom prst="rect">
            <a:avLst/>
          </a:prstGeom>
          <a:solidFill>
            <a:srgbClr val="003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6405700-CAFD-B427-C240-4F30D5C6B4A7}"/>
              </a:ext>
            </a:extLst>
          </p:cNvPr>
          <p:cNvSpPr txBox="1"/>
          <p:nvPr/>
        </p:nvSpPr>
        <p:spPr>
          <a:xfrm>
            <a:off x="5207508" y="1691640"/>
            <a:ext cx="177393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3. Propose
Grasps (CGN)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FFFC059-5DFC-EDD8-2BA4-4CD968FDEFD6}"/>
              </a:ext>
            </a:extLst>
          </p:cNvPr>
          <p:cNvSpPr/>
          <p:nvPr/>
        </p:nvSpPr>
        <p:spPr>
          <a:xfrm>
            <a:off x="5454396" y="2423160"/>
            <a:ext cx="1280160" cy="27432"/>
          </a:xfrm>
          <a:prstGeom prst="rect">
            <a:avLst/>
          </a:prstGeom>
          <a:solidFill>
            <a:srgbClr val="007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CC90E3D-21EF-3868-EA72-FDF0DC42BBCB}"/>
              </a:ext>
            </a:extLst>
          </p:cNvPr>
          <p:cNvSpPr txBox="1"/>
          <p:nvPr/>
        </p:nvSpPr>
        <p:spPr>
          <a:xfrm>
            <a:off x="5225796" y="2560320"/>
            <a:ext cx="1737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EEFF"/>
                </a:solidFill>
              </a:rPr>
              <a:t>Contact-GraspNet
returns N poses
with confidence
scores q_grasp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6A9B050-D2AD-9A4F-528B-34C3F817BC77}"/>
              </a:ext>
            </a:extLst>
          </p:cNvPr>
          <p:cNvSpPr txBox="1"/>
          <p:nvPr/>
        </p:nvSpPr>
        <p:spPr>
          <a:xfrm>
            <a:off x="7109460" y="31546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787C"/>
                </a:solidFill>
              </a:rPr>
              <a:t>→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6A454CF-CAB2-56AC-E183-C49A4577CD6A}"/>
              </a:ext>
            </a:extLst>
          </p:cNvPr>
          <p:cNvSpPr/>
          <p:nvPr/>
        </p:nvSpPr>
        <p:spPr>
          <a:xfrm>
            <a:off x="7392924" y="1554480"/>
            <a:ext cx="1920240" cy="3474720"/>
          </a:xfrm>
          <a:prstGeom prst="rect">
            <a:avLst/>
          </a:prstGeom>
          <a:solidFill>
            <a:srgbClr val="003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20A510E-66C0-7C65-4E31-C9A4EA9A33CD}"/>
              </a:ext>
            </a:extLst>
          </p:cNvPr>
          <p:cNvSpPr txBox="1"/>
          <p:nvPr/>
        </p:nvSpPr>
        <p:spPr>
          <a:xfrm>
            <a:off x="7466076" y="1691640"/>
            <a:ext cx="177393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4. Execute via IK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41AA762-0B71-64EB-7600-DED251710217}"/>
              </a:ext>
            </a:extLst>
          </p:cNvPr>
          <p:cNvSpPr/>
          <p:nvPr/>
        </p:nvSpPr>
        <p:spPr>
          <a:xfrm>
            <a:off x="7712964" y="2423160"/>
            <a:ext cx="1280160" cy="27432"/>
          </a:xfrm>
          <a:prstGeom prst="rect">
            <a:avLst/>
          </a:prstGeom>
          <a:solidFill>
            <a:srgbClr val="007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3915A8B-052F-FDCD-F8D2-5CC234EC73DC}"/>
              </a:ext>
            </a:extLst>
          </p:cNvPr>
          <p:cNvSpPr txBox="1"/>
          <p:nvPr/>
        </p:nvSpPr>
        <p:spPr>
          <a:xfrm>
            <a:off x="7484364" y="2560320"/>
            <a:ext cx="1737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EEFF"/>
                </a:solidFill>
              </a:rPr>
              <a:t>Best pose → DLS
Jacobian IK →
arm moves to
grasp position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9E9EBFB-0029-384A-90E0-9105126F591F}"/>
              </a:ext>
            </a:extLst>
          </p:cNvPr>
          <p:cNvSpPr txBox="1"/>
          <p:nvPr/>
        </p:nvSpPr>
        <p:spPr>
          <a:xfrm>
            <a:off x="9368028" y="31546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787C"/>
                </a:solidFill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23005768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008D9-2423-83BF-A535-B01383B0F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EBF17-41CC-CCEB-F208-0C2DCD917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Poses in Contact Grasp Net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6BFF027-C188-FE24-7C1D-FBF4A4E0664E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3906" y="1242306"/>
            <a:ext cx="6444188" cy="5430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4431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30894-3D45-B8D8-78A5-22C7E4C26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BD7F6-5534-9FDB-DB1A-6B498D027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Confidence Scores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5AE945A-0AB3-5C28-6BEE-FB52DEFDB3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4712" y="2031999"/>
            <a:ext cx="9974126" cy="3922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7409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D8311A-A5BF-903E-61F3-5E97253EE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D4E1F-3463-CD93-9304-04D59B1A0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GRASP demo</a:t>
            </a:r>
          </a:p>
        </p:txBody>
      </p:sp>
      <p:pic>
        <p:nvPicPr>
          <p:cNvPr id="4" name="demo_grasp">
            <a:hlinkClick r:id="" action="ppaction://media"/>
            <a:extLst>
              <a:ext uri="{FF2B5EF4-FFF2-40B4-BE49-F238E27FC236}">
                <a16:creationId xmlns:a16="http://schemas.microsoft.com/office/drawing/2014/main" id="{B1EA3767-5FA1-3BA4-6168-D056A5FC948C}"/>
              </a:ext>
            </a:extLst>
          </p:cNvPr>
          <p:cNvPicPr>
            <a:picLocks noGrp="1" noChangeAspect="1"/>
          </p:cNvPicPr>
          <p:nvPr>
            <p:ph sz="quarter" idx="13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86745" y="1422400"/>
            <a:ext cx="9169400" cy="5157788"/>
          </a:xfrm>
        </p:spPr>
      </p:pic>
    </p:spTree>
    <p:extLst>
      <p:ext uri="{BB962C8B-B14F-4D97-AF65-F5344CB8AC3E}">
        <p14:creationId xmlns:p14="http://schemas.microsoft.com/office/powerpoint/2010/main" val="1513897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993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D8311A-A5BF-903E-61F3-5E97253EE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D4E1F-3463-CD93-9304-04D59B1A0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Results: 432 trials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27CACA-2435-821B-FB90-5D7F28588E8C}"/>
              </a:ext>
            </a:extLst>
          </p:cNvPr>
          <p:cNvSpPr/>
          <p:nvPr/>
        </p:nvSpPr>
        <p:spPr>
          <a:xfrm>
            <a:off x="230188" y="1417320"/>
            <a:ext cx="1920240" cy="512064"/>
          </a:xfrm>
          <a:prstGeom prst="rect">
            <a:avLst/>
          </a:prstGeom>
          <a:solidFill>
            <a:srgbClr val="003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06B4F5-CEAF-300C-6CE3-6F7AF0E155CB}"/>
              </a:ext>
            </a:extLst>
          </p:cNvPr>
          <p:cNvSpPr txBox="1"/>
          <p:nvPr/>
        </p:nvSpPr>
        <p:spPr>
          <a:xfrm>
            <a:off x="266764" y="1508760"/>
            <a:ext cx="184708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dirty="0" err="1">
                <a:solidFill>
                  <a:srgbClr val="FFFFFF"/>
                </a:solidFill>
              </a:rPr>
              <a:t>σ_d</a:t>
            </a:r>
            <a:r>
              <a:rPr sz="1300" b="1" dirty="0">
                <a:solidFill>
                  <a:srgbClr val="FFFFFF"/>
                </a:solidFill>
              </a:rPr>
              <a:t> (noise)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978E3F-26F7-D066-4E45-657ECA4713E1}"/>
              </a:ext>
            </a:extLst>
          </p:cNvPr>
          <p:cNvSpPr/>
          <p:nvPr/>
        </p:nvSpPr>
        <p:spPr>
          <a:xfrm>
            <a:off x="2150428" y="1417320"/>
            <a:ext cx="1371600" cy="512064"/>
          </a:xfrm>
          <a:prstGeom prst="rect">
            <a:avLst/>
          </a:prstGeom>
          <a:solidFill>
            <a:srgbClr val="003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FC67356-CB04-8FD8-06AD-18F71737C7FB}"/>
              </a:ext>
            </a:extLst>
          </p:cNvPr>
          <p:cNvSpPr txBox="1"/>
          <p:nvPr/>
        </p:nvSpPr>
        <p:spPr>
          <a:xfrm>
            <a:off x="2187004" y="1508760"/>
            <a:ext cx="129844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dirty="0">
                <a:solidFill>
                  <a:srgbClr val="FFFFFF"/>
                </a:solidFill>
              </a:rPr>
              <a:t>Mean </a:t>
            </a:r>
            <a:r>
              <a:rPr sz="1300" b="1" dirty="0" err="1">
                <a:solidFill>
                  <a:srgbClr val="FFFFFF"/>
                </a:solidFill>
              </a:rPr>
              <a:t>n_grasps</a:t>
            </a:r>
            <a:endParaRPr sz="1300" b="1" dirty="0">
              <a:solidFill>
                <a:srgbClr val="FFFFFF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C13CCD5-B41A-04AB-E84F-E8A52984D30D}"/>
              </a:ext>
            </a:extLst>
          </p:cNvPr>
          <p:cNvSpPr/>
          <p:nvPr/>
        </p:nvSpPr>
        <p:spPr>
          <a:xfrm>
            <a:off x="3522028" y="1417320"/>
            <a:ext cx="1371600" cy="512064"/>
          </a:xfrm>
          <a:prstGeom prst="rect">
            <a:avLst/>
          </a:prstGeom>
          <a:solidFill>
            <a:srgbClr val="003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6FCCBA-B904-9750-DF1D-8E1D1AB0DC54}"/>
              </a:ext>
            </a:extLst>
          </p:cNvPr>
          <p:cNvSpPr txBox="1"/>
          <p:nvPr/>
        </p:nvSpPr>
        <p:spPr>
          <a:xfrm>
            <a:off x="3558604" y="1508760"/>
            <a:ext cx="129844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Mean q_grasp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F46D1CA-B61B-D3E1-772E-8008652C4090}"/>
              </a:ext>
            </a:extLst>
          </p:cNvPr>
          <p:cNvSpPr/>
          <p:nvPr/>
        </p:nvSpPr>
        <p:spPr>
          <a:xfrm>
            <a:off x="4893628" y="1417320"/>
            <a:ext cx="1371600" cy="512064"/>
          </a:xfrm>
          <a:prstGeom prst="rect">
            <a:avLst/>
          </a:prstGeom>
          <a:solidFill>
            <a:srgbClr val="003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F203DA2-B1C4-39A0-8CBB-8D9A11939464}"/>
              </a:ext>
            </a:extLst>
          </p:cNvPr>
          <p:cNvSpPr txBox="1"/>
          <p:nvPr/>
        </p:nvSpPr>
        <p:spPr>
          <a:xfrm>
            <a:off x="4930204" y="1508760"/>
            <a:ext cx="129844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Mean e_pose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84FE603-B29A-A4D2-A4C3-F9F78D731F91}"/>
              </a:ext>
            </a:extLst>
          </p:cNvPr>
          <p:cNvSpPr/>
          <p:nvPr/>
        </p:nvSpPr>
        <p:spPr>
          <a:xfrm>
            <a:off x="6265228" y="1417320"/>
            <a:ext cx="1371600" cy="512064"/>
          </a:xfrm>
          <a:prstGeom prst="rect">
            <a:avLst/>
          </a:prstGeom>
          <a:solidFill>
            <a:srgbClr val="003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9A10D47-BA83-AD9F-CA19-56D102E9266A}"/>
              </a:ext>
            </a:extLst>
          </p:cNvPr>
          <p:cNvSpPr txBox="1"/>
          <p:nvPr/>
        </p:nvSpPr>
        <p:spPr>
          <a:xfrm>
            <a:off x="6301804" y="1508760"/>
            <a:ext cx="129844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dirty="0">
                <a:solidFill>
                  <a:srgbClr val="FFFFFF"/>
                </a:solidFill>
              </a:rPr>
              <a:t>Success rate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94B2BB0-C850-5EDE-F5CA-7510796D9EEC}"/>
              </a:ext>
            </a:extLst>
          </p:cNvPr>
          <p:cNvSpPr/>
          <p:nvPr/>
        </p:nvSpPr>
        <p:spPr>
          <a:xfrm>
            <a:off x="230188" y="1929384"/>
            <a:ext cx="1920240" cy="512064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6F0618F-0478-6AF0-F4EB-2B2B35FC5935}"/>
              </a:ext>
            </a:extLst>
          </p:cNvPr>
          <p:cNvSpPr txBox="1"/>
          <p:nvPr/>
        </p:nvSpPr>
        <p:spPr>
          <a:xfrm>
            <a:off x="266764" y="2020825"/>
            <a:ext cx="18470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444444"/>
                </a:solidFill>
              </a:rPr>
              <a:t>0.000  (clean)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CEA0593-CD9E-3C55-FA88-64857E5DA3E7}"/>
              </a:ext>
            </a:extLst>
          </p:cNvPr>
          <p:cNvSpPr/>
          <p:nvPr/>
        </p:nvSpPr>
        <p:spPr>
          <a:xfrm>
            <a:off x="2150428" y="1929384"/>
            <a:ext cx="1371600" cy="512064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C9C072A-69EC-97EF-E1C1-6EF626146EB6}"/>
              </a:ext>
            </a:extLst>
          </p:cNvPr>
          <p:cNvSpPr txBox="1"/>
          <p:nvPr/>
        </p:nvSpPr>
        <p:spPr>
          <a:xfrm>
            <a:off x="2187004" y="2020825"/>
            <a:ext cx="12984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444444"/>
                </a:solidFill>
              </a:rPr>
              <a:t>34.2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954AE80-D1FC-5C69-23C9-AFF3E4648BE1}"/>
              </a:ext>
            </a:extLst>
          </p:cNvPr>
          <p:cNvSpPr/>
          <p:nvPr/>
        </p:nvSpPr>
        <p:spPr>
          <a:xfrm>
            <a:off x="3522028" y="1929384"/>
            <a:ext cx="1371600" cy="512064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3C40681-CD5D-3A5A-BEA3-506C7D12F37E}"/>
              </a:ext>
            </a:extLst>
          </p:cNvPr>
          <p:cNvSpPr txBox="1"/>
          <p:nvPr/>
        </p:nvSpPr>
        <p:spPr>
          <a:xfrm>
            <a:off x="3558604" y="2020825"/>
            <a:ext cx="12984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444444"/>
                </a:solidFill>
              </a:rPr>
              <a:t>0.242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179F637-F8AE-7D20-DEAD-A28E595A12A0}"/>
              </a:ext>
            </a:extLst>
          </p:cNvPr>
          <p:cNvSpPr/>
          <p:nvPr/>
        </p:nvSpPr>
        <p:spPr>
          <a:xfrm>
            <a:off x="4893628" y="1929384"/>
            <a:ext cx="1371600" cy="512064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751E9EE-386B-33DA-EB57-210AA3BCA36C}"/>
              </a:ext>
            </a:extLst>
          </p:cNvPr>
          <p:cNvSpPr txBox="1"/>
          <p:nvPr/>
        </p:nvSpPr>
        <p:spPr>
          <a:xfrm>
            <a:off x="4930204" y="2020825"/>
            <a:ext cx="12984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444444"/>
                </a:solidFill>
              </a:rPr>
              <a:t>5.0 cm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BA51B0F-F22A-3DB9-65AD-75A5BCF917E1}"/>
              </a:ext>
            </a:extLst>
          </p:cNvPr>
          <p:cNvSpPr/>
          <p:nvPr/>
        </p:nvSpPr>
        <p:spPr>
          <a:xfrm>
            <a:off x="6265228" y="1929384"/>
            <a:ext cx="1371600" cy="512064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5DDA4CB-0309-3F2C-169B-3880F0B4665C}"/>
              </a:ext>
            </a:extLst>
          </p:cNvPr>
          <p:cNvSpPr txBox="1"/>
          <p:nvPr/>
        </p:nvSpPr>
        <p:spPr>
          <a:xfrm>
            <a:off x="6301804" y="2020825"/>
            <a:ext cx="12984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E8648"/>
                </a:solidFill>
              </a:rPr>
              <a:t>71 %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FF55581-A5EF-B8F0-7A73-44373737D662}"/>
              </a:ext>
            </a:extLst>
          </p:cNvPr>
          <p:cNvSpPr/>
          <p:nvPr/>
        </p:nvSpPr>
        <p:spPr>
          <a:xfrm>
            <a:off x="230188" y="2441448"/>
            <a:ext cx="19202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59EA1F9-5BAA-EF34-D2A3-BBAF2456C6A7}"/>
              </a:ext>
            </a:extLst>
          </p:cNvPr>
          <p:cNvSpPr txBox="1"/>
          <p:nvPr/>
        </p:nvSpPr>
        <p:spPr>
          <a:xfrm>
            <a:off x="266764" y="2532889"/>
            <a:ext cx="18470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444444"/>
                </a:solidFill>
              </a:rPr>
              <a:t>0.005  (mild)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13BFB21-9A08-C54A-EFAE-927EE86E7ADF}"/>
              </a:ext>
            </a:extLst>
          </p:cNvPr>
          <p:cNvSpPr/>
          <p:nvPr/>
        </p:nvSpPr>
        <p:spPr>
          <a:xfrm>
            <a:off x="2150428" y="2441448"/>
            <a:ext cx="1371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EDB1C7F-572C-309B-E0F8-7DF22C9996F2}"/>
              </a:ext>
            </a:extLst>
          </p:cNvPr>
          <p:cNvSpPr txBox="1"/>
          <p:nvPr/>
        </p:nvSpPr>
        <p:spPr>
          <a:xfrm>
            <a:off x="2187004" y="2532889"/>
            <a:ext cx="12984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444444"/>
                </a:solidFill>
              </a:rPr>
              <a:t>24.3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FBCA045-7849-2928-6C87-E0BF3B576AAA}"/>
              </a:ext>
            </a:extLst>
          </p:cNvPr>
          <p:cNvSpPr/>
          <p:nvPr/>
        </p:nvSpPr>
        <p:spPr>
          <a:xfrm>
            <a:off x="3522028" y="2441448"/>
            <a:ext cx="1371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BDC99AC-1DCC-ADD3-0D63-37B50221E345}"/>
              </a:ext>
            </a:extLst>
          </p:cNvPr>
          <p:cNvSpPr txBox="1"/>
          <p:nvPr/>
        </p:nvSpPr>
        <p:spPr>
          <a:xfrm>
            <a:off x="3558604" y="2532889"/>
            <a:ext cx="12984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444444"/>
                </a:solidFill>
              </a:rPr>
              <a:t>0.243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1D9341C-0595-71A0-BF9A-10964906AF37}"/>
              </a:ext>
            </a:extLst>
          </p:cNvPr>
          <p:cNvSpPr/>
          <p:nvPr/>
        </p:nvSpPr>
        <p:spPr>
          <a:xfrm>
            <a:off x="4893628" y="2441448"/>
            <a:ext cx="1371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66FF570-2223-1ED9-FF0D-4B1212FAF21D}"/>
              </a:ext>
            </a:extLst>
          </p:cNvPr>
          <p:cNvSpPr txBox="1"/>
          <p:nvPr/>
        </p:nvSpPr>
        <p:spPr>
          <a:xfrm>
            <a:off x="4930204" y="2532889"/>
            <a:ext cx="12984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444444"/>
                </a:solidFill>
              </a:rPr>
              <a:t>7.6 cm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51CCC3B7-3304-FC65-6088-2F2230ED89D3}"/>
              </a:ext>
            </a:extLst>
          </p:cNvPr>
          <p:cNvSpPr/>
          <p:nvPr/>
        </p:nvSpPr>
        <p:spPr>
          <a:xfrm>
            <a:off x="6265228" y="2441448"/>
            <a:ext cx="1371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851F0EA-0C8C-7649-43A5-81FBE8F0BD7F}"/>
              </a:ext>
            </a:extLst>
          </p:cNvPr>
          <p:cNvSpPr txBox="1"/>
          <p:nvPr/>
        </p:nvSpPr>
        <p:spPr>
          <a:xfrm>
            <a:off x="6301804" y="2532889"/>
            <a:ext cx="12984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A500"/>
                </a:solidFill>
              </a:rPr>
              <a:t>43 %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C06D3FF7-C7BD-E382-C717-CFABE61C5746}"/>
              </a:ext>
            </a:extLst>
          </p:cNvPr>
          <p:cNvSpPr/>
          <p:nvPr/>
        </p:nvSpPr>
        <p:spPr>
          <a:xfrm>
            <a:off x="230188" y="2953512"/>
            <a:ext cx="1920240" cy="512064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DB85E20-1964-DE7A-AA35-5F1421F222BE}"/>
              </a:ext>
            </a:extLst>
          </p:cNvPr>
          <p:cNvSpPr txBox="1"/>
          <p:nvPr/>
        </p:nvSpPr>
        <p:spPr>
          <a:xfrm>
            <a:off x="266764" y="3044953"/>
            <a:ext cx="18470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dirty="0">
                <a:solidFill>
                  <a:srgbClr val="444444"/>
                </a:solidFill>
              </a:rPr>
              <a:t>0.020  (heavy)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309146EE-DB48-2AD3-A9DD-5E0C844C9F7C}"/>
              </a:ext>
            </a:extLst>
          </p:cNvPr>
          <p:cNvSpPr/>
          <p:nvPr/>
        </p:nvSpPr>
        <p:spPr>
          <a:xfrm>
            <a:off x="2150428" y="2953512"/>
            <a:ext cx="1371600" cy="512064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95E3AE0-7D55-227D-3B7D-ABF0873366A1}"/>
              </a:ext>
            </a:extLst>
          </p:cNvPr>
          <p:cNvSpPr txBox="1"/>
          <p:nvPr/>
        </p:nvSpPr>
        <p:spPr>
          <a:xfrm>
            <a:off x="2187004" y="3044953"/>
            <a:ext cx="12984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444444"/>
                </a:solidFill>
              </a:rPr>
              <a:t> 3.2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6CCA8DE2-1867-53F0-52CF-564A962848DB}"/>
              </a:ext>
            </a:extLst>
          </p:cNvPr>
          <p:cNvSpPr/>
          <p:nvPr/>
        </p:nvSpPr>
        <p:spPr>
          <a:xfrm>
            <a:off x="3522028" y="2953512"/>
            <a:ext cx="1371600" cy="512064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FEEF067-1C52-F89E-E800-12E91C65A67E}"/>
              </a:ext>
            </a:extLst>
          </p:cNvPr>
          <p:cNvSpPr txBox="1"/>
          <p:nvPr/>
        </p:nvSpPr>
        <p:spPr>
          <a:xfrm>
            <a:off x="3558604" y="3044953"/>
            <a:ext cx="12984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444444"/>
                </a:solidFill>
              </a:rPr>
              <a:t>0.202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309AD6A5-568E-392B-AA59-6D5F99586944}"/>
              </a:ext>
            </a:extLst>
          </p:cNvPr>
          <p:cNvSpPr/>
          <p:nvPr/>
        </p:nvSpPr>
        <p:spPr>
          <a:xfrm>
            <a:off x="4893628" y="2953512"/>
            <a:ext cx="1371600" cy="512064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D47AC3D-4BDE-0540-784B-F9E5449DEA55}"/>
              </a:ext>
            </a:extLst>
          </p:cNvPr>
          <p:cNvSpPr txBox="1"/>
          <p:nvPr/>
        </p:nvSpPr>
        <p:spPr>
          <a:xfrm>
            <a:off x="4930204" y="3044953"/>
            <a:ext cx="12984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444444"/>
                </a:solidFill>
              </a:rPr>
              <a:t>11.1 cm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2B7597EA-54B6-BD30-4ACB-F8D5633778B3}"/>
              </a:ext>
            </a:extLst>
          </p:cNvPr>
          <p:cNvSpPr/>
          <p:nvPr/>
        </p:nvSpPr>
        <p:spPr>
          <a:xfrm>
            <a:off x="6265228" y="2953512"/>
            <a:ext cx="1371600" cy="512064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75E691A-7E57-7853-771F-D1982841C6ED}"/>
              </a:ext>
            </a:extLst>
          </p:cNvPr>
          <p:cNvSpPr txBox="1"/>
          <p:nvPr/>
        </p:nvSpPr>
        <p:spPr>
          <a:xfrm>
            <a:off x="6301804" y="3044953"/>
            <a:ext cx="12984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C0392B"/>
                </a:solidFill>
              </a:rPr>
              <a:t>11 %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34A9129D-7677-DC31-6A18-2A901D38BFC2}"/>
              </a:ext>
            </a:extLst>
          </p:cNvPr>
          <p:cNvSpPr/>
          <p:nvPr/>
        </p:nvSpPr>
        <p:spPr>
          <a:xfrm>
            <a:off x="230188" y="3465576"/>
            <a:ext cx="19202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1737E74-9563-6125-9BD8-9A9AA71AEECA}"/>
              </a:ext>
            </a:extLst>
          </p:cNvPr>
          <p:cNvSpPr txBox="1"/>
          <p:nvPr/>
        </p:nvSpPr>
        <p:spPr>
          <a:xfrm>
            <a:off x="266764" y="3557017"/>
            <a:ext cx="18470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444444"/>
                </a:solidFill>
              </a:rPr>
              <a:t>0.040  (severe)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03D40E85-BE26-110B-3FDD-4D7FD9B561EA}"/>
              </a:ext>
            </a:extLst>
          </p:cNvPr>
          <p:cNvSpPr/>
          <p:nvPr/>
        </p:nvSpPr>
        <p:spPr>
          <a:xfrm>
            <a:off x="2150428" y="3465576"/>
            <a:ext cx="1371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646CB5E8-43B1-1F04-29CB-35B503B2AB04}"/>
              </a:ext>
            </a:extLst>
          </p:cNvPr>
          <p:cNvSpPr txBox="1"/>
          <p:nvPr/>
        </p:nvSpPr>
        <p:spPr>
          <a:xfrm>
            <a:off x="2187004" y="3557017"/>
            <a:ext cx="12984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444444"/>
                </a:solidFill>
              </a:rPr>
              <a:t> 0.1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6D62765F-665A-F51D-03AF-071CC22E416A}"/>
              </a:ext>
            </a:extLst>
          </p:cNvPr>
          <p:cNvSpPr/>
          <p:nvPr/>
        </p:nvSpPr>
        <p:spPr>
          <a:xfrm>
            <a:off x="3522028" y="3465576"/>
            <a:ext cx="1371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E92055FE-3402-5902-5841-7F85FFF230A3}"/>
              </a:ext>
            </a:extLst>
          </p:cNvPr>
          <p:cNvSpPr txBox="1"/>
          <p:nvPr/>
        </p:nvSpPr>
        <p:spPr>
          <a:xfrm>
            <a:off x="3558604" y="3557017"/>
            <a:ext cx="12984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444444"/>
                </a:solidFill>
              </a:rPr>
              <a:t>0.163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492064AB-7150-4BD9-8939-BBA3EFF162E2}"/>
              </a:ext>
            </a:extLst>
          </p:cNvPr>
          <p:cNvSpPr/>
          <p:nvPr/>
        </p:nvSpPr>
        <p:spPr>
          <a:xfrm>
            <a:off x="4893628" y="3465576"/>
            <a:ext cx="1371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D7DAE5FE-1135-03F0-B20E-8AF59542F91C}"/>
              </a:ext>
            </a:extLst>
          </p:cNvPr>
          <p:cNvSpPr txBox="1"/>
          <p:nvPr/>
        </p:nvSpPr>
        <p:spPr>
          <a:xfrm>
            <a:off x="4930204" y="3557017"/>
            <a:ext cx="12984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444444"/>
                </a:solidFill>
              </a:rPr>
              <a:t>17.5 cm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DFF2705C-ACCC-1AAE-805B-29618205CBBC}"/>
              </a:ext>
            </a:extLst>
          </p:cNvPr>
          <p:cNvSpPr/>
          <p:nvPr/>
        </p:nvSpPr>
        <p:spPr>
          <a:xfrm>
            <a:off x="6265228" y="3465576"/>
            <a:ext cx="1371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2505F296-3155-8114-A710-0B7C85150F2A}"/>
              </a:ext>
            </a:extLst>
          </p:cNvPr>
          <p:cNvSpPr txBox="1"/>
          <p:nvPr/>
        </p:nvSpPr>
        <p:spPr>
          <a:xfrm>
            <a:off x="6301804" y="3557017"/>
            <a:ext cx="12984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C0392B"/>
                </a:solidFill>
              </a:rPr>
              <a:t> 0 %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79F44FB2-2BFE-0AB1-B917-902C2CC6004B}"/>
              </a:ext>
            </a:extLst>
          </p:cNvPr>
          <p:cNvSpPr/>
          <p:nvPr/>
        </p:nvSpPr>
        <p:spPr>
          <a:xfrm>
            <a:off x="7865428" y="1554480"/>
            <a:ext cx="4069080" cy="1371600"/>
          </a:xfrm>
          <a:prstGeom prst="rect">
            <a:avLst/>
          </a:prstGeom>
          <a:solidFill>
            <a:srgbClr val="F2F2F2"/>
          </a:solidFill>
          <a:ln w="12700">
            <a:solidFill>
              <a:srgbClr val="2E8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0DDBFCE9-B192-E5F9-792E-0FEFFEB564F7}"/>
              </a:ext>
            </a:extLst>
          </p:cNvPr>
          <p:cNvSpPr/>
          <p:nvPr/>
        </p:nvSpPr>
        <p:spPr>
          <a:xfrm>
            <a:off x="7865428" y="1554480"/>
            <a:ext cx="137160" cy="137160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4FC87B16-59AC-84C1-E824-1B8E162CA5A2}"/>
              </a:ext>
            </a:extLst>
          </p:cNvPr>
          <p:cNvSpPr txBox="1"/>
          <p:nvPr/>
        </p:nvSpPr>
        <p:spPr>
          <a:xfrm>
            <a:off x="8094029" y="1627633"/>
            <a:ext cx="37490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2E8648"/>
                </a:solidFill>
              </a:rPr>
              <a:t>71 % success
in clean conditions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5204A851-66D6-8740-185C-FD58E1A2DEA1}"/>
              </a:ext>
            </a:extLst>
          </p:cNvPr>
          <p:cNvSpPr txBox="1"/>
          <p:nvPr/>
        </p:nvSpPr>
        <p:spPr>
          <a:xfrm>
            <a:off x="8094029" y="2212849"/>
            <a:ext cx="374903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i="1">
                <a:solidFill>
                  <a:srgbClr val="444444"/>
                </a:solidFill>
              </a:rPr>
              <a:t>Contact-GraspNet works
well with full perception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254A0ABD-17E0-3BDD-A0AC-574576CE34BC}"/>
              </a:ext>
            </a:extLst>
          </p:cNvPr>
          <p:cNvSpPr/>
          <p:nvPr/>
        </p:nvSpPr>
        <p:spPr>
          <a:xfrm>
            <a:off x="7865428" y="3063240"/>
            <a:ext cx="4069080" cy="1371600"/>
          </a:xfrm>
          <a:prstGeom prst="rect">
            <a:avLst/>
          </a:prstGeom>
          <a:solidFill>
            <a:srgbClr val="F2F2F2"/>
          </a:solidFill>
          <a:ln w="127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42EF9A48-46A6-D249-9B85-028C0ACAA971}"/>
              </a:ext>
            </a:extLst>
          </p:cNvPr>
          <p:cNvSpPr/>
          <p:nvPr/>
        </p:nvSpPr>
        <p:spPr>
          <a:xfrm>
            <a:off x="7865428" y="3063240"/>
            <a:ext cx="137160" cy="13716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602EBA9B-E558-A20F-5F7E-C4EE91365849}"/>
              </a:ext>
            </a:extLst>
          </p:cNvPr>
          <p:cNvSpPr txBox="1"/>
          <p:nvPr/>
        </p:nvSpPr>
        <p:spPr>
          <a:xfrm>
            <a:off x="8094029" y="3136393"/>
            <a:ext cx="37490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FFA500"/>
                </a:solidFill>
              </a:rPr>
              <a:t>43 % with
mild noise (σ=0.005)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19C61A6A-DFC2-A312-85C7-BB0B6948D526}"/>
              </a:ext>
            </a:extLst>
          </p:cNvPr>
          <p:cNvSpPr txBox="1"/>
          <p:nvPr/>
        </p:nvSpPr>
        <p:spPr>
          <a:xfrm>
            <a:off x="8094029" y="3721609"/>
            <a:ext cx="374903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i="1">
                <a:solidFill>
                  <a:srgbClr val="444444"/>
                </a:solidFill>
              </a:rPr>
              <a:t>Early degradation already
halves performance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982C73AA-9613-047B-962E-A774DE237ADA}"/>
              </a:ext>
            </a:extLst>
          </p:cNvPr>
          <p:cNvSpPr/>
          <p:nvPr/>
        </p:nvSpPr>
        <p:spPr>
          <a:xfrm>
            <a:off x="7865428" y="4572000"/>
            <a:ext cx="4069080" cy="1371600"/>
          </a:xfrm>
          <a:prstGeom prst="rect">
            <a:avLst/>
          </a:prstGeom>
          <a:solidFill>
            <a:srgbClr val="F2F2F2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720F8A00-39A6-EC17-34EA-1981D8A40160}"/>
              </a:ext>
            </a:extLst>
          </p:cNvPr>
          <p:cNvSpPr/>
          <p:nvPr/>
        </p:nvSpPr>
        <p:spPr>
          <a:xfrm>
            <a:off x="7865428" y="4572000"/>
            <a:ext cx="137160" cy="13716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00174CB9-730D-834E-3C41-EFAFE08DD567}"/>
              </a:ext>
            </a:extLst>
          </p:cNvPr>
          <p:cNvSpPr txBox="1"/>
          <p:nvPr/>
        </p:nvSpPr>
        <p:spPr>
          <a:xfrm>
            <a:off x="8094029" y="4645153"/>
            <a:ext cx="37490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C0392B"/>
                </a:solidFill>
              </a:rPr>
              <a:t>0 % at
σ_d = 0.040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F225ED6D-2AC8-AB75-AB7E-4C2A4794A1D3}"/>
              </a:ext>
            </a:extLst>
          </p:cNvPr>
          <p:cNvSpPr txBox="1"/>
          <p:nvPr/>
        </p:nvSpPr>
        <p:spPr>
          <a:xfrm>
            <a:off x="8094029" y="5230369"/>
            <a:ext cx="374903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i="1">
                <a:solidFill>
                  <a:srgbClr val="444444"/>
                </a:solidFill>
              </a:rPr>
              <a:t>Severe noise → zero valid
grasps → guaranteed failure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50C39230-EEBF-A572-1080-7D47054D4640}"/>
              </a:ext>
            </a:extLst>
          </p:cNvPr>
          <p:cNvSpPr txBox="1"/>
          <p:nvPr/>
        </p:nvSpPr>
        <p:spPr>
          <a:xfrm>
            <a:off x="230188" y="4114800"/>
            <a:ext cx="74066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i="1">
                <a:solidFill>
                  <a:srgbClr val="444444"/>
                </a:solidFill>
              </a:rPr>
              <a:t>n_grasps drops 340x from clean to severe noise.  e_pose grows 3.5x.  Both reflect the same causal root.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59E6E161-9524-5FE6-52FB-01B3A3137130}"/>
              </a:ext>
            </a:extLst>
          </p:cNvPr>
          <p:cNvSpPr txBox="1"/>
          <p:nvPr/>
        </p:nvSpPr>
        <p:spPr>
          <a:xfrm>
            <a:off x="230188" y="4663440"/>
            <a:ext cx="4572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15C"/>
                </a:solidFill>
              </a:rPr>
              <a:t>Success rate by noise level: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78A0EE7B-49A3-073F-2FA9-D75FEA62E619}"/>
              </a:ext>
            </a:extLst>
          </p:cNvPr>
          <p:cNvSpPr/>
          <p:nvPr/>
        </p:nvSpPr>
        <p:spPr>
          <a:xfrm>
            <a:off x="1327468" y="5074920"/>
            <a:ext cx="3570732" cy="27432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752DDB2A-97CC-4906-A7DB-784086344F09}"/>
              </a:ext>
            </a:extLst>
          </p:cNvPr>
          <p:cNvSpPr txBox="1"/>
          <p:nvPr/>
        </p:nvSpPr>
        <p:spPr>
          <a:xfrm>
            <a:off x="230188" y="507492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444444"/>
                </a:solidFill>
              </a:rPr>
              <a:t>σ_d=0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441F6424-E316-34C9-586B-EAC61A2E9756}"/>
              </a:ext>
            </a:extLst>
          </p:cNvPr>
          <p:cNvSpPr txBox="1"/>
          <p:nvPr/>
        </p:nvSpPr>
        <p:spPr>
          <a:xfrm>
            <a:off x="4943920" y="50749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8648"/>
                </a:solidFill>
              </a:rPr>
              <a:t>71 %</a:t>
            </a: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CBF98FB8-17D6-F17E-D2DB-8C3332DC1A7D}"/>
              </a:ext>
            </a:extLst>
          </p:cNvPr>
          <p:cNvSpPr/>
          <p:nvPr/>
        </p:nvSpPr>
        <p:spPr>
          <a:xfrm>
            <a:off x="1327468" y="5458968"/>
            <a:ext cx="2162556" cy="27432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5715EC7F-9491-6790-1453-B045EE1F7716}"/>
              </a:ext>
            </a:extLst>
          </p:cNvPr>
          <p:cNvSpPr txBox="1"/>
          <p:nvPr/>
        </p:nvSpPr>
        <p:spPr>
          <a:xfrm>
            <a:off x="230188" y="5458968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444444"/>
                </a:solidFill>
              </a:rPr>
              <a:t>σ_d=0.005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A1B184CA-84C7-9051-437A-15C1FA67B27D}"/>
              </a:ext>
            </a:extLst>
          </p:cNvPr>
          <p:cNvSpPr txBox="1"/>
          <p:nvPr/>
        </p:nvSpPr>
        <p:spPr>
          <a:xfrm>
            <a:off x="3535744" y="545896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A500"/>
                </a:solidFill>
              </a:rPr>
              <a:t>43 %</a:t>
            </a: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11AA4D06-595A-3531-C538-69D4B6562D43}"/>
              </a:ext>
            </a:extLst>
          </p:cNvPr>
          <p:cNvSpPr/>
          <p:nvPr/>
        </p:nvSpPr>
        <p:spPr>
          <a:xfrm>
            <a:off x="1327468" y="5843016"/>
            <a:ext cx="553212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D748C6D6-F244-DF3E-8202-49F0066C0F47}"/>
              </a:ext>
            </a:extLst>
          </p:cNvPr>
          <p:cNvSpPr txBox="1"/>
          <p:nvPr/>
        </p:nvSpPr>
        <p:spPr>
          <a:xfrm>
            <a:off x="230188" y="5843016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444444"/>
                </a:solidFill>
              </a:rPr>
              <a:t>σ_d=0.02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5FCFB62E-E325-44D9-025C-61E42A710DE2}"/>
              </a:ext>
            </a:extLst>
          </p:cNvPr>
          <p:cNvSpPr txBox="1"/>
          <p:nvPr/>
        </p:nvSpPr>
        <p:spPr>
          <a:xfrm>
            <a:off x="1926400" y="5843016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0392B"/>
                </a:solidFill>
              </a:rPr>
              <a:t>11 %</a:t>
            </a: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2C84F16D-3685-79DB-8456-DF90495B26C2}"/>
              </a:ext>
            </a:extLst>
          </p:cNvPr>
          <p:cNvSpPr/>
          <p:nvPr/>
        </p:nvSpPr>
        <p:spPr>
          <a:xfrm>
            <a:off x="1327468" y="6227064"/>
            <a:ext cx="36576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3A70564C-AC50-B141-2EE4-EE412CD9E25A}"/>
              </a:ext>
            </a:extLst>
          </p:cNvPr>
          <p:cNvSpPr txBox="1"/>
          <p:nvPr/>
        </p:nvSpPr>
        <p:spPr>
          <a:xfrm>
            <a:off x="230188" y="6227064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444444"/>
                </a:solidFill>
              </a:rPr>
              <a:t>σ_d=0.04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AF03F166-AD4B-509E-A5D2-3A1B8AD4CBD4}"/>
              </a:ext>
            </a:extLst>
          </p:cNvPr>
          <p:cNvSpPr txBox="1"/>
          <p:nvPr/>
        </p:nvSpPr>
        <p:spPr>
          <a:xfrm>
            <a:off x="1409764" y="622706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0392B"/>
                </a:solidFill>
              </a:rPr>
              <a:t>0 %</a:t>
            </a:r>
          </a:p>
        </p:txBody>
      </p:sp>
    </p:spTree>
    <p:extLst>
      <p:ext uri="{BB962C8B-B14F-4D97-AF65-F5344CB8AC3E}">
        <p14:creationId xmlns:p14="http://schemas.microsoft.com/office/powerpoint/2010/main" val="30306169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University at sunset">
            <a:extLst>
              <a:ext uri="{FF2B5EF4-FFF2-40B4-BE49-F238E27FC236}">
                <a16:creationId xmlns:a16="http://schemas.microsoft.com/office/drawing/2014/main" id="{11FDCD37-95D4-D94F-8143-5384ADC6A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75F20C-468E-F742-9149-B8A5FEBC291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5886" y="1889351"/>
            <a:ext cx="5842000" cy="1931535"/>
          </a:xfrm>
        </p:spPr>
        <p:txBody>
          <a:bodyPr>
            <a:noAutofit/>
          </a:bodyPr>
          <a:lstStyle/>
          <a:p>
            <a:pPr algn="l"/>
            <a:r>
              <a:rPr lang="en-GB">
                <a:solidFill>
                  <a:schemeClr val="bg1"/>
                </a:solidFill>
              </a:rPr>
              <a:t>Thank You!</a:t>
            </a:r>
            <a:br>
              <a:rPr lang="en-GB">
                <a:solidFill>
                  <a:schemeClr val="bg1"/>
                </a:solidFill>
              </a:rPr>
            </a:br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2ED6EA-1EF6-E99C-8D46-A77E8079F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5228" y="5699322"/>
            <a:ext cx="3413095" cy="854153"/>
            <a:chOff x="8385228" y="5699322"/>
            <a:chExt cx="3413095" cy="85415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4E80E0-21D5-A09C-9C43-3B822C05837D}"/>
                </a:ext>
              </a:extLst>
            </p:cNvPr>
            <p:cNvSpPr txBox="1"/>
            <p:nvPr/>
          </p:nvSpPr>
          <p:spPr>
            <a:xfrm>
              <a:off x="8385228" y="5699322"/>
              <a:ext cx="3413095" cy="461665"/>
            </a:xfrm>
            <a:prstGeom prst="rect">
              <a:avLst/>
            </a:prstGeom>
            <a:noFill/>
            <a:effectLst>
              <a:outerShdw blurRad="1270000" dist="50800" dir="5400000" sx="200000" sy="200000" algn="ctr" rotWithShape="0">
                <a:schemeClr val="tx1"/>
              </a:outerShdw>
            </a:effectLst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</a:t>
              </a:r>
              <a:r>
                <a:rPr lang="en-US" sz="2400" b="1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UofGWorldChangers</a:t>
              </a:r>
              <a:endParaRPr lang="en-US" sz="2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2BBCD2-E264-1B57-0E93-92E9DB639953}"/>
                </a:ext>
              </a:extLst>
            </p:cNvPr>
            <p:cNvSpPr txBox="1"/>
            <p:nvPr/>
          </p:nvSpPr>
          <p:spPr>
            <a:xfrm>
              <a:off x="9098531" y="6091810"/>
              <a:ext cx="2699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@</a:t>
              </a:r>
              <a:r>
                <a:rPr lang="en-US" sz="2400" b="1" err="1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UofGlasgow</a:t>
              </a:r>
              <a:endParaRPr lang="en-US" sz="2400" b="1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4EA5A01-D67E-B5A8-4983-B4E38F735C71}"/>
                </a:ext>
              </a:extLst>
            </p:cNvPr>
            <p:cNvGrpSpPr/>
            <p:nvPr/>
          </p:nvGrpSpPr>
          <p:grpSpPr>
            <a:xfrm>
              <a:off x="8516481" y="6162367"/>
              <a:ext cx="841333" cy="347112"/>
              <a:chOff x="8601252" y="6162367"/>
              <a:chExt cx="841333" cy="347112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8049EAA7-B259-E0CF-6188-D83E4A7650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78761" y="6162367"/>
                <a:ext cx="475023" cy="347112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C9EF044C-8E77-0253-404C-AEACFCC1AE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194185" y="6223334"/>
                <a:ext cx="248400" cy="248399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1EFBA2B9-08B7-B52F-FE3B-91DCAC58DC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601252" y="6221141"/>
                <a:ext cx="239105" cy="23910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06378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1AF5F2-503D-2641-86A1-09AD8919EA9C}" vid="{A816E7D6-9491-074F-A4D5-6596497DAC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BD73459EB7F1741BA6ADE3BFE4C0053" ma:contentTypeVersion="8" ma:contentTypeDescription="Create a new document." ma:contentTypeScope="" ma:versionID="adacf8ebd2870e8eba15220d6a53e7db">
  <xsd:schema xmlns:xsd="http://www.w3.org/2001/XMLSchema" xmlns:xs="http://www.w3.org/2001/XMLSchema" xmlns:p="http://schemas.microsoft.com/office/2006/metadata/properties" xmlns:ns2="91147921-a457-4851-bbab-7a6244bc3820" targetNamespace="http://schemas.microsoft.com/office/2006/metadata/properties" ma:root="true" ma:fieldsID="25e46735bfd5b61f65e6555f053e8490" ns2:_="">
    <xsd:import namespace="91147921-a457-4851-bbab-7a6244bc382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147921-a457-4851-bbab-7a6244bc382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B2CAF5F-0189-4B72-A07B-A3746DB240EE}">
  <ds:schemaRefs>
    <ds:schemaRef ds:uri="91147921-a457-4851-bbab-7a6244bc382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E2BE05B-3B24-490B-B744-F395F9037BE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A4E87EF-84E8-4C82-9730-D0A5B3EAC90E}">
  <ds:schemaRefs>
    <ds:schemaRef ds:uri="http://purl.org/dc/dcmitype/"/>
    <ds:schemaRef ds:uri="http://schemas.microsoft.com/office/2006/documentManagement/types"/>
    <ds:schemaRef ds:uri="http://www.w3.org/XML/1998/namespace"/>
    <ds:schemaRef ds:uri="http://purl.org/dc/terms/"/>
    <ds:schemaRef ds:uri="91147921-a457-4851-bbab-7a6244bc3820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2963</TotalTime>
  <Words>376</Words>
  <Application>Microsoft Office PowerPoint</Application>
  <PresentationFormat>Widescreen</PresentationFormat>
  <Paragraphs>89</Paragraphs>
  <Slides>9</Slides>
  <Notes>8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Bonolo Masima: Supervisor Meeting 3</vt:lpstr>
      <vt:lpstr>Causal Inference for Robotic Grasp Failure Diagnosis under Perceptual Degradation</vt:lpstr>
      <vt:lpstr>Scene in Mujoco</vt:lpstr>
      <vt:lpstr>GraspNet Pipeline</vt:lpstr>
      <vt:lpstr>Poses in Contact Grasp Net</vt:lpstr>
      <vt:lpstr>Confidence Scores</vt:lpstr>
      <vt:lpstr>GRASP demo</vt:lpstr>
      <vt:lpstr>Results: 432 trials</vt:lpstr>
      <vt:lpstr>Thank You!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ciaran breen</dc:creator>
  <cp:keywords/>
  <dc:description/>
  <cp:lastModifiedBy>Bonolo Masima (student)</cp:lastModifiedBy>
  <cp:revision>4</cp:revision>
  <dcterms:created xsi:type="dcterms:W3CDTF">2021-01-06T14:22:07Z</dcterms:created>
  <dcterms:modified xsi:type="dcterms:W3CDTF">2026-07-04T14:35:20Z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0x010100ABD73459EB7F1741BA6ADE3BFE4C0053</vt:lpwstr>
  </property>
</Properties>
</file>