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479" r:id="rId6"/>
    <p:sldId id="480" r:id="rId7"/>
    <p:sldId id="482" r:id="rId8"/>
    <p:sldId id="484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36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05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7CE9B-C024-358C-2530-00AF29777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F914A-59AA-9C3D-59D9-B133AFFD0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7517B-E700-0EC9-FDE5-A5C823BD6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C9F8C-509D-5217-254E-82705632D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858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7CE9B-C024-358C-2530-00AF29777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F914A-59AA-9C3D-59D9-B133AFFD0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7517B-E700-0EC9-FDE5-A5C823BD6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C9F8C-509D-5217-254E-82705632D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60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2559E32-3873-7D45-B9C6-C4F839B30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1BC6CA5-FB54-8746-B1B1-0D09602CEA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1699336"/>
            <a:ext cx="2452283" cy="45757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DECEF87-946C-834D-8550-61FE3D91A5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49235" y="1705343"/>
            <a:ext cx="9210963" cy="4526124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Body text Arial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16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3" r:id="rId2"/>
    <p:sldLayoutId id="2147483652" r:id="rId3"/>
    <p:sldLayoutId id="2147483653" r:id="rId4"/>
    <p:sldLayoutId id="2147483649" r:id="rId5"/>
    <p:sldLayoutId id="2147483654" r:id="rId6"/>
    <p:sldLayoutId id="2147483656" r:id="rId7"/>
    <p:sldLayoutId id="2147483684" r:id="rId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Gilbert Scott Building">
            <a:extLst>
              <a:ext uri="{FF2B5EF4-FFF2-40B4-BE49-F238E27FC236}">
                <a16:creationId xmlns:a16="http://schemas.microsoft.com/office/drawing/2014/main" id="{DD87B83F-24FA-95CA-9C34-13BA69571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7" y="1657926"/>
            <a:ext cx="7103753" cy="789709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Xinge Rao: Supervisor Meeting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Wed 22 July 2026 12:00 - Rankine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6D11-8D2E-DA4D-98A2-908011AD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570" y="417101"/>
            <a:ext cx="9210963" cy="888786"/>
          </a:xfrm>
        </p:spPr>
        <p:txBody>
          <a:bodyPr>
            <a:normAutofit/>
          </a:bodyPr>
          <a:lstStyle/>
          <a:p>
            <a:r>
              <a:rPr lang="en-GB" dirty="0"/>
              <a:t>Causal Inference for Robotic Grasp Failure Diagnosis under Perceptual Degradation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19C521-73AB-66A0-3684-A7ADA104C9C8}"/>
              </a:ext>
            </a:extLst>
          </p:cNvPr>
          <p:cNvSpPr/>
          <p:nvPr/>
        </p:nvSpPr>
        <p:spPr>
          <a:xfrm>
            <a:off x="202319" y="2300119"/>
            <a:ext cx="2845681" cy="3158183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E" sz="2400" b="1" dirty="0"/>
              <a:t>Simulation</a:t>
            </a:r>
            <a:r>
              <a:rPr lang="en-IE" sz="2800" b="1" dirty="0"/>
              <a:t> </a:t>
            </a:r>
            <a:r>
              <a:rPr lang="en-IE" sz="2400" b="1" dirty="0"/>
              <a:t>Pipeline</a:t>
            </a:r>
            <a:endParaRPr lang="en-IE" sz="2400" b="1" dirty="0">
              <a:ea typeface="Calibri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D41E7D-5DED-91D8-FC57-E169C5EBD739}"/>
              </a:ext>
            </a:extLst>
          </p:cNvPr>
          <p:cNvSpPr/>
          <p:nvPr/>
        </p:nvSpPr>
        <p:spPr>
          <a:xfrm>
            <a:off x="3759725" y="2300119"/>
            <a:ext cx="2637694" cy="31581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E" sz="2400" b="1" dirty="0">
                <a:ea typeface="Calibri"/>
                <a:cs typeface="Calibri"/>
              </a:rPr>
              <a:t>Data Collection</a:t>
            </a:r>
            <a:endParaRPr lang="en-IE" sz="2000" b="1" dirty="0">
              <a:ea typeface="Calibri"/>
              <a:cs typeface="Calibr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0F82D5-26E0-6EE9-896C-622F89BDC486}"/>
              </a:ext>
            </a:extLst>
          </p:cNvPr>
          <p:cNvSpPr/>
          <p:nvPr/>
        </p:nvSpPr>
        <p:spPr>
          <a:xfrm>
            <a:off x="6847729" y="2329248"/>
            <a:ext cx="2465772" cy="318440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E" sz="2400" b="1" dirty="0"/>
              <a:t>Structural Causal Model</a:t>
            </a:r>
            <a:endParaRPr lang="en-IE" sz="2000" b="1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260F61E-AACE-F665-F25E-9968C3A3AF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5391" y="1835974"/>
            <a:ext cx="1544781" cy="58512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Phase 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3D44E86-6924-D648-A5DC-EDF5769CBEA4}"/>
              </a:ext>
            </a:extLst>
          </p:cNvPr>
          <p:cNvSpPr txBox="1">
            <a:spLocks/>
          </p:cNvSpPr>
          <p:nvPr/>
        </p:nvSpPr>
        <p:spPr>
          <a:xfrm>
            <a:off x="352467" y="5796835"/>
            <a:ext cx="11487066" cy="1376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DFA009-3E1F-20F9-20D4-17B5F85D64EE}"/>
              </a:ext>
            </a:extLst>
          </p:cNvPr>
          <p:cNvSpPr txBox="1"/>
          <p:nvPr/>
        </p:nvSpPr>
        <p:spPr>
          <a:xfrm>
            <a:off x="243607" y="4263873"/>
            <a:ext cx="27813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bg1"/>
                </a:solidFill>
              </a:rPr>
              <a:t>MuJoCo</a:t>
            </a:r>
            <a:r>
              <a:rPr sz="1400" b="0" i="0" dirty="0">
                <a:solidFill>
                  <a:schemeClr val="bg1"/>
                </a:solidFill>
              </a:rPr>
              <a:t> scene  •  Contact-</a:t>
            </a:r>
            <a:r>
              <a:rPr sz="1400" b="0" i="0" dirty="0" err="1">
                <a:solidFill>
                  <a:schemeClr val="bg1"/>
                </a:solidFill>
              </a:rPr>
              <a:t>GraspNet</a:t>
            </a:r>
            <a:r>
              <a:rPr sz="1400" b="0" i="0" dirty="0">
                <a:solidFill>
                  <a:schemeClr val="bg1"/>
                </a:solidFill>
              </a:rPr>
              <a:t>
IK controller  •  432-trial experiment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5F1903-3EBF-8F86-8AA5-BF6B9A95C446}"/>
              </a:ext>
            </a:extLst>
          </p:cNvPr>
          <p:cNvSpPr txBox="1"/>
          <p:nvPr/>
        </p:nvSpPr>
        <p:spPr>
          <a:xfrm>
            <a:off x="635525" y="3364455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highlight>
                  <a:srgbClr val="008000"/>
                </a:highlight>
              </a:rPr>
              <a:t>COMPLETE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3600BF-FED3-D29B-7C6A-3B54F8CB1323}"/>
              </a:ext>
            </a:extLst>
          </p:cNvPr>
          <p:cNvSpPr txBox="1"/>
          <p:nvPr/>
        </p:nvSpPr>
        <p:spPr>
          <a:xfrm>
            <a:off x="4105390" y="3319276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highlight>
                  <a:srgbClr val="008000"/>
                </a:highlight>
              </a:rPr>
              <a:t>COMPLETE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6C48B0-B0A4-A391-7E0A-45D34C87A9FD}"/>
              </a:ext>
            </a:extLst>
          </p:cNvPr>
          <p:cNvSpPr txBox="1"/>
          <p:nvPr/>
        </p:nvSpPr>
        <p:spPr>
          <a:xfrm>
            <a:off x="3968230" y="4263873"/>
            <a:ext cx="228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Factorial grid (4×4×3×3×3)
432 trials  •  CSV logged</a:t>
            </a:r>
          </a:p>
          <a:p>
            <a:pPr algn="ctr"/>
            <a:endParaRPr sz="1400" b="0" i="0" dirty="0">
              <a:solidFill>
                <a:srgbClr val="444444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79DF721-F8C5-794C-22B6-C5CE311B76C5}"/>
              </a:ext>
            </a:extLst>
          </p:cNvPr>
          <p:cNvSpPr/>
          <p:nvPr/>
        </p:nvSpPr>
        <p:spPr>
          <a:xfrm>
            <a:off x="9731154" y="2329248"/>
            <a:ext cx="2342052" cy="31581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E" sz="2400" b="1" dirty="0">
                <a:ea typeface="Calibri"/>
                <a:cs typeface="Calibri"/>
              </a:rPr>
              <a:t>LLM Baseline</a:t>
            </a:r>
            <a:endParaRPr lang="en-IE" sz="2000" b="1" dirty="0"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84DD32-4E69-2743-8B49-CD1BDA8F7D66}"/>
              </a:ext>
            </a:extLst>
          </p:cNvPr>
          <p:cNvSpPr txBox="1"/>
          <p:nvPr/>
        </p:nvSpPr>
        <p:spPr>
          <a:xfrm>
            <a:off x="6937615" y="4263873"/>
            <a:ext cx="228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Fit SCM on collected data
Counterfactual diagnosis</a:t>
            </a:r>
          </a:p>
          <a:p>
            <a:pPr algn="ctr"/>
            <a:endParaRPr sz="1400" b="0" i="0" dirty="0">
              <a:solidFill>
                <a:srgbClr val="444444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B21FF8-CB65-582D-38D5-B481381F92D6}"/>
              </a:ext>
            </a:extLst>
          </p:cNvPr>
          <p:cNvSpPr txBox="1"/>
          <p:nvPr/>
        </p:nvSpPr>
        <p:spPr>
          <a:xfrm>
            <a:off x="9815106" y="4255775"/>
            <a:ext cx="228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Zero-shot GPT-4o prompting
Comparison with SCM accuracy</a:t>
            </a:r>
          </a:p>
          <a:p>
            <a:pPr algn="ctr"/>
            <a:endParaRPr sz="1400" b="0" i="0" dirty="0">
              <a:solidFill>
                <a:srgbClr val="444444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42ED60-3431-BB8B-6AD8-5576C83392F7}"/>
              </a:ext>
            </a:extLst>
          </p:cNvPr>
          <p:cNvSpPr txBox="1"/>
          <p:nvPr/>
        </p:nvSpPr>
        <p:spPr>
          <a:xfrm>
            <a:off x="7109144" y="3362641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FFFFFF"/>
                </a:solidFill>
                <a:highlight>
                  <a:srgbClr val="FF0000"/>
                </a:highlight>
              </a:rPr>
              <a:t>In progress</a:t>
            </a:r>
            <a:endParaRPr sz="2000" b="1" i="0" dirty="0">
              <a:solidFill>
                <a:srgbClr val="FFFFFF"/>
              </a:solidFill>
              <a:highlight>
                <a:srgbClr val="FF000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60A318-B5B6-729F-B164-2C66B059ECB5}"/>
              </a:ext>
            </a:extLst>
          </p:cNvPr>
          <p:cNvSpPr txBox="1"/>
          <p:nvPr/>
        </p:nvSpPr>
        <p:spPr>
          <a:xfrm>
            <a:off x="9916799" y="3382506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FFFFFF"/>
                </a:solidFill>
                <a:highlight>
                  <a:srgbClr val="000000"/>
                </a:highlight>
              </a:rPr>
              <a:t>UPCOMING</a:t>
            </a:r>
            <a:endParaRPr sz="2000" b="1" i="0" dirty="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DB6A75-6C68-3A01-FDD1-0B69DC411626}"/>
              </a:ext>
            </a:extLst>
          </p:cNvPr>
          <p:cNvSpPr txBox="1"/>
          <p:nvPr/>
        </p:nvSpPr>
        <p:spPr>
          <a:xfrm>
            <a:off x="4335318" y="1828806"/>
            <a:ext cx="1544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2</a:t>
            </a:r>
            <a:endParaRPr lang="en-GB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4A7ED5-1937-63A4-50BD-65483E46CDD1}"/>
              </a:ext>
            </a:extLst>
          </p:cNvPr>
          <p:cNvSpPr txBox="1"/>
          <p:nvPr/>
        </p:nvSpPr>
        <p:spPr>
          <a:xfrm>
            <a:off x="7368227" y="1886283"/>
            <a:ext cx="1534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/>
                </a:solidFill>
              </a:rPr>
              <a:t>Phase 3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F85817-8791-956D-0D23-1A7CE1FFF52A}"/>
              </a:ext>
            </a:extLst>
          </p:cNvPr>
          <p:cNvSpPr txBox="1"/>
          <p:nvPr/>
        </p:nvSpPr>
        <p:spPr>
          <a:xfrm>
            <a:off x="10395856" y="1911035"/>
            <a:ext cx="1175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Phase 4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97243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Scene in </a:t>
            </a:r>
            <a:r>
              <a:rPr lang="en-US" dirty="0" err="1">
                <a:solidFill>
                  <a:schemeClr val="tx1"/>
                </a:solidFill>
              </a:rPr>
              <a:t>Mujoco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6416D6-CC31-69AE-3F64-DEC6D228C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20" t="13174" b="22539"/>
          <a:stretch>
            <a:fillRect/>
          </a:stretch>
        </p:blipFill>
        <p:spPr>
          <a:xfrm>
            <a:off x="2510949" y="1422400"/>
            <a:ext cx="6419789" cy="490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43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8311A-A5BF-903E-61F3-5E97253EE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D4E1F-3463-CD93-9304-04D59B1A0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GRASP demo</a:t>
            </a:r>
          </a:p>
        </p:txBody>
      </p:sp>
      <p:pic>
        <p:nvPicPr>
          <p:cNvPr id="4" name="demo_grasp">
            <a:hlinkClick r:id="" action="ppaction://media"/>
            <a:extLst>
              <a:ext uri="{FF2B5EF4-FFF2-40B4-BE49-F238E27FC236}">
                <a16:creationId xmlns:a16="http://schemas.microsoft.com/office/drawing/2014/main" id="{B1EA3767-5FA1-3BA4-6168-D056A5FC948C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6745" y="1422400"/>
            <a:ext cx="9169400" cy="5157788"/>
          </a:xfrm>
        </p:spPr>
      </p:pic>
    </p:spTree>
    <p:extLst>
      <p:ext uri="{BB962C8B-B14F-4D97-AF65-F5344CB8AC3E}">
        <p14:creationId xmlns:p14="http://schemas.microsoft.com/office/powerpoint/2010/main" val="151389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9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8311A-A5BF-903E-61F3-5E97253EE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D4E1F-3463-CD93-9304-04D59B1A0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Results:</a:t>
            </a:r>
          </a:p>
        </p:txBody>
      </p:sp>
    </p:spTree>
    <p:extLst>
      <p:ext uri="{BB962C8B-B14F-4D97-AF65-F5344CB8AC3E}">
        <p14:creationId xmlns:p14="http://schemas.microsoft.com/office/powerpoint/2010/main" val="3030616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 You!</a:t>
            </a:r>
            <a:br>
              <a:rPr lang="en-GB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D73459EB7F1741BA6ADE3BFE4C0053" ma:contentTypeVersion="8" ma:contentTypeDescription="Create a new document." ma:contentTypeScope="" ma:versionID="adacf8ebd2870e8eba15220d6a53e7db">
  <xsd:schema xmlns:xsd="http://www.w3.org/2001/XMLSchema" xmlns:xs="http://www.w3.org/2001/XMLSchema" xmlns:p="http://schemas.microsoft.com/office/2006/metadata/properties" xmlns:ns2="91147921-a457-4851-bbab-7a6244bc3820" targetNamespace="http://schemas.microsoft.com/office/2006/metadata/properties" ma:root="true" ma:fieldsID="25e46735bfd5b61f65e6555f053e8490" ns2:_="">
    <xsd:import namespace="91147921-a457-4851-bbab-7a6244bc38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47921-a457-4851-bbab-7a6244bc3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4E87EF-84E8-4C82-9730-D0A5B3EAC90E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91147921-a457-4851-bbab-7a6244bc3820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E2BE05B-3B24-490B-B744-F395F9037B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2CAF5F-0189-4B72-A07B-A3746DB240EE}">
  <ds:schemaRefs>
    <ds:schemaRef ds:uri="91147921-a457-4851-bbab-7a6244bc38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2967</TotalTime>
  <Words>102</Words>
  <Application>Microsoft Office PowerPoint</Application>
  <PresentationFormat>Widescreen</PresentationFormat>
  <Paragraphs>30</Paragraphs>
  <Slides>6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Xinge Rao: Supervisor Meeting 3</vt:lpstr>
      <vt:lpstr>Causal Inference for Robotic Grasp Failure Diagnosis under Perceptual Degradation</vt:lpstr>
      <vt:lpstr>Scene in Mujoco</vt:lpstr>
      <vt:lpstr>GRASP demo</vt:lpstr>
      <vt:lpstr>Results:</vt:lpstr>
      <vt:lpstr>Thank You!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ciaran breen</dc:creator>
  <cp:keywords/>
  <dc:description/>
  <cp:lastModifiedBy>Bonolo Masima (student)</cp:lastModifiedBy>
  <cp:revision>6</cp:revision>
  <dcterms:created xsi:type="dcterms:W3CDTF">2021-01-06T14:22:07Z</dcterms:created>
  <dcterms:modified xsi:type="dcterms:W3CDTF">2026-07-20T22:42:32Z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0x010100ABD73459EB7F1741BA6ADE3BFE4C0053</vt:lpwstr>
  </property>
</Properties>
</file>