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968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109728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Causal Inference for Robotic Grasp
Failure Diagnosis under Perceptual Degradation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787C"/>
                </a:solidFill>
              </a:rPr>
              <a:t>Supervisor Meeting 3  ·  Thursday 2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Bonolo Masima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CCDD"/>
                </a:solidFill>
              </a:rPr>
              <a:t>MSc Robotics &amp; AI  ·  University of Glasgow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49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EEFF"/>
                </a:solidFill>
              </a:rPr>
              <a:t>Research Question:
Can a Structural Causal Model diagnose the root cause of a
perception-induced grasp failure more accurately than a zero-shot LLM?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Project Overview: Four-Phase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Bonolo Masima · MSc Robotics &amp; AI · University of Glasgow · Jul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560320" cy="4023360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560320" cy="384048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4996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3852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0315C"/>
                </a:solidFill>
              </a:rPr>
              <a:t>Simulation
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80360"/>
            <a:ext cx="201168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89864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832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rgbClr val="444444"/>
                </a:solidFill>
              </a:rPr>
              <a:t>MuJoCo</a:t>
            </a:r>
            <a:r>
              <a:rPr sz="1400" b="0" i="0" dirty="0">
                <a:solidFill>
                  <a:srgbClr val="444444"/>
                </a:solidFill>
              </a:rPr>
              <a:t> scene  •  Contact-</a:t>
            </a:r>
            <a:r>
              <a:rPr sz="1400" b="0" i="0" dirty="0" err="1">
                <a:solidFill>
                  <a:srgbClr val="444444"/>
                </a:solidFill>
              </a:rPr>
              <a:t>GraspNet</a:t>
            </a:r>
            <a:r>
              <a:rPr sz="1400" b="0" i="0" dirty="0">
                <a:solidFill>
                  <a:srgbClr val="444444"/>
                </a:solidFill>
              </a:rPr>
              <a:t>
IK controller  •  432-trial experiment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1463040"/>
            <a:ext cx="2560320" cy="4023360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19272" y="1463040"/>
            <a:ext cx="2560320" cy="384048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92424" y="14996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193852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0315C"/>
                </a:solidFill>
              </a:rPr>
              <a:t>Data
Collection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93592" y="2880360"/>
            <a:ext cx="201168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93592" y="289864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33832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444444"/>
                </a:solidFill>
              </a:rPr>
              <a:t>Factorial grid (4×4×3×3×3)
432 trials  •  CSV logged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463040"/>
            <a:ext cx="2560320" cy="4023360"/>
          </a:xfrm>
          <a:prstGeom prst="rect">
            <a:avLst/>
          </a:prstGeom>
          <a:solidFill>
            <a:srgbClr val="F2F2F2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1344" y="1463040"/>
            <a:ext cx="2560320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54496" y="14996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193852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0315C"/>
                </a:solidFill>
              </a:rPr>
              <a:t>Structural
Causal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55664" y="2880360"/>
            <a:ext cx="2011680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55664" y="289864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33832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444444"/>
                </a:solidFill>
              </a:rPr>
              <a:t>Fit SCM on collected data
Counterfactual diagnosis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463040"/>
            <a:ext cx="2560320" cy="4023360"/>
          </a:xfrm>
          <a:prstGeom prst="rect">
            <a:avLst/>
          </a:prstGeom>
          <a:solidFill>
            <a:srgbClr val="F2F2F2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43416" y="1463040"/>
            <a:ext cx="2560320" cy="38404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16568" y="14996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4856" y="193852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0315C"/>
                </a:solidFill>
              </a:rPr>
              <a:t>LLM
Baseline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17736" y="2880360"/>
            <a:ext cx="2011680" cy="34747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17736" y="289864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UPCOMING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576" y="33832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444444"/>
                </a:solidFill>
              </a:rPr>
              <a:t>Zero-shot GPT-4o prompting
Comparison with SCM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Phase 1: The Simulation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CCDD"/>
                </a:solidFill>
              </a:rPr>
              <a:t>How perception drives grasping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Bonolo Masima · MSc Robotics &amp; AI · University of Glasgow · Jul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" y="1554480"/>
            <a:ext cx="1920240" cy="347472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0372" y="1691640"/>
            <a:ext cx="17739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1. Render Depth</a:t>
            </a:r>
          </a:p>
        </p:txBody>
      </p:sp>
      <p:sp>
        <p:nvSpPr>
          <p:cNvPr id="9" name="Rectangle 8"/>
          <p:cNvSpPr/>
          <p:nvPr/>
        </p:nvSpPr>
        <p:spPr>
          <a:xfrm>
            <a:off x="937260" y="2423160"/>
            <a:ext cx="1280160" cy="27432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" y="256032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EEFF"/>
                </a:solidFill>
              </a:rPr>
              <a:t>MuJoCo camera
captures RGBD
from controlled
viewpoint (φ, 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2324" y="3154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87C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75788" y="1554480"/>
            <a:ext cx="1920240" cy="347472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8940" y="1691640"/>
            <a:ext cx="17739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2. Perturb
Perception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95828" y="2423160"/>
            <a:ext cx="1280160" cy="27432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67228" y="256032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EEFF"/>
                </a:solidFill>
              </a:rPr>
              <a:t>Add depth noise σ_d
Downsample to ρ%
→ degraded point
cloud C_pc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0892" y="3154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87C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4356" y="1554480"/>
            <a:ext cx="1920240" cy="347472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07508" y="1691640"/>
            <a:ext cx="17739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3. Propose
Grasps (CGN)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54396" y="2423160"/>
            <a:ext cx="1280160" cy="27432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25796" y="256032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EEFF"/>
                </a:solidFill>
              </a:rPr>
              <a:t>Contact-GraspNet
returns N poses
with confidence
scores q_grasp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9460" y="3154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87C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92924" y="1554480"/>
            <a:ext cx="1920240" cy="347472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66076" y="1691640"/>
            <a:ext cx="17739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4. Execute via IK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12964" y="2423160"/>
            <a:ext cx="1280160" cy="27432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84364" y="256032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EEFF"/>
                </a:solidFill>
              </a:rPr>
              <a:t>Best pose → DLS
Jacobian IK →
arm moves to
grasp 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8028" y="3154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87C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51492" y="1554480"/>
            <a:ext cx="1920240" cy="347472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24644" y="1691640"/>
            <a:ext cx="17739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5. Log Outcome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71532" y="2423160"/>
            <a:ext cx="1280160" cy="27432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42932" y="256032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EEFF"/>
                </a:solidFill>
              </a:rPr>
              <a:t>Proximity check:
e_pose &lt; 6.5 cm?
→ Y = 1 (success)
or Y = 0 (fail)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257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444444"/>
                </a:solidFill>
              </a:rPr>
              <a:t>Key insight: every component of this pipeline is parameterised by the exogenous variables — degrading perception cascades to grasp failure.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Causal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CCDD"/>
                </a:solidFill>
              </a:rPr>
              <a:t>What we measure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Bonolo Masima · MSc Robotics &amp; AI · University of Glasgow · Jul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371600"/>
            <a:ext cx="1005840" cy="50292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0312" y="14630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7008" y="1371600"/>
            <a:ext cx="1280160" cy="50292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52728" y="14630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1371600"/>
            <a:ext cx="3474720" cy="50292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14630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What it measures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371600"/>
            <a:ext cx="4206240" cy="50292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1874520"/>
            <a:ext cx="10058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0312" y="194767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15C"/>
                </a:solidFill>
              </a:rPr>
              <a:t>σ_d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7008" y="1874520"/>
            <a:ext cx="128016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52728" y="194767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15C"/>
                </a:solidFill>
              </a:rPr>
              <a:t>Exogenous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1874520"/>
            <a:ext cx="347472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0" y="19476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Gaussian noise added to depth buffer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874520"/>
            <a:ext cx="42062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80760" y="19476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Controls sensor degradation — root cause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" y="2377440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0312" y="245059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15C"/>
                </a:solidFill>
              </a:rPr>
              <a:t>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07008" y="2377440"/>
            <a:ext cx="1280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52728" y="245059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15C"/>
                </a:solidFill>
              </a:rPr>
              <a:t>Exogenous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2377440"/>
            <a:ext cx="3474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60320" y="24505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Fraction of point cloud retained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377440"/>
            <a:ext cx="4206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80760" y="24505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Controls observation sparsity — root cause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2880360"/>
            <a:ext cx="10058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0312" y="295351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15C"/>
                </a:solidFill>
              </a:rPr>
              <a:t>φ, 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7008" y="2880360"/>
            <a:ext cx="128016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252728" y="295351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15C"/>
                </a:solidFill>
              </a:rPr>
              <a:t>Exogenous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14600" y="2880360"/>
            <a:ext cx="347472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560320" y="295351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Camera elevation &amp; azimuth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2880360"/>
            <a:ext cx="42062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80760" y="29535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Controls geometric visibility of the object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3383280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0312" y="345643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87C"/>
                </a:solidFill>
              </a:rPr>
              <a:t>C_pc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07008" y="3383280"/>
            <a:ext cx="1280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52728" y="345643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87C"/>
                </a:solidFill>
              </a:rPr>
              <a:t>Intermediate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14600" y="3383280"/>
            <a:ext cx="3474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560320" y="345643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Object pixels visible in image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3383280"/>
            <a:ext cx="4206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080760" y="34564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Perception quality — first downstream effect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4592" y="3886200"/>
            <a:ext cx="10058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0312" y="395935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87C"/>
                </a:solidFill>
              </a:rPr>
              <a:t>q_grasp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07008" y="3886200"/>
            <a:ext cx="128016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252728" y="395935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87C"/>
                </a:solidFill>
              </a:rPr>
              <a:t>Intermediate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14600" y="3886200"/>
            <a:ext cx="347472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560320" y="39593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CGN confidence score (force-closure quality)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3886200"/>
            <a:ext cx="42062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80760" y="39593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Key proxy: how reliable is the proposed grasp?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4592" y="4389120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10312" y="446227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87C"/>
                </a:solidFill>
              </a:rPr>
              <a:t>e_pose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07008" y="4389120"/>
            <a:ext cx="1280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252728" y="446227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87C"/>
                </a:solidFill>
              </a:rPr>
              <a:t>Intermediate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14600" y="4389120"/>
            <a:ext cx="3474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560320" y="44622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Euclidean error: proposed vs true position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4389120"/>
            <a:ext cx="4206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80760" y="44622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444444"/>
                </a:solidFill>
              </a:rPr>
              <a:t>Accuracy of grasp </a:t>
            </a:r>
            <a:r>
              <a:rPr sz="1300" b="0" i="0" dirty="0" err="1">
                <a:solidFill>
                  <a:srgbClr val="444444"/>
                </a:solidFill>
              </a:rPr>
              <a:t>localisation</a:t>
            </a:r>
            <a:endParaRPr sz="1300" b="0" i="0" dirty="0">
              <a:solidFill>
                <a:srgbClr val="444444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64592" y="4892040"/>
            <a:ext cx="10058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10312" y="496519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87C"/>
                </a:solidFill>
              </a:rPr>
              <a:t>n_grasps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07008" y="4892040"/>
            <a:ext cx="128016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252728" y="496519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87C"/>
                </a:solidFill>
              </a:rPr>
              <a:t>Intermediate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14600" y="4892040"/>
            <a:ext cx="347472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560320" y="49651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Number of valid grasp candidates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35040" y="4892040"/>
            <a:ext cx="42062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80760" y="49651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Richness of the CGN output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4592" y="5394960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10312" y="546811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A500"/>
                </a:solidFill>
              </a:rPr>
              <a:t>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207008" y="5394960"/>
            <a:ext cx="1280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252728" y="546811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A500"/>
                </a:solidFill>
              </a:rPr>
              <a:t>Outcome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514600" y="5394960"/>
            <a:ext cx="3474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560320" y="546811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Binary success (e_pose &lt; 6.5 cm)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35040" y="5394960"/>
            <a:ext cx="4206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80760" y="54681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Did the system correctly locate the object?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4592" y="6108192"/>
            <a:ext cx="1188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787C"/>
                </a:solidFill>
              </a:rPr>
              <a:t>Confidence score q_grasp is the natural causal mediator: it collapses perception quality into a single actionable signal for the SCM.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Results: 432-Trial Factorial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CCDD"/>
                </a:solidFill>
              </a:rPr>
              <a:t>Clear monotonic causal degradation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Bonolo Masima · MSc Robotics &amp; AI · University of Glasgow · Jul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1920240" cy="512064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5176" y="1508760"/>
            <a:ext cx="1847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</a:rPr>
              <a:t>σ_d</a:t>
            </a:r>
            <a:r>
              <a:rPr sz="1300" b="1" i="0" dirty="0">
                <a:solidFill>
                  <a:srgbClr val="FFFFFF"/>
                </a:solidFill>
              </a:rPr>
              <a:t> (noise)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417320"/>
            <a:ext cx="1371600" cy="512064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85416" y="1508760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</a:rPr>
              <a:t>Mean </a:t>
            </a:r>
            <a:r>
              <a:rPr sz="1300" b="1" i="0" dirty="0" err="1">
                <a:solidFill>
                  <a:srgbClr val="FFFFFF"/>
                </a:solidFill>
              </a:rPr>
              <a:t>n_grasps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1371600" cy="512064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57016" y="1508760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Mean q_grasp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417320"/>
            <a:ext cx="1371600" cy="512064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28616" y="1508760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Mean e_pose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1371600" cy="512064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0216" y="1508760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</a:rPr>
              <a:t>Success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929384"/>
            <a:ext cx="192024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5176" y="2020824"/>
            <a:ext cx="1847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0.000  (clean)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1929384"/>
            <a:ext cx="137160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85416" y="2020824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34.2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1929384"/>
            <a:ext cx="137160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57016" y="2020824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0.242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1929384"/>
            <a:ext cx="137160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28616" y="2020824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5.0 cm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929384"/>
            <a:ext cx="137160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0216" y="2020824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8648"/>
                </a:solidFill>
              </a:rPr>
              <a:t>71 %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2441448"/>
            <a:ext cx="1920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5176" y="2532888"/>
            <a:ext cx="1847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0.005  (mild)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48840" y="2441448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185416" y="2532888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24.3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2441448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57016" y="2532888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0.243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2441448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28616" y="2532888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7.6 cm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41448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0216" y="2532888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A500"/>
                </a:solidFill>
              </a:rPr>
              <a:t>43 %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2953512"/>
            <a:ext cx="192024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65176" y="3044952"/>
            <a:ext cx="1847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0.020  (heavy)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48840" y="2953512"/>
            <a:ext cx="137160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85416" y="3044952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 3.2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2953512"/>
            <a:ext cx="137160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57016" y="3044952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0.202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2953512"/>
            <a:ext cx="137160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28616" y="3044952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11.1 cm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2953512"/>
            <a:ext cx="137160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00216" y="3044952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</a:rPr>
              <a:t>11 %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3465576"/>
            <a:ext cx="1920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65176" y="3557016"/>
            <a:ext cx="1847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0.040  (severe)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48840" y="3465576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185416" y="3557016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 0.1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3465576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557016" y="3557016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0.163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92040" y="3465576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928616" y="3557016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17.5 cm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3465576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00216" y="3557016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</a:rPr>
              <a:t> 0 %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3840" y="1554480"/>
            <a:ext cx="406908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863840" y="1554480"/>
            <a:ext cx="137160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092440" y="1627632"/>
            <a:ext cx="37490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8648"/>
                </a:solidFill>
              </a:rPr>
              <a:t>71 % success
in clean conditions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92440" y="2212848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444"/>
                </a:solidFill>
              </a:rPr>
              <a:t>Contact-GraspNet works
well with full perception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63840" y="3063240"/>
            <a:ext cx="406908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863840" y="3063240"/>
            <a:ext cx="137160" cy="13716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092440" y="3136392"/>
            <a:ext cx="37490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500"/>
                </a:solidFill>
              </a:rPr>
              <a:t>43 % with
mild noise (σ=0.005)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2440" y="3721608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444"/>
                </a:solidFill>
              </a:rPr>
              <a:t>Early degradation already
halves performance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63840" y="4572000"/>
            <a:ext cx="406908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863840" y="4572000"/>
            <a:ext cx="137160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92440" y="4645152"/>
            <a:ext cx="37490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</a:rPr>
              <a:t>0 % at
σ_d = 0.040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92440" y="5230368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444"/>
                </a:solidFill>
              </a:rPr>
              <a:t>Severe noise → zero valid
grasps → guaranteed failure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8600" y="41148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444"/>
                </a:solidFill>
              </a:rPr>
              <a:t>n_grasps drops 340x from clean to severe noise.  e_pose grows 3.5x.  Both reflect the same causal root.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860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15C"/>
                </a:solidFill>
              </a:rPr>
              <a:t>Success rate by noise level: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25880" y="5074920"/>
            <a:ext cx="3570732" cy="27432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28600" y="50749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σ_d=0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42332" y="5074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48"/>
                </a:solidFill>
              </a:rPr>
              <a:t>71 %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25880" y="5458968"/>
            <a:ext cx="2162556" cy="274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28600" y="545896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σ_d=0.005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34156" y="54589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43 %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325880" y="5843016"/>
            <a:ext cx="553212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28600" y="584301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σ_d=0.02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24812" y="584301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11 %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325880" y="6227064"/>
            <a:ext cx="36576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28600" y="622706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σ_d=0.04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08176" y="62270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0 %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Why Use q_grasp (Confidence Score)?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CCDD"/>
                </a:solidFill>
              </a:rPr>
              <a:t>Defending the key intermediate variable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Bonolo Masima · MSc Robotics &amp; AI · University of Glasgow · Jul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557784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15C"/>
                </a:solidFill>
              </a:rPr>
              <a:t>What is q_grasp?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22697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 dirty="0">
                <a:solidFill>
                  <a:srgbClr val="444444"/>
                </a:solidFill>
              </a:rPr>
              <a:t>•  Learned force-closure quality score from Contact-</a:t>
            </a:r>
            <a:r>
              <a:rPr sz="1500" dirty="0" err="1">
                <a:solidFill>
                  <a:srgbClr val="444444"/>
                </a:solidFill>
              </a:rPr>
              <a:t>GraspNet</a:t>
            </a:r>
            <a:endParaRPr sz="1500" dirty="0">
              <a:solidFill>
                <a:srgbClr val="444444"/>
              </a:solidFill>
            </a:endParaRPr>
          </a:p>
          <a:p>
            <a:pPr algn="l">
              <a:spcBef>
                <a:spcPts val="400"/>
              </a:spcBef>
            </a:pPr>
            <a:r>
              <a:rPr sz="1500" dirty="0">
                <a:solidFill>
                  <a:srgbClr val="444444"/>
                </a:solidFill>
              </a:rPr>
              <a:t>•  Trained on 17 million simulated grasps across diverse objects</a:t>
            </a:r>
          </a:p>
          <a:p>
            <a:pPr algn="l">
              <a:spcBef>
                <a:spcPts val="400"/>
              </a:spcBef>
            </a:pPr>
            <a:r>
              <a:rPr sz="1500" dirty="0">
                <a:solidFill>
                  <a:srgbClr val="444444"/>
                </a:solidFill>
              </a:rPr>
              <a:t>•  Outputs a score in [0, 1] — higher = more likely successful grasp</a:t>
            </a:r>
          </a:p>
          <a:p>
            <a:pPr algn="l">
              <a:spcBef>
                <a:spcPts val="400"/>
              </a:spcBef>
            </a:pPr>
            <a:r>
              <a:rPr sz="1500" dirty="0">
                <a:solidFill>
                  <a:srgbClr val="444444"/>
                </a:solidFill>
              </a:rPr>
              <a:t>•  Encodes: finger alignment, approach direction, contact geometry</a:t>
            </a:r>
          </a:p>
          <a:p>
            <a:pPr algn="l">
              <a:spcBef>
                <a:spcPts val="400"/>
              </a:spcBef>
            </a:pPr>
            <a:r>
              <a:rPr sz="1500" dirty="0">
                <a:solidFill>
                  <a:srgbClr val="444444"/>
                </a:solidFill>
              </a:rPr>
              <a:t>•  Not a hand-crafted heuristic — learnt from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371600"/>
            <a:ext cx="5943600" cy="484632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0" y="14630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Why it fits the SCM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022697"/>
            <a:ext cx="5577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CCEEFF"/>
                </a:solidFill>
              </a:rPr>
              <a:t>•  Collapses complex perception quality into one scalar — ideal SCM node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EEFF"/>
                </a:solidFill>
              </a:rPr>
              <a:t>•  q_grasp responds monotonically to perception degradation (σ_d↑ → q↓)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EEFF"/>
                </a:solidFill>
              </a:rPr>
              <a:t>•  Clean: q_grasp = 0.242 avg,  34 candidates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EEFF"/>
                </a:solidFill>
              </a:rPr>
              <a:t>•  Noisy (σ_d=0.04): q_grasp = 0.163,  &lt; 1 candidate on average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EEFF"/>
                </a:solidFill>
              </a:rPr>
              <a:t>•  Satisfies the SCM Markov condition: q_grasp screens off σ_d from Y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EEFF"/>
                </a:solidFill>
              </a:rPr>
              <a:t>•  Can be used in logistic outcome equation: P(Y=1) = σ(λq_grasp + ...)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6053328"/>
            <a:ext cx="11750040" cy="493776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09904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SCM outcome eq:   Y = f(q_grasp, e_pose, n_grasps, ε)   ←  q_grasp is the natural summary of perception quality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Current Limitations &amp; Future Improvements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Bonolo Masima · MSc Robotics &amp; AI · University of Glasgow · Jul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11556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Current Limitations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5760720" cy="1298448"/>
          </a:xfrm>
          <a:prstGeom prst="rect">
            <a:avLst/>
          </a:prstGeom>
          <a:solidFill>
            <a:srgbClr val="FFEEEE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137160" cy="12984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" y="15361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Physical lift not achieved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1883664"/>
            <a:ext cx="5486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Gripper geometry (primitive capsules) + position-only IK ignores CGN orientation.
Fingers approach top-down and miss the cylinder equator.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926080"/>
            <a:ext cx="5760720" cy="1298448"/>
          </a:xfrm>
          <a:prstGeom prst="rect">
            <a:avLst/>
          </a:prstGeom>
          <a:solidFill>
            <a:srgbClr val="FFEEEE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8600" y="2926080"/>
            <a:ext cx="137160" cy="12984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" y="29992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Proximity criterion as proxy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3346704"/>
            <a:ext cx="5486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Success = e_pose &lt; 6.5 cm (not actual lift). Scientifically defensible for
causal analysis, but a real lift would strengthen the thesis.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389120"/>
            <a:ext cx="5760720" cy="1298448"/>
          </a:xfrm>
          <a:prstGeom prst="rect">
            <a:avLst/>
          </a:prstGeom>
          <a:solidFill>
            <a:srgbClr val="FFEEEE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8600" y="4389120"/>
            <a:ext cx="137160" cy="12984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" y="44622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Single object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" y="4809744"/>
            <a:ext cx="5486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Only a cylinder tested. Different shapes may change CGN behaviour
and should be explored in future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11556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648"/>
                </a:solidFill>
              </a:rPr>
              <a:t>Future Improvements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5760720" cy="950976"/>
          </a:xfrm>
          <a:prstGeom prst="rect">
            <a:avLst/>
          </a:prstGeom>
          <a:solidFill>
            <a:srgbClr val="E8F8ED"/>
          </a:solidFill>
          <a:ln w="127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1463040"/>
            <a:ext cx="137160" cy="950976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37376" y="151790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8648"/>
                </a:solidFill>
              </a:rPr>
              <a:t>6-DoF IK + full CGN orientation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1847088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Use the full 4×4 pose matrix from CGN (approach &amp; closing directions)
to align the gripper correctly → enables real physical lift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578608"/>
            <a:ext cx="5760720" cy="950976"/>
          </a:xfrm>
          <a:prstGeom prst="rect">
            <a:avLst/>
          </a:prstGeom>
          <a:solidFill>
            <a:srgbClr val="E8F8ED"/>
          </a:solidFill>
          <a:ln w="127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2578608"/>
            <a:ext cx="137160" cy="950976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7376" y="26334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8648"/>
                </a:solidFill>
              </a:rPr>
              <a:t>Real Panda mesh assets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2962656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Switch from primitive capsules to mujoco_menagerie Panda
(or robot_descriptions package) for realistic contact geometry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694176"/>
            <a:ext cx="5760720" cy="950976"/>
          </a:xfrm>
          <a:prstGeom prst="rect">
            <a:avLst/>
          </a:prstGeom>
          <a:solidFill>
            <a:srgbClr val="E8F8ED"/>
          </a:solidFill>
          <a:ln w="127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3694176"/>
            <a:ext cx="137160" cy="950976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37376" y="3749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8648"/>
                </a:solidFill>
              </a:rPr>
              <a:t>SCM counterfactual interventions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4078224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Do(σ_d = 0) on a failed trial → did adding noise cause failure?
This is the core causal diagnosis comparison with the LLM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809744"/>
            <a:ext cx="5760720" cy="950976"/>
          </a:xfrm>
          <a:prstGeom prst="rect">
            <a:avLst/>
          </a:prstGeom>
          <a:solidFill>
            <a:srgbClr val="E8F8ED"/>
          </a:solidFill>
          <a:ln w="127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4809744"/>
            <a:ext cx="137160" cy="950976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37376" y="48646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8648"/>
                </a:solidFill>
              </a:rPr>
              <a:t>LLM baseline (Phase 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6" y="5193792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Give GPT-4o the observable variables (C_pc, q_grasp, e_pose, n_grasps, Y)
and ask it to identify the root cause — no access to σ_d or 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Next Steps &amp;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Bonolo Masima · MSc Robotics &amp; AI · University of Glasgow · Jul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2148840" cy="457200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591056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 1
(now)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11680"/>
            <a:ext cx="214884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121408"/>
            <a:ext cx="1965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787C"/>
                </a:solidFill>
              </a:rPr>
              <a:t>Fit SCM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1752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Structural equations via OLS on intermediates;
logistic regression on 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554480"/>
            <a:ext cx="2148840" cy="457200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97480" y="1591056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011680"/>
            <a:ext cx="214884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0" y="2121408"/>
            <a:ext cx="1965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787C"/>
                </a:solidFill>
              </a:rPr>
              <a:t>Counterfactual
Diagnosis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01752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Pearl 3-step procedure on held-out
failed trials — SCM root cause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554480"/>
            <a:ext cx="2148840" cy="45720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74920" y="1591056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011680"/>
            <a:ext cx="214884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0" y="2121408"/>
            <a:ext cx="1965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315C"/>
                </a:solidFill>
              </a:rPr>
              <a:t>LLM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01752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Zero-shot GPT-4o on same failures;
compare diagnosis accuracy vs SCM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1554480"/>
            <a:ext cx="2148840" cy="45720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52360" y="1591056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011680"/>
            <a:ext cx="214884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0" y="2121408"/>
            <a:ext cx="1965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315C"/>
                </a:solidFill>
              </a:rPr>
              <a:t>Results &amp;
Discussion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301752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Tables, Figs, robustness checks;
begin writing Chapter 4 &amp;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1554480"/>
            <a:ext cx="214884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29800" y="1591056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 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2011680"/>
            <a:ext cx="214884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5520" y="2121408"/>
            <a:ext cx="1965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A500"/>
                </a:solidFill>
              </a:rPr>
              <a:t>Full Draft
to Supervisor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01752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Complete dissertation draft submitted
for feedback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440680"/>
            <a:ext cx="11612880" cy="50292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5486400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Target dissertation submission: mid-August 2026  |  Causal analysis complete by end of Week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1272</Words>
  <Application>Microsoft Office PowerPoint</Application>
  <PresentationFormat>Custom</PresentationFormat>
  <Paragraphs>178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Bonolo Masima (student)</cp:lastModifiedBy>
  <cp:revision>2</cp:revision>
  <dcterms:created xsi:type="dcterms:W3CDTF">2013-01-27T09:14:16Z</dcterms:created>
  <dcterms:modified xsi:type="dcterms:W3CDTF">2026-07-02T14:25:15Z</dcterms:modified>
  <cp:category/>
</cp:coreProperties>
</file>